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76" r:id="rId2"/>
    <p:sldId id="275" r:id="rId3"/>
    <p:sldId id="277" r:id="rId4"/>
    <p:sldId id="259" r:id="rId5"/>
    <p:sldId id="278" r:id="rId6"/>
    <p:sldId id="279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4" r:id="rId15"/>
    <p:sldId id="270" r:id="rId16"/>
    <p:sldId id="271" r:id="rId17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2842" autoAdjust="0"/>
    <p:restoredTop sz="94620" autoAdjust="0"/>
  </p:normalViewPr>
  <p:slideViewPr>
    <p:cSldViewPr snapToGrid="0" snapToObjects="1">
      <p:cViewPr varScale="1">
        <p:scale>
          <a:sx n="74" d="100"/>
          <a:sy n="74" d="100"/>
        </p:scale>
        <p:origin x="82" y="14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705405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17" Type="http://schemas.openxmlformats.org/officeDocument/2006/relationships/image" Target="../media/image30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2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5" Type="http://schemas.openxmlformats.org/officeDocument/2006/relationships/image" Target="../media/image28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Relationship Id="rId14" Type="http://schemas.openxmlformats.org/officeDocument/2006/relationships/image" Target="../media/image2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13" Type="http://schemas.openxmlformats.org/officeDocument/2006/relationships/image" Target="../media/image40.png"/><Relationship Id="rId3" Type="http://schemas.openxmlformats.org/officeDocument/2006/relationships/image" Target="../media/image16.png"/><Relationship Id="rId7" Type="http://schemas.openxmlformats.org/officeDocument/2006/relationships/image" Target="../media/image34.png"/><Relationship Id="rId12" Type="http://schemas.openxmlformats.org/officeDocument/2006/relationships/image" Target="../media/image3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11" Type="http://schemas.openxmlformats.org/officeDocument/2006/relationships/image" Target="../media/image38.png"/><Relationship Id="rId5" Type="http://schemas.openxmlformats.org/officeDocument/2006/relationships/image" Target="../media/image32.png"/><Relationship Id="rId10" Type="http://schemas.openxmlformats.org/officeDocument/2006/relationships/image" Target="../media/image37.png"/><Relationship Id="rId4" Type="http://schemas.openxmlformats.org/officeDocument/2006/relationships/image" Target="../media/image31.png"/><Relationship Id="rId9" Type="http://schemas.openxmlformats.org/officeDocument/2006/relationships/image" Target="../media/image36.png"/><Relationship Id="rId14" Type="http://schemas.openxmlformats.org/officeDocument/2006/relationships/image" Target="../media/image4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13" Type="http://schemas.openxmlformats.org/officeDocument/2006/relationships/image" Target="../media/image52.png"/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12" Type="http://schemas.openxmlformats.org/officeDocument/2006/relationships/image" Target="../media/image51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5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5.png"/><Relationship Id="rId11" Type="http://schemas.openxmlformats.org/officeDocument/2006/relationships/image" Target="../media/image50.png"/><Relationship Id="rId5" Type="http://schemas.openxmlformats.org/officeDocument/2006/relationships/image" Target="../media/image44.png"/><Relationship Id="rId15" Type="http://schemas.openxmlformats.org/officeDocument/2006/relationships/image" Target="../media/image54.png"/><Relationship Id="rId10" Type="http://schemas.openxmlformats.org/officeDocument/2006/relationships/image" Target="../media/image49.png"/><Relationship Id="rId4" Type="http://schemas.openxmlformats.org/officeDocument/2006/relationships/image" Target="../media/image43.png"/><Relationship Id="rId9" Type="http://schemas.openxmlformats.org/officeDocument/2006/relationships/image" Target="../media/image48.png"/><Relationship Id="rId14" Type="http://schemas.openxmlformats.org/officeDocument/2006/relationships/image" Target="../media/image5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13" Type="http://schemas.openxmlformats.org/officeDocument/2006/relationships/image" Target="../media/image66.png"/><Relationship Id="rId18" Type="http://schemas.openxmlformats.org/officeDocument/2006/relationships/image" Target="../media/image55.png"/><Relationship Id="rId3" Type="http://schemas.openxmlformats.org/officeDocument/2006/relationships/image" Target="../media/image56.png"/><Relationship Id="rId21" Type="http://schemas.openxmlformats.org/officeDocument/2006/relationships/image" Target="../media/image49.png"/><Relationship Id="rId7" Type="http://schemas.openxmlformats.org/officeDocument/2006/relationships/image" Target="../media/image60.png"/><Relationship Id="rId12" Type="http://schemas.openxmlformats.org/officeDocument/2006/relationships/image" Target="../media/image65.png"/><Relationship Id="rId17" Type="http://schemas.openxmlformats.org/officeDocument/2006/relationships/image" Target="../media/image53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69.png"/><Relationship Id="rId20" Type="http://schemas.openxmlformats.org/officeDocument/2006/relationships/image" Target="../media/image4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9.png"/><Relationship Id="rId11" Type="http://schemas.openxmlformats.org/officeDocument/2006/relationships/image" Target="../media/image64.png"/><Relationship Id="rId24" Type="http://schemas.openxmlformats.org/officeDocument/2006/relationships/image" Target="../media/image52.png"/><Relationship Id="rId5" Type="http://schemas.openxmlformats.org/officeDocument/2006/relationships/image" Target="../media/image58.png"/><Relationship Id="rId15" Type="http://schemas.openxmlformats.org/officeDocument/2006/relationships/image" Target="../media/image68.png"/><Relationship Id="rId23" Type="http://schemas.openxmlformats.org/officeDocument/2006/relationships/image" Target="../media/image71.png"/><Relationship Id="rId10" Type="http://schemas.openxmlformats.org/officeDocument/2006/relationships/image" Target="../media/image63.png"/><Relationship Id="rId19" Type="http://schemas.openxmlformats.org/officeDocument/2006/relationships/image" Target="../media/image70.png"/><Relationship Id="rId4" Type="http://schemas.openxmlformats.org/officeDocument/2006/relationships/image" Target="../media/image57.png"/><Relationship Id="rId9" Type="http://schemas.openxmlformats.org/officeDocument/2006/relationships/image" Target="../media/image62.png"/><Relationship Id="rId14" Type="http://schemas.openxmlformats.org/officeDocument/2006/relationships/image" Target="../media/image67.png"/><Relationship Id="rId22" Type="http://schemas.openxmlformats.org/officeDocument/2006/relationships/image" Target="../media/image5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png"/><Relationship Id="rId3" Type="http://schemas.openxmlformats.org/officeDocument/2006/relationships/image" Target="../media/image72.png"/><Relationship Id="rId7" Type="http://schemas.openxmlformats.org/officeDocument/2006/relationships/image" Target="../media/image7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5.png"/><Relationship Id="rId5" Type="http://schemas.openxmlformats.org/officeDocument/2006/relationships/image" Target="../media/image74.png"/><Relationship Id="rId4" Type="http://schemas.openxmlformats.org/officeDocument/2006/relationships/image" Target="../media/image7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0.png"/><Relationship Id="rId4" Type="http://schemas.openxmlformats.org/officeDocument/2006/relationships/image" Target="../media/image7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7" Type="http://schemas.openxmlformats.org/officeDocument/2006/relationships/image" Target="../media/image8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4.png"/><Relationship Id="rId5" Type="http://schemas.openxmlformats.org/officeDocument/2006/relationships/image" Target="../media/image83.png"/><Relationship Id="rId4" Type="http://schemas.openxmlformats.org/officeDocument/2006/relationships/image" Target="../media/image8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8.png"/><Relationship Id="rId4" Type="http://schemas.openxmlformats.org/officeDocument/2006/relationships/image" Target="../media/image8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7" Type="http://schemas.openxmlformats.org/officeDocument/2006/relationships/image" Target="../media/image9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2.png"/><Relationship Id="rId5" Type="http://schemas.openxmlformats.org/officeDocument/2006/relationships/image" Target="../media/image91.png"/><Relationship Id="rId4" Type="http://schemas.openxmlformats.org/officeDocument/2006/relationships/image" Target="../media/image9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9.png"/><Relationship Id="rId3" Type="http://schemas.openxmlformats.org/officeDocument/2006/relationships/image" Target="../media/image94.png"/><Relationship Id="rId7" Type="http://schemas.openxmlformats.org/officeDocument/2006/relationships/image" Target="../media/image98.png"/><Relationship Id="rId12" Type="http://schemas.openxmlformats.org/officeDocument/2006/relationships/image" Target="../media/image10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7.png"/><Relationship Id="rId11" Type="http://schemas.openxmlformats.org/officeDocument/2006/relationships/image" Target="../media/image102.png"/><Relationship Id="rId5" Type="http://schemas.openxmlformats.org/officeDocument/2006/relationships/image" Target="../media/image96.png"/><Relationship Id="rId10" Type="http://schemas.openxmlformats.org/officeDocument/2006/relationships/image" Target="../media/image101.png"/><Relationship Id="rId4" Type="http://schemas.openxmlformats.org/officeDocument/2006/relationships/image" Target="../media/image95.png"/><Relationship Id="rId9" Type="http://schemas.openxmlformats.org/officeDocument/2006/relationships/image" Target="../media/image100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7.png"/><Relationship Id="rId13" Type="http://schemas.openxmlformats.org/officeDocument/2006/relationships/image" Target="../media/image111.png"/><Relationship Id="rId3" Type="http://schemas.openxmlformats.org/officeDocument/2006/relationships/image" Target="../media/image57.png"/><Relationship Id="rId7" Type="http://schemas.openxmlformats.org/officeDocument/2006/relationships/image" Target="../media/image106.png"/><Relationship Id="rId12" Type="http://schemas.openxmlformats.org/officeDocument/2006/relationships/image" Target="../media/image1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6.png"/><Relationship Id="rId11" Type="http://schemas.openxmlformats.org/officeDocument/2006/relationships/image" Target="../media/image109.png"/><Relationship Id="rId5" Type="http://schemas.openxmlformats.org/officeDocument/2006/relationships/image" Target="../media/image105.png"/><Relationship Id="rId10" Type="http://schemas.openxmlformats.org/officeDocument/2006/relationships/image" Target="../media/image97.png"/><Relationship Id="rId4" Type="http://schemas.openxmlformats.org/officeDocument/2006/relationships/image" Target="../media/image104.png"/><Relationship Id="rId9" Type="http://schemas.openxmlformats.org/officeDocument/2006/relationships/image" Target="../media/image108.png"/><Relationship Id="rId14" Type="http://schemas.openxmlformats.org/officeDocument/2006/relationships/image" Target="../media/image112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8.png"/><Relationship Id="rId13" Type="http://schemas.openxmlformats.org/officeDocument/2006/relationships/image" Target="../media/image123.png"/><Relationship Id="rId3" Type="http://schemas.openxmlformats.org/officeDocument/2006/relationships/image" Target="../media/image113.png"/><Relationship Id="rId7" Type="http://schemas.openxmlformats.org/officeDocument/2006/relationships/image" Target="../media/image117.png"/><Relationship Id="rId12" Type="http://schemas.openxmlformats.org/officeDocument/2006/relationships/image" Target="../media/image12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6.png"/><Relationship Id="rId11" Type="http://schemas.openxmlformats.org/officeDocument/2006/relationships/image" Target="../media/image121.png"/><Relationship Id="rId5" Type="http://schemas.openxmlformats.org/officeDocument/2006/relationships/image" Target="../media/image115.png"/><Relationship Id="rId15" Type="http://schemas.openxmlformats.org/officeDocument/2006/relationships/image" Target="../media/image125.png"/><Relationship Id="rId10" Type="http://schemas.openxmlformats.org/officeDocument/2006/relationships/image" Target="../media/image120.png"/><Relationship Id="rId4" Type="http://schemas.openxmlformats.org/officeDocument/2006/relationships/image" Target="../media/image114.png"/><Relationship Id="rId9" Type="http://schemas.openxmlformats.org/officeDocument/2006/relationships/image" Target="../media/image119.png"/><Relationship Id="rId14" Type="http://schemas.openxmlformats.org/officeDocument/2006/relationships/image" Target="../media/image12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7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3.png"/><Relationship Id="rId13" Type="http://schemas.openxmlformats.org/officeDocument/2006/relationships/image" Target="../media/image138.png"/><Relationship Id="rId3" Type="http://schemas.openxmlformats.org/officeDocument/2006/relationships/image" Target="../media/image128.png"/><Relationship Id="rId7" Type="http://schemas.openxmlformats.org/officeDocument/2006/relationships/image" Target="../media/image132.png"/><Relationship Id="rId12" Type="http://schemas.openxmlformats.org/officeDocument/2006/relationships/image" Target="../media/image13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1.png"/><Relationship Id="rId11" Type="http://schemas.openxmlformats.org/officeDocument/2006/relationships/image" Target="../media/image136.png"/><Relationship Id="rId5" Type="http://schemas.openxmlformats.org/officeDocument/2006/relationships/image" Target="../media/image130.png"/><Relationship Id="rId10" Type="http://schemas.openxmlformats.org/officeDocument/2006/relationships/image" Target="../media/image135.png"/><Relationship Id="rId4" Type="http://schemas.openxmlformats.org/officeDocument/2006/relationships/image" Target="../media/image129.png"/><Relationship Id="rId9" Type="http://schemas.openxmlformats.org/officeDocument/2006/relationships/image" Target="../media/image134.png"/><Relationship Id="rId14" Type="http://schemas.openxmlformats.org/officeDocument/2006/relationships/image" Target="../media/image13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7745" b="774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>
              <a:alpha val="8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2"/>
          <p:cNvSpPr/>
          <p:nvPr/>
        </p:nvSpPr>
        <p:spPr>
          <a:xfrm>
            <a:off x="7429500" y="-952805"/>
            <a:ext cx="5715000" cy="5715000"/>
          </a:xfrm>
          <a:prstGeom prst="ellipse">
            <a:avLst/>
          </a:prstGeom>
          <a:noFill/>
          <a:ln w="25400">
            <a:solidFill>
              <a:srgbClr val="00D4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-476402" y="3524098"/>
            <a:ext cx="3810305" cy="3810305"/>
          </a:xfrm>
          <a:prstGeom prst="ellipse">
            <a:avLst/>
          </a:prstGeom>
          <a:noFill/>
          <a:ln w="254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4720133" y="1309421"/>
            <a:ext cx="2752344" cy="428854"/>
          </a:xfrm>
          <a:prstGeom prst="roundRect">
            <a:avLst>
              <a:gd name="adj" fmla="val 213219"/>
            </a:avLst>
          </a:prstGeom>
          <a:solidFill>
            <a:srgbClr val="00D4FF">
              <a:alpha val="10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 txBox="1"/>
          <p:nvPr/>
        </p:nvSpPr>
        <p:spPr>
          <a:xfrm>
            <a:off x="4733849" y="1395374"/>
            <a:ext cx="2725826" cy="257861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1300" b="1" kern="0" spc="68">
                <a:solidFill>
                  <a:srgbClr val="00D4FF"/>
                </a:solidFill>
                <a:latin typeface="Noto Sans KR"/>
                <a:ea typeface="Noto Sans KR"/>
                <a:cs typeface="Noto Sans KR"/>
              </a:rPr>
              <a:t>이비즈테크 지원 포트폴리오</a:t>
            </a:r>
            <a:endParaRPr lang="en-US" sz="1300"/>
          </a:p>
        </p:txBody>
      </p:sp>
      <p:sp>
        <p:nvSpPr>
          <p:cNvPr id="9" name="Text 6"/>
          <p:cNvSpPr txBox="1"/>
          <p:nvPr/>
        </p:nvSpPr>
        <p:spPr>
          <a:xfrm>
            <a:off x="4162349" y="2119579"/>
            <a:ext cx="3872484" cy="8385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kern="0" spc="-12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윤 정 원</a:t>
            </a:r>
            <a:endParaRPr lang="en-US" sz="60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rcRect t="-400" b="-400"/>
          <a:stretch/>
        </p:blipFill>
        <p:spPr>
          <a:xfrm>
            <a:off x="5524805" y="3148279"/>
            <a:ext cx="1143000" cy="5760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119019" y="3776472"/>
            <a:ext cx="5956402" cy="914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 algn="ctr">
              <a:buNone/>
              <a:defRPr/>
            </a:pPr>
            <a:r>
              <a:rPr lang="en-US" sz="2400" kern="0" spc="-24" dirty="0">
                <a:solidFill>
                  <a:srgbClr val="E2E8F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lang="en-US" sz="2400" kern="0" spc="-24" dirty="0" err="1">
                <a:solidFill>
                  <a:srgbClr val="E2E8F0"/>
                </a:solidFill>
                <a:latin typeface="Noto Sans KR"/>
                <a:ea typeface="Noto Sans KR"/>
                <a:cs typeface="Noto Sans KR"/>
              </a:rPr>
              <a:t>클라우드</a:t>
            </a:r>
            <a:r>
              <a:rPr lang="en-US" sz="2400" kern="0" spc="-24" dirty="0">
                <a:solidFill>
                  <a:srgbClr val="E2E8F0"/>
                </a:solidFill>
                <a:latin typeface="Noto Sans KR"/>
                <a:ea typeface="Noto Sans KR"/>
                <a:cs typeface="Noto Sans KR"/>
              </a:rPr>
              <a:t> IaaS </a:t>
            </a:r>
            <a:r>
              <a:rPr lang="en-US" sz="2400" kern="0" spc="-24" dirty="0" err="1">
                <a:solidFill>
                  <a:srgbClr val="E2E8F0"/>
                </a:solidFill>
                <a:latin typeface="Noto Sans KR"/>
                <a:ea typeface="Noto Sans KR"/>
                <a:cs typeface="Noto Sans KR"/>
              </a:rPr>
              <a:t>포털</a:t>
            </a:r>
            <a:r>
              <a:rPr lang="en-US" sz="2400" kern="0" spc="-24" dirty="0">
                <a:solidFill>
                  <a:srgbClr val="E2E8F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lang="en-US" sz="2400" kern="0" spc="-24" dirty="0" err="1">
                <a:solidFill>
                  <a:srgbClr val="E2E8F0"/>
                </a:solidFill>
                <a:latin typeface="Noto Sans KR"/>
                <a:ea typeface="Noto Sans KR"/>
                <a:cs typeface="Noto Sans KR"/>
              </a:rPr>
              <a:t>구축</a:t>
            </a:r>
            <a:r>
              <a:rPr lang="en-US" sz="2400" kern="0" spc="-24" dirty="0">
                <a:solidFill>
                  <a:srgbClr val="E2E8F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lang="en-US" sz="2400" kern="0" spc="-24" dirty="0" err="1">
                <a:solidFill>
                  <a:srgbClr val="E2E8F0"/>
                </a:solidFill>
                <a:latin typeface="Noto Sans KR"/>
                <a:ea typeface="Noto Sans KR"/>
                <a:cs typeface="Noto Sans KR"/>
              </a:rPr>
              <a:t>역량을</a:t>
            </a:r>
            <a:r>
              <a:rPr lang="en-US" sz="2400" kern="0" spc="-24" dirty="0">
                <a:solidFill>
                  <a:srgbClr val="E2E8F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lang="en-US" sz="2400" kern="0" spc="-24" dirty="0" err="1">
                <a:solidFill>
                  <a:srgbClr val="E2E8F0"/>
                </a:solidFill>
                <a:latin typeface="Noto Sans KR"/>
                <a:ea typeface="Noto Sans KR"/>
                <a:cs typeface="Noto Sans KR"/>
              </a:rPr>
              <a:t>갖춘</a:t>
            </a:r>
            <a:endParaRPr lang="en-US" sz="2400" kern="0" spc="-24" dirty="0">
              <a:solidFill>
                <a:srgbClr val="E2E8F0"/>
              </a:solidFill>
              <a:latin typeface="Noto Sans KR"/>
              <a:ea typeface="Noto Sans KR"/>
              <a:cs typeface="Noto Sans KR"/>
            </a:endParaRPr>
          </a:p>
          <a:p>
            <a:pPr marL="0" indent="0" algn="ctr">
              <a:buNone/>
              <a:defRPr/>
            </a:pPr>
            <a:r>
              <a:rPr lang="en-US" sz="2400" b="1" kern="0" spc="-24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시니어</a:t>
            </a:r>
            <a:r>
              <a:rPr lang="en-US" sz="2400" b="1" kern="0" spc="-24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lang="en-US" sz="2400" b="1" kern="0" spc="-24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소프트웨어</a:t>
            </a:r>
            <a:r>
              <a:rPr lang="en-US" sz="2400" b="1" kern="0" spc="-24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lang="en-US" sz="2400" b="1" kern="0" spc="-24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개발자</a:t>
            </a:r>
            <a:r>
              <a:rPr lang="en-US" sz="2400" b="1" kern="0" spc="-24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&amp; </a:t>
            </a:r>
            <a:r>
              <a:rPr lang="en-US" sz="2400" b="1" kern="0" spc="-24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시스템</a:t>
            </a:r>
            <a:r>
              <a:rPr lang="en-US" sz="2400" b="1" kern="0" spc="-24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lang="en-US" sz="2400" b="1" kern="0" spc="-24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아키텍트</a:t>
            </a:r>
            <a:endParaRPr lang="en-US" sz="2400" dirty="0"/>
          </a:p>
        </p:txBody>
      </p:sp>
      <p:sp>
        <p:nvSpPr>
          <p:cNvPr id="12" name="Text 8"/>
          <p:cNvSpPr txBox="1"/>
          <p:nvPr/>
        </p:nvSpPr>
        <p:spPr>
          <a:xfrm>
            <a:off x="2248510" y="5262372"/>
            <a:ext cx="92354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19년 경력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3779215" y="5262372"/>
            <a:ext cx="173461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/ Python / DB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6069787" y="5262372"/>
            <a:ext cx="144018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Java / Spring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8035747" y="5262372"/>
            <a:ext cx="200985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클라우드 인프라 설계</a:t>
            </a:r>
            <a:endParaRPr lang="en-US" sz="15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381305" y="557985"/>
            <a:ext cx="11430000" cy="1920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381305" y="381305"/>
            <a:ext cx="2434133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프로필 요약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2244852" y="509321"/>
            <a:ext cx="288584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00D4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19년차 시니어 개발자 &amp; 아키텍트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81304" y="862481"/>
            <a:ext cx="5619903" cy="2556864"/>
          </a:xfrm>
          <a:prstGeom prst="roundRect">
            <a:avLst>
              <a:gd name="adj" fmla="val 3409"/>
            </a:avLst>
          </a:prstGeom>
          <a:solidFill>
            <a:srgbClr val="1B2A4A"/>
          </a:solidFill>
          <a:ln/>
          <a:effectLst>
            <a:outerShdw blurRad="63500" dist="381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381305" y="862481"/>
            <a:ext cx="5619902" cy="38405"/>
          </a:xfrm>
          <a:prstGeom prst="roundRect">
            <a:avLst>
              <a:gd name="adj" fmla="val 219779"/>
            </a:avLst>
          </a:prstGeom>
          <a:solidFill>
            <a:srgbClr val="00D4FF"/>
          </a:solidFill>
          <a:ln w="12700">
            <a:solidFill>
              <a:srgbClr val="00D4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rcRect t="-96" b="-96"/>
          <a:stretch/>
        </p:blipFill>
        <p:spPr>
          <a:xfrm>
            <a:off x="4943246" y="1949746"/>
            <a:ext cx="1248156" cy="1429207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19049" y="1444997"/>
            <a:ext cx="5143500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19049" y="1096763"/>
            <a:ext cx="228600" cy="2286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961949" y="987797"/>
            <a:ext cx="896112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개인 정보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619049" y="1701944"/>
            <a:ext cx="74340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이름</a:t>
            </a:r>
            <a:endParaRPr lang="en-US" sz="1100" dirty="0"/>
          </a:p>
        </p:txBody>
      </p:sp>
      <p:sp>
        <p:nvSpPr>
          <p:cNvPr id="14" name="Text 10"/>
          <p:cNvSpPr txBox="1"/>
          <p:nvPr/>
        </p:nvSpPr>
        <p:spPr>
          <a:xfrm>
            <a:off x="1476756" y="1645251"/>
            <a:ext cx="447690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윤 정 원</a:t>
            </a:r>
            <a:endParaRPr lang="en-US" sz="1500" dirty="0"/>
          </a:p>
        </p:txBody>
      </p:sp>
      <p:sp>
        <p:nvSpPr>
          <p:cNvPr id="18" name="Text 14"/>
          <p:cNvSpPr txBox="1"/>
          <p:nvPr/>
        </p:nvSpPr>
        <p:spPr>
          <a:xfrm>
            <a:off x="619049" y="2060998"/>
            <a:ext cx="74340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연락처</a:t>
            </a:r>
            <a:endParaRPr lang="en-US" sz="1100" dirty="0"/>
          </a:p>
        </p:txBody>
      </p:sp>
      <p:sp>
        <p:nvSpPr>
          <p:cNvPr id="19" name="Text 15"/>
          <p:cNvSpPr txBox="1"/>
          <p:nvPr/>
        </p:nvSpPr>
        <p:spPr>
          <a:xfrm>
            <a:off x="1476756" y="2041796"/>
            <a:ext cx="44010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D4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010-6281-2939</a:t>
            </a:r>
            <a:endParaRPr lang="en-US" sz="1200" dirty="0"/>
          </a:p>
        </p:txBody>
      </p:sp>
      <p:sp>
        <p:nvSpPr>
          <p:cNvPr id="20" name="Text 16"/>
          <p:cNvSpPr txBox="1"/>
          <p:nvPr/>
        </p:nvSpPr>
        <p:spPr>
          <a:xfrm>
            <a:off x="619049" y="2408470"/>
            <a:ext cx="74340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이메일</a:t>
            </a:r>
            <a:endParaRPr lang="en-US" sz="1100" dirty="0"/>
          </a:p>
        </p:txBody>
      </p:sp>
      <p:sp>
        <p:nvSpPr>
          <p:cNvPr id="21" name="Text 17"/>
          <p:cNvSpPr txBox="1"/>
          <p:nvPr/>
        </p:nvSpPr>
        <p:spPr>
          <a:xfrm>
            <a:off x="1476756" y="2390182"/>
            <a:ext cx="44010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yjw0817@gmail.com</a:t>
            </a:r>
            <a:endParaRPr lang="en-US" sz="1200" dirty="0"/>
          </a:p>
        </p:txBody>
      </p:sp>
      <p:sp>
        <p:nvSpPr>
          <p:cNvPr id="22" name="Text 18"/>
          <p:cNvSpPr txBox="1"/>
          <p:nvPr/>
        </p:nvSpPr>
        <p:spPr>
          <a:xfrm>
            <a:off x="619049" y="2756857"/>
            <a:ext cx="74340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거주지</a:t>
            </a:r>
            <a:endParaRPr lang="en-US" sz="1100" dirty="0"/>
          </a:p>
        </p:txBody>
      </p:sp>
      <p:sp>
        <p:nvSpPr>
          <p:cNvPr id="23" name="Text 19"/>
          <p:cNvSpPr txBox="1"/>
          <p:nvPr/>
        </p:nvSpPr>
        <p:spPr>
          <a:xfrm>
            <a:off x="1476756" y="2737654"/>
            <a:ext cx="44769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경기도 고양시 일산동구 풍동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6191401" y="862481"/>
            <a:ext cx="5619903" cy="2556864"/>
          </a:xfrm>
          <a:prstGeom prst="roundRect">
            <a:avLst>
              <a:gd name="adj" fmla="val 3409"/>
            </a:avLst>
          </a:prstGeom>
          <a:solidFill>
            <a:srgbClr val="1B2A4A"/>
          </a:solidFill>
          <a:ln/>
          <a:effectLst>
            <a:outerShdw blurRad="63500" dist="381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1"/>
          <p:cNvSpPr/>
          <p:nvPr/>
        </p:nvSpPr>
        <p:spPr>
          <a:xfrm>
            <a:off x="6191402" y="862481"/>
            <a:ext cx="5619902" cy="38405"/>
          </a:xfrm>
          <a:prstGeom prst="roundRect">
            <a:avLst>
              <a:gd name="adj" fmla="val 219779"/>
            </a:avLst>
          </a:prstGeom>
          <a:solidFill>
            <a:srgbClr val="00D4FF"/>
          </a:solidFill>
          <a:ln w="12700">
            <a:solidFill>
              <a:srgbClr val="00D4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rcRect l="-109" r="-109"/>
          <a:stretch/>
        </p:blipFill>
        <p:spPr>
          <a:xfrm>
            <a:off x="10211105" y="2581351"/>
            <a:ext cx="1790395" cy="1429207"/>
          </a:xfrm>
          <a:prstGeom prst="rect">
            <a:avLst/>
          </a:prstGeom>
        </p:spPr>
      </p:pic>
      <p:sp>
        <p:nvSpPr>
          <p:cNvPr id="27" name="Shape 22"/>
          <p:cNvSpPr/>
          <p:nvPr/>
        </p:nvSpPr>
        <p:spPr>
          <a:xfrm>
            <a:off x="6429146" y="1444997"/>
            <a:ext cx="5143500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rcRect l="-80" r="-80"/>
          <a:stretch/>
        </p:blipFill>
        <p:spPr>
          <a:xfrm>
            <a:off x="6429146" y="1096763"/>
            <a:ext cx="286207" cy="228600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6829654" y="987797"/>
            <a:ext cx="448056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학력</a:t>
            </a:r>
            <a:endParaRPr lang="en-US" sz="1600" dirty="0"/>
          </a:p>
        </p:txBody>
      </p:sp>
      <p:sp>
        <p:nvSpPr>
          <p:cNvPr id="30" name="Text 24"/>
          <p:cNvSpPr txBox="1"/>
          <p:nvPr/>
        </p:nvSpPr>
        <p:spPr>
          <a:xfrm>
            <a:off x="6429146" y="1645251"/>
            <a:ext cx="296997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Stony Brook University </a:t>
            </a:r>
            <a:r>
              <a:rPr lang="en-US" sz="100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미국, NY</a:t>
            </a:r>
            <a:endParaRPr lang="en-US" sz="1300" dirty="0"/>
          </a:p>
        </p:txBody>
      </p:sp>
      <p:sp>
        <p:nvSpPr>
          <p:cNvPr id="31" name="Text 25"/>
          <p:cNvSpPr txBox="1"/>
          <p:nvPr/>
        </p:nvSpPr>
        <p:spPr>
          <a:xfrm>
            <a:off x="6429146" y="1949746"/>
            <a:ext cx="5257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B.S. Computer Science (컴퓨터과학 학사)</a:t>
            </a:r>
            <a:endParaRPr lang="en-US" sz="1200" dirty="0"/>
          </a:p>
        </p:txBody>
      </p:sp>
      <p:sp>
        <p:nvSpPr>
          <p:cNvPr id="32" name="Text 26"/>
          <p:cNvSpPr txBox="1"/>
          <p:nvPr/>
        </p:nvSpPr>
        <p:spPr>
          <a:xfrm>
            <a:off x="6429146" y="2225895"/>
            <a:ext cx="52578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2004.09 ~ 2007.12 | </a:t>
            </a:r>
            <a:r>
              <a:rPr lang="en-US" sz="1000" dirty="0">
                <a:solidFill>
                  <a:srgbClr val="00D4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GPA 3.8 / 4.5</a:t>
            </a: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(Cum Laude)</a:t>
            </a:r>
            <a:endParaRPr lang="en-US" sz="1000" dirty="0"/>
          </a:p>
        </p:txBody>
      </p:sp>
      <p:sp>
        <p:nvSpPr>
          <p:cNvPr id="33" name="Text 27"/>
          <p:cNvSpPr txBox="1"/>
          <p:nvPr/>
        </p:nvSpPr>
        <p:spPr>
          <a:xfrm>
            <a:off x="6429146" y="2770573"/>
            <a:ext cx="156728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대신고등학교 </a:t>
            </a:r>
            <a:r>
              <a:rPr lang="en-US" sz="100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서울</a:t>
            </a:r>
            <a:endParaRPr lang="en-US" sz="1300" dirty="0"/>
          </a:p>
        </p:txBody>
      </p:sp>
      <p:sp>
        <p:nvSpPr>
          <p:cNvPr id="34" name="Text 28"/>
          <p:cNvSpPr txBox="1"/>
          <p:nvPr/>
        </p:nvSpPr>
        <p:spPr>
          <a:xfrm>
            <a:off x="6429146" y="3075068"/>
            <a:ext cx="53346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이과 계열 졸업</a:t>
            </a:r>
            <a:endParaRPr lang="en-US" sz="1200" dirty="0"/>
          </a:p>
        </p:txBody>
      </p:sp>
      <p:sp>
        <p:nvSpPr>
          <p:cNvPr id="35" name="Text 29"/>
          <p:cNvSpPr txBox="1"/>
          <p:nvPr/>
        </p:nvSpPr>
        <p:spPr>
          <a:xfrm>
            <a:off x="6429146" y="3634027"/>
            <a:ext cx="52578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1989.03 ~ 1991.02</a:t>
            </a:r>
            <a:endParaRPr lang="en-US" sz="1000" dirty="0"/>
          </a:p>
        </p:txBody>
      </p:sp>
      <p:sp>
        <p:nvSpPr>
          <p:cNvPr id="36" name="Shape 30"/>
          <p:cNvSpPr/>
          <p:nvPr/>
        </p:nvSpPr>
        <p:spPr>
          <a:xfrm>
            <a:off x="381305" y="3528871"/>
            <a:ext cx="5619902" cy="2900492"/>
          </a:xfrm>
          <a:prstGeom prst="roundRect">
            <a:avLst>
              <a:gd name="adj" fmla="val 3409"/>
            </a:avLst>
          </a:prstGeom>
          <a:solidFill>
            <a:srgbClr val="1B2A4A"/>
          </a:solidFill>
          <a:ln/>
          <a:effectLst>
            <a:outerShdw blurRad="63500" dist="381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1"/>
          <p:cNvSpPr/>
          <p:nvPr/>
        </p:nvSpPr>
        <p:spPr>
          <a:xfrm>
            <a:off x="381305" y="3528871"/>
            <a:ext cx="5619902" cy="38405"/>
          </a:xfrm>
          <a:prstGeom prst="roundRect">
            <a:avLst>
              <a:gd name="adj" fmla="val 219779"/>
            </a:avLst>
          </a:prstGeom>
          <a:solidFill>
            <a:srgbClr val="00D4FF"/>
          </a:solidFill>
          <a:ln w="12700">
            <a:solidFill>
              <a:srgbClr val="00D4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8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762195" y="4626480"/>
            <a:ext cx="1429207" cy="1429207"/>
          </a:xfrm>
          <a:prstGeom prst="rect">
            <a:avLst/>
          </a:prstGeom>
        </p:spPr>
      </p:pic>
      <p:sp>
        <p:nvSpPr>
          <p:cNvPr id="39" name="Shape 32"/>
          <p:cNvSpPr/>
          <p:nvPr/>
        </p:nvSpPr>
        <p:spPr>
          <a:xfrm>
            <a:off x="619049" y="4121731"/>
            <a:ext cx="5143500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0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19049" y="3772583"/>
            <a:ext cx="228600" cy="228600"/>
          </a:xfrm>
          <a:prstGeom prst="rect">
            <a:avLst/>
          </a:prstGeom>
        </p:spPr>
      </p:pic>
      <p:sp>
        <p:nvSpPr>
          <p:cNvPr id="41" name="Text 33"/>
          <p:cNvSpPr txBox="1"/>
          <p:nvPr/>
        </p:nvSpPr>
        <p:spPr>
          <a:xfrm>
            <a:off x="961949" y="3664531"/>
            <a:ext cx="896112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경력 요약</a:t>
            </a:r>
            <a:endParaRPr lang="en-US" sz="1600" dirty="0"/>
          </a:p>
        </p:txBody>
      </p:sp>
      <p:sp>
        <p:nvSpPr>
          <p:cNvPr id="42" name="Text 34"/>
          <p:cNvSpPr txBox="1"/>
          <p:nvPr/>
        </p:nvSpPr>
        <p:spPr>
          <a:xfrm>
            <a:off x="619049" y="4340273"/>
            <a:ext cx="74340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총 경력</a:t>
            </a:r>
            <a:endParaRPr lang="en-US" sz="1100" dirty="0"/>
          </a:p>
        </p:txBody>
      </p:sp>
      <p:sp>
        <p:nvSpPr>
          <p:cNvPr id="43" name="Text 35"/>
          <p:cNvSpPr txBox="1"/>
          <p:nvPr/>
        </p:nvSpPr>
        <p:spPr>
          <a:xfrm>
            <a:off x="1476756" y="4321070"/>
            <a:ext cx="44010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D4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19년 (2007년 ~ 현재)</a:t>
            </a:r>
            <a:endParaRPr lang="en-US" sz="1200" dirty="0"/>
          </a:p>
        </p:txBody>
      </p:sp>
      <p:sp>
        <p:nvSpPr>
          <p:cNvPr id="44" name="Text 36"/>
          <p:cNvSpPr txBox="1"/>
          <p:nvPr/>
        </p:nvSpPr>
        <p:spPr>
          <a:xfrm>
            <a:off x="619049" y="4687745"/>
            <a:ext cx="74340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역량</a:t>
            </a:r>
            <a:endParaRPr lang="en-US" sz="1100" dirty="0"/>
          </a:p>
        </p:txBody>
      </p:sp>
      <p:sp>
        <p:nvSpPr>
          <p:cNvPr id="45" name="Text 37"/>
          <p:cNvSpPr txBox="1"/>
          <p:nvPr/>
        </p:nvSpPr>
        <p:spPr>
          <a:xfrm>
            <a:off x="1476756" y="4668542"/>
            <a:ext cx="44769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통합 · 시스템 설계 · 클라우드 아키텍처</a:t>
            </a:r>
            <a:endParaRPr lang="en-US" sz="1200" dirty="0"/>
          </a:p>
        </p:txBody>
      </p:sp>
      <p:sp>
        <p:nvSpPr>
          <p:cNvPr id="46" name="Text 38"/>
          <p:cNvSpPr txBox="1"/>
          <p:nvPr/>
        </p:nvSpPr>
        <p:spPr>
          <a:xfrm>
            <a:off x="619049" y="5036131"/>
            <a:ext cx="74340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희망 직무</a:t>
            </a:r>
            <a:endParaRPr lang="en-US" sz="1100" dirty="0"/>
          </a:p>
        </p:txBody>
      </p:sp>
      <p:sp>
        <p:nvSpPr>
          <p:cNvPr id="47" name="Text 39"/>
          <p:cNvSpPr txBox="1"/>
          <p:nvPr/>
        </p:nvSpPr>
        <p:spPr>
          <a:xfrm>
            <a:off x="1476756" y="5016929"/>
            <a:ext cx="44010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AI/Python/DB 또는 Java/Spring 시니어 개발자</a:t>
            </a:r>
            <a:endParaRPr lang="en-US" sz="1200" dirty="0"/>
          </a:p>
        </p:txBody>
      </p:sp>
      <p:sp>
        <p:nvSpPr>
          <p:cNvPr id="48" name="Text 40"/>
          <p:cNvSpPr txBox="1"/>
          <p:nvPr/>
        </p:nvSpPr>
        <p:spPr>
          <a:xfrm>
            <a:off x="619049" y="5383603"/>
            <a:ext cx="74340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희망 연봉</a:t>
            </a:r>
            <a:endParaRPr lang="en-US" sz="1100" dirty="0"/>
          </a:p>
        </p:txBody>
      </p:sp>
      <p:sp>
        <p:nvSpPr>
          <p:cNvPr id="49" name="Text 41"/>
          <p:cNvSpPr txBox="1"/>
          <p:nvPr/>
        </p:nvSpPr>
        <p:spPr>
          <a:xfrm>
            <a:off x="1476756" y="5364401"/>
            <a:ext cx="44010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7,000만원 (협의 가능)</a:t>
            </a:r>
            <a:endParaRPr lang="en-US" sz="1200" dirty="0"/>
          </a:p>
        </p:txBody>
      </p:sp>
      <p:sp>
        <p:nvSpPr>
          <p:cNvPr id="50" name="Text 42"/>
          <p:cNvSpPr txBox="1"/>
          <p:nvPr/>
        </p:nvSpPr>
        <p:spPr>
          <a:xfrm>
            <a:off x="619049" y="5740219"/>
            <a:ext cx="53346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직급 성장 경로</a:t>
            </a:r>
            <a:endParaRPr lang="en-US" sz="1000" dirty="0"/>
          </a:p>
        </p:txBody>
      </p:sp>
      <p:sp>
        <p:nvSpPr>
          <p:cNvPr id="51" name="Shape 43"/>
          <p:cNvSpPr/>
          <p:nvPr/>
        </p:nvSpPr>
        <p:spPr>
          <a:xfrm>
            <a:off x="449365" y="6016368"/>
            <a:ext cx="1086307" cy="314554"/>
          </a:xfrm>
          <a:prstGeom prst="roundRect">
            <a:avLst>
              <a:gd name="adj" fmla="val 105708"/>
            </a:avLst>
          </a:prstGeom>
          <a:solidFill>
            <a:srgbClr val="00D4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Text 44"/>
          <p:cNvSpPr txBox="1"/>
          <p:nvPr/>
        </p:nvSpPr>
        <p:spPr>
          <a:xfrm>
            <a:off x="449365" y="6016368"/>
            <a:ext cx="1143000" cy="3145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63500" rIns="114300" bIns="6350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D4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Support Eng.</a:t>
            </a:r>
            <a:endParaRPr lang="en-US" sz="1000" dirty="0"/>
          </a:p>
        </p:txBody>
      </p:sp>
      <p:sp>
        <p:nvSpPr>
          <p:cNvPr id="53" name="Text 45"/>
          <p:cNvSpPr txBox="1"/>
          <p:nvPr/>
        </p:nvSpPr>
        <p:spPr>
          <a:xfrm>
            <a:off x="1625283" y="6073975"/>
            <a:ext cx="21031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1000" dirty="0"/>
          </a:p>
        </p:txBody>
      </p:sp>
      <p:sp>
        <p:nvSpPr>
          <p:cNvPr id="54" name="Shape 46"/>
          <p:cNvSpPr/>
          <p:nvPr/>
        </p:nvSpPr>
        <p:spPr>
          <a:xfrm>
            <a:off x="1853883" y="6016368"/>
            <a:ext cx="599846" cy="314554"/>
          </a:xfrm>
          <a:prstGeom prst="roundRect">
            <a:avLst>
              <a:gd name="adj" fmla="val 105708"/>
            </a:avLst>
          </a:prstGeom>
          <a:solidFill>
            <a:srgbClr val="00D4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Text 47"/>
          <p:cNvSpPr txBox="1"/>
          <p:nvPr/>
        </p:nvSpPr>
        <p:spPr>
          <a:xfrm>
            <a:off x="1853883" y="6016368"/>
            <a:ext cx="657454" cy="3145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63500" rIns="114300" bIns="6350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D4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개발자</a:t>
            </a:r>
            <a:endParaRPr lang="en-US" sz="1000" dirty="0"/>
          </a:p>
        </p:txBody>
      </p:sp>
      <p:sp>
        <p:nvSpPr>
          <p:cNvPr id="56" name="Text 48"/>
          <p:cNvSpPr txBox="1"/>
          <p:nvPr/>
        </p:nvSpPr>
        <p:spPr>
          <a:xfrm>
            <a:off x="2546084" y="6073975"/>
            <a:ext cx="21031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1000" dirty="0"/>
          </a:p>
        </p:txBody>
      </p:sp>
      <p:sp>
        <p:nvSpPr>
          <p:cNvPr id="57" name="Shape 49"/>
          <p:cNvSpPr/>
          <p:nvPr/>
        </p:nvSpPr>
        <p:spPr>
          <a:xfrm>
            <a:off x="2774684" y="6016368"/>
            <a:ext cx="771754" cy="314554"/>
          </a:xfrm>
          <a:prstGeom prst="roundRect">
            <a:avLst>
              <a:gd name="adj" fmla="val 105708"/>
            </a:avLst>
          </a:prstGeom>
          <a:solidFill>
            <a:srgbClr val="00D4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Text 50"/>
          <p:cNvSpPr txBox="1"/>
          <p:nvPr/>
        </p:nvSpPr>
        <p:spPr>
          <a:xfrm>
            <a:off x="2774684" y="6016368"/>
            <a:ext cx="829361" cy="3145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63500" rIns="114300" bIns="6350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D4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팀장/부장</a:t>
            </a:r>
            <a:endParaRPr lang="en-US" sz="1000" dirty="0"/>
          </a:p>
        </p:txBody>
      </p:sp>
      <p:sp>
        <p:nvSpPr>
          <p:cNvPr id="59" name="Text 51"/>
          <p:cNvSpPr txBox="1"/>
          <p:nvPr/>
        </p:nvSpPr>
        <p:spPr>
          <a:xfrm>
            <a:off x="3641535" y="6073975"/>
            <a:ext cx="21031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1000" dirty="0"/>
          </a:p>
        </p:txBody>
      </p:sp>
      <p:sp>
        <p:nvSpPr>
          <p:cNvPr id="60" name="Shape 52"/>
          <p:cNvSpPr/>
          <p:nvPr/>
        </p:nvSpPr>
        <p:spPr>
          <a:xfrm>
            <a:off x="3870135" y="6016368"/>
            <a:ext cx="847649" cy="314554"/>
          </a:xfrm>
          <a:prstGeom prst="roundRect">
            <a:avLst>
              <a:gd name="adj" fmla="val 105708"/>
            </a:avLst>
          </a:prstGeom>
          <a:solidFill>
            <a:srgbClr val="00D4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" name="Text 53"/>
          <p:cNvSpPr txBox="1"/>
          <p:nvPr/>
        </p:nvSpPr>
        <p:spPr>
          <a:xfrm>
            <a:off x="3870135" y="6016368"/>
            <a:ext cx="905256" cy="3145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63500" rIns="114300" bIns="6350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D4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대표(CEO)</a:t>
            </a:r>
            <a:endParaRPr lang="en-US" sz="1000" dirty="0"/>
          </a:p>
        </p:txBody>
      </p:sp>
      <p:sp>
        <p:nvSpPr>
          <p:cNvPr id="62" name="Text 54"/>
          <p:cNvSpPr txBox="1"/>
          <p:nvPr/>
        </p:nvSpPr>
        <p:spPr>
          <a:xfrm>
            <a:off x="4806481" y="6073975"/>
            <a:ext cx="21031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1000" dirty="0"/>
          </a:p>
        </p:txBody>
      </p:sp>
      <p:sp>
        <p:nvSpPr>
          <p:cNvPr id="63" name="Shape 55"/>
          <p:cNvSpPr/>
          <p:nvPr/>
        </p:nvSpPr>
        <p:spPr>
          <a:xfrm>
            <a:off x="5030509" y="5990905"/>
            <a:ext cx="780898" cy="333756"/>
          </a:xfrm>
          <a:prstGeom prst="roundRect">
            <a:avLst>
              <a:gd name="adj" fmla="val 93933"/>
            </a:avLst>
          </a:prstGeom>
          <a:solidFill>
            <a:srgbClr val="00D4FF">
              <a:alpha val="20000"/>
            </a:srgbClr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4" name="Text 56"/>
          <p:cNvSpPr txBox="1"/>
          <p:nvPr/>
        </p:nvSpPr>
        <p:spPr>
          <a:xfrm>
            <a:off x="5068217" y="6038040"/>
            <a:ext cx="838505" cy="3337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63500" rIns="114300" bIns="6350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D4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현직 부장</a:t>
            </a:r>
            <a:endParaRPr lang="en-US" sz="1000" dirty="0"/>
          </a:p>
        </p:txBody>
      </p:sp>
      <p:sp>
        <p:nvSpPr>
          <p:cNvPr id="65" name="Shape 57"/>
          <p:cNvSpPr/>
          <p:nvPr/>
        </p:nvSpPr>
        <p:spPr>
          <a:xfrm>
            <a:off x="6191401" y="3528871"/>
            <a:ext cx="5619903" cy="2900492"/>
          </a:xfrm>
          <a:prstGeom prst="roundRect">
            <a:avLst>
              <a:gd name="adj" fmla="val 3409"/>
            </a:avLst>
          </a:prstGeom>
          <a:solidFill>
            <a:srgbClr val="1B2A4A"/>
          </a:solidFill>
          <a:ln/>
          <a:effectLst>
            <a:outerShdw blurRad="63500" dist="381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6" name="Shape 58"/>
          <p:cNvSpPr/>
          <p:nvPr/>
        </p:nvSpPr>
        <p:spPr>
          <a:xfrm>
            <a:off x="6191402" y="3528871"/>
            <a:ext cx="5619902" cy="38405"/>
          </a:xfrm>
          <a:prstGeom prst="roundRect">
            <a:avLst>
              <a:gd name="adj" fmla="val 219779"/>
            </a:avLst>
          </a:prstGeom>
          <a:solidFill>
            <a:srgbClr val="00D4FF"/>
          </a:solidFill>
          <a:ln w="12700">
            <a:solidFill>
              <a:srgbClr val="00D4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7" name="Image 6" descr="preencoded.png"/>
          <p:cNvPicPr>
            <a:picLocks noChangeAspect="1"/>
          </p:cNvPicPr>
          <p:nvPr/>
        </p:nvPicPr>
        <p:blipFill>
          <a:blip r:embed="rId9"/>
          <a:srcRect l="-46" r="-46"/>
          <a:stretch/>
        </p:blipFill>
        <p:spPr>
          <a:xfrm>
            <a:off x="10392156" y="5248656"/>
            <a:ext cx="1609344" cy="1429207"/>
          </a:xfrm>
          <a:prstGeom prst="rect">
            <a:avLst/>
          </a:prstGeom>
        </p:spPr>
      </p:pic>
      <p:sp>
        <p:nvSpPr>
          <p:cNvPr id="68" name="Shape 59"/>
          <p:cNvSpPr/>
          <p:nvPr/>
        </p:nvSpPr>
        <p:spPr>
          <a:xfrm>
            <a:off x="6429146" y="4121731"/>
            <a:ext cx="5143500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9" name="Image 7" descr="preencoded.png"/>
          <p:cNvPicPr>
            <a:picLocks noChangeAspect="1"/>
          </p:cNvPicPr>
          <p:nvPr/>
        </p:nvPicPr>
        <p:blipFill>
          <a:blip r:embed="rId10"/>
          <a:srcRect t="-45" b="-45"/>
          <a:stretch/>
        </p:blipFill>
        <p:spPr>
          <a:xfrm>
            <a:off x="6429146" y="3772583"/>
            <a:ext cx="256946" cy="228600"/>
          </a:xfrm>
          <a:prstGeom prst="rect">
            <a:avLst/>
          </a:prstGeom>
        </p:spPr>
      </p:pic>
      <p:sp>
        <p:nvSpPr>
          <p:cNvPr id="70" name="Text 60"/>
          <p:cNvSpPr txBox="1"/>
          <p:nvPr/>
        </p:nvSpPr>
        <p:spPr>
          <a:xfrm>
            <a:off x="6801307" y="3664531"/>
            <a:ext cx="1079502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강점</a:t>
            </a:r>
            <a:endParaRPr lang="en-US" sz="1600" dirty="0"/>
          </a:p>
        </p:txBody>
      </p:sp>
      <p:sp>
        <p:nvSpPr>
          <p:cNvPr id="71" name="Text 61"/>
          <p:cNvSpPr txBox="1"/>
          <p:nvPr/>
        </p:nvSpPr>
        <p:spPr>
          <a:xfrm>
            <a:off x="6429146" y="4321070"/>
            <a:ext cx="522031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sz="12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"Support Engineer로 시작해 CEO까지, </a:t>
            </a: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현장 개발부터 비즈니스 아키텍처 설계까지</a:t>
            </a:r>
            <a:r>
              <a:rPr lang="en-US" sz="12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전 과정을 경험했습니다." </a:t>
            </a:r>
            <a:endParaRPr lang="en-US" sz="1200" dirty="0"/>
          </a:p>
        </p:txBody>
      </p:sp>
      <p:sp>
        <p:nvSpPr>
          <p:cNvPr id="72" name="Text 62"/>
          <p:cNvSpPr txBox="1"/>
          <p:nvPr/>
        </p:nvSpPr>
        <p:spPr>
          <a:xfrm>
            <a:off x="6429146" y="4952006"/>
            <a:ext cx="522031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sz="12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AI/LLM 자동화, 대용량 DB 설계, 클라우드 </a:t>
            </a:r>
            <a:r>
              <a:rPr lang="en-US" sz="1200" dirty="0" err="1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인프라까지</a:t>
            </a:r>
            <a:r>
              <a:rPr lang="en-US" sz="12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200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설계하고</a:t>
            </a: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구현</a:t>
            </a:r>
            <a:r>
              <a:rPr lang="en-US" sz="12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할 수 </a:t>
            </a:r>
          </a:p>
          <a:p>
            <a:pPr marL="0" indent="0" algn="just">
              <a:buNone/>
            </a:pPr>
            <a:r>
              <a:rPr lang="ko-KR" altLang="en-US" sz="12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1200" dirty="0" err="1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있습</a:t>
            </a:r>
            <a:r>
              <a:rPr lang="en-US" sz="1200" dirty="0" err="1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니다</a:t>
            </a:r>
            <a:r>
              <a:rPr lang="en-US" sz="12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 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t="-401" b="-401"/>
          <a:stretch/>
        </p:blipFill>
        <p:spPr>
          <a:xfrm>
            <a:off x="857707" y="3843223"/>
            <a:ext cx="10477195" cy="38405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71500" y="2176272"/>
            <a:ext cx="2104949" cy="1047902"/>
          </a:xfrm>
          <a:prstGeom prst="roundRect">
            <a:avLst>
              <a:gd name="adj" fmla="val 19039"/>
            </a:avLst>
          </a:prstGeom>
          <a:solidFill>
            <a:srgbClr val="1B2A4A"/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3"/>
          <p:cNvSpPr/>
          <p:nvPr/>
        </p:nvSpPr>
        <p:spPr>
          <a:xfrm rot="2700000">
            <a:off x="1611173" y="2964187"/>
            <a:ext cx="152705" cy="152705"/>
          </a:xfrm>
          <a:prstGeom prst="rect">
            <a:avLst/>
          </a:prstGeom>
          <a:solidFill>
            <a:srgbClr val="1B2A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5"/>
          <p:cNvSpPr/>
          <p:nvPr/>
        </p:nvSpPr>
        <p:spPr>
          <a:xfrm>
            <a:off x="724205" y="2335080"/>
            <a:ext cx="1800454" cy="267005"/>
          </a:xfrm>
          <a:prstGeom prst="roundRect">
            <a:avLst>
              <a:gd name="adj" fmla="val 342465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6"/>
          <p:cNvSpPr/>
          <p:nvPr/>
        </p:nvSpPr>
        <p:spPr>
          <a:xfrm>
            <a:off x="687629" y="2335080"/>
            <a:ext cx="1872691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38100" rIns="101600" bIns="381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2007 ~ 2008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687629" y="2673408"/>
            <a:ext cx="1872691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Stony Brook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University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71500" y="4214470"/>
            <a:ext cx="2104949" cy="1333195"/>
          </a:xfrm>
          <a:prstGeom prst="roundRect">
            <a:avLst>
              <a:gd name="adj" fmla="val 11758"/>
            </a:avLst>
          </a:prstGeom>
          <a:solidFill>
            <a:srgbClr val="1E293B"/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9"/>
          <p:cNvSpPr/>
          <p:nvPr/>
        </p:nvSpPr>
        <p:spPr>
          <a:xfrm rot="2700000">
            <a:off x="1611173" y="4138574"/>
            <a:ext cx="152705" cy="152705"/>
          </a:xfrm>
          <a:prstGeom prst="rect">
            <a:avLst/>
          </a:prstGeom>
          <a:solidFill>
            <a:srgbClr val="1E29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0"/>
          <p:cNvSpPr/>
          <p:nvPr/>
        </p:nvSpPr>
        <p:spPr>
          <a:xfrm>
            <a:off x="724205" y="4662526"/>
            <a:ext cx="1800454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1"/>
          <p:cNvSpPr txBox="1"/>
          <p:nvPr/>
        </p:nvSpPr>
        <p:spPr>
          <a:xfrm>
            <a:off x="687629" y="4367174"/>
            <a:ext cx="1872691" cy="22037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D4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Support Engineer</a:t>
            </a:r>
            <a:endParaRPr lang="en-US" sz="1100" dirty="0"/>
          </a:p>
        </p:txBody>
      </p:sp>
      <p:sp>
        <p:nvSpPr>
          <p:cNvPr id="16" name="Text 12"/>
          <p:cNvSpPr txBox="1"/>
          <p:nvPr/>
        </p:nvSpPr>
        <p:spPr>
          <a:xfrm>
            <a:off x="687629" y="4743907"/>
            <a:ext cx="1872691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행정 시스템 기술 지원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이슈 트래킹 및 처리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(미국 근무)</a:t>
            </a:r>
            <a:endParaRPr lang="en-US" sz="90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rcRect t="-1087" b="-1087"/>
          <a:stretch/>
        </p:blipFill>
        <p:spPr>
          <a:xfrm>
            <a:off x="2818181" y="3783787"/>
            <a:ext cx="105156" cy="171907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2809037" y="2176272"/>
            <a:ext cx="2104949" cy="1047902"/>
          </a:xfrm>
          <a:prstGeom prst="roundRect">
            <a:avLst>
              <a:gd name="adj" fmla="val 19039"/>
            </a:avLst>
          </a:prstGeom>
          <a:solidFill>
            <a:srgbClr val="1B2A4A"/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4"/>
          <p:cNvSpPr/>
          <p:nvPr/>
        </p:nvSpPr>
        <p:spPr>
          <a:xfrm rot="2700000">
            <a:off x="3848710" y="2964187"/>
            <a:ext cx="152705" cy="152705"/>
          </a:xfrm>
          <a:prstGeom prst="rect">
            <a:avLst/>
          </a:prstGeom>
          <a:solidFill>
            <a:srgbClr val="1B2A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6"/>
          <p:cNvSpPr/>
          <p:nvPr/>
        </p:nvSpPr>
        <p:spPr>
          <a:xfrm>
            <a:off x="2961742" y="2335080"/>
            <a:ext cx="1800454" cy="267005"/>
          </a:xfrm>
          <a:prstGeom prst="roundRect">
            <a:avLst>
              <a:gd name="adj" fmla="val 342465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7"/>
          <p:cNvSpPr/>
          <p:nvPr/>
        </p:nvSpPr>
        <p:spPr>
          <a:xfrm>
            <a:off x="2925166" y="2335080"/>
            <a:ext cx="1872691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38100" rIns="101600" bIns="381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2008 ~ 2013</a:t>
            </a:r>
            <a:endParaRPr lang="en-US" sz="900" dirty="0"/>
          </a:p>
        </p:txBody>
      </p:sp>
      <p:sp>
        <p:nvSpPr>
          <p:cNvPr id="23" name="Text 18"/>
          <p:cNvSpPr txBox="1"/>
          <p:nvPr/>
        </p:nvSpPr>
        <p:spPr>
          <a:xfrm>
            <a:off x="2925166" y="2673408"/>
            <a:ext cx="1872691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더테이블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브루잉 컴퍼니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2809037" y="4214470"/>
            <a:ext cx="2104949" cy="1333195"/>
          </a:xfrm>
          <a:prstGeom prst="roundRect">
            <a:avLst>
              <a:gd name="adj" fmla="val 11758"/>
            </a:avLst>
          </a:prstGeom>
          <a:solidFill>
            <a:srgbClr val="1E293B"/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0"/>
          <p:cNvSpPr/>
          <p:nvPr/>
        </p:nvSpPr>
        <p:spPr>
          <a:xfrm rot="2700000">
            <a:off x="3848710" y="4138574"/>
            <a:ext cx="152705" cy="152705"/>
          </a:xfrm>
          <a:prstGeom prst="rect">
            <a:avLst/>
          </a:prstGeom>
          <a:solidFill>
            <a:srgbClr val="1E29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1"/>
          <p:cNvSpPr/>
          <p:nvPr/>
        </p:nvSpPr>
        <p:spPr>
          <a:xfrm>
            <a:off x="2961742" y="4662526"/>
            <a:ext cx="1800454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2"/>
          <p:cNvSpPr txBox="1"/>
          <p:nvPr/>
        </p:nvSpPr>
        <p:spPr>
          <a:xfrm>
            <a:off x="2925166" y="4367174"/>
            <a:ext cx="1872691" cy="22037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D4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이사 (Director)</a:t>
            </a:r>
            <a:endParaRPr lang="en-US" sz="1100" dirty="0"/>
          </a:p>
        </p:txBody>
      </p:sp>
      <p:sp>
        <p:nvSpPr>
          <p:cNvPr id="28" name="Text 23"/>
          <p:cNvSpPr txBox="1"/>
          <p:nvPr/>
        </p:nvSpPr>
        <p:spPr>
          <a:xfrm>
            <a:off x="2925166" y="4743907"/>
            <a:ext cx="1872691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주조 ERP 시스템 구축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생산·재고·세금·판매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통합 관리 시스템</a:t>
            </a:r>
            <a:endParaRPr lang="en-US" sz="900" dirty="0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5"/>
          <a:srcRect t="-1087" b="-1087"/>
          <a:stretch/>
        </p:blipFill>
        <p:spPr>
          <a:xfrm>
            <a:off x="5054803" y="3783787"/>
            <a:ext cx="105156" cy="171907"/>
          </a:xfrm>
          <a:prstGeom prst="rect">
            <a:avLst/>
          </a:prstGeom>
        </p:spPr>
      </p:pic>
      <p:sp>
        <p:nvSpPr>
          <p:cNvPr id="30" name="Shape 24"/>
          <p:cNvSpPr/>
          <p:nvPr/>
        </p:nvSpPr>
        <p:spPr>
          <a:xfrm>
            <a:off x="5046574" y="2176272"/>
            <a:ext cx="2104949" cy="1047902"/>
          </a:xfrm>
          <a:prstGeom prst="roundRect">
            <a:avLst>
              <a:gd name="adj" fmla="val 19039"/>
            </a:avLst>
          </a:prstGeom>
          <a:solidFill>
            <a:srgbClr val="1B2A4A"/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5"/>
          <p:cNvSpPr/>
          <p:nvPr/>
        </p:nvSpPr>
        <p:spPr>
          <a:xfrm rot="2700000">
            <a:off x="6086246" y="2956692"/>
            <a:ext cx="152705" cy="152705"/>
          </a:xfrm>
          <a:prstGeom prst="rect">
            <a:avLst/>
          </a:prstGeom>
          <a:solidFill>
            <a:srgbClr val="1B2A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27"/>
          <p:cNvSpPr/>
          <p:nvPr/>
        </p:nvSpPr>
        <p:spPr>
          <a:xfrm>
            <a:off x="5199278" y="2336400"/>
            <a:ext cx="1800454" cy="267005"/>
          </a:xfrm>
          <a:prstGeom prst="roundRect">
            <a:avLst>
              <a:gd name="adj" fmla="val 342465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28"/>
          <p:cNvSpPr/>
          <p:nvPr/>
        </p:nvSpPr>
        <p:spPr>
          <a:xfrm>
            <a:off x="5162702" y="2336400"/>
            <a:ext cx="1872691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38100" rIns="101600" bIns="381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2013 ~ 2018</a:t>
            </a:r>
            <a:endParaRPr lang="en-US" sz="900" dirty="0"/>
          </a:p>
        </p:txBody>
      </p:sp>
      <p:sp>
        <p:nvSpPr>
          <p:cNvPr id="35" name="Text 29"/>
          <p:cNvSpPr txBox="1"/>
          <p:nvPr/>
        </p:nvSpPr>
        <p:spPr>
          <a:xfrm>
            <a:off x="5127041" y="2764668"/>
            <a:ext cx="194492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다임벨리</a:t>
            </a:r>
            <a:endParaRPr lang="en-US" sz="1200" dirty="0"/>
          </a:p>
        </p:txBody>
      </p:sp>
      <p:sp>
        <p:nvSpPr>
          <p:cNvPr id="36" name="Shape 30"/>
          <p:cNvSpPr/>
          <p:nvPr/>
        </p:nvSpPr>
        <p:spPr>
          <a:xfrm>
            <a:off x="5046574" y="4214470"/>
            <a:ext cx="2104949" cy="1333195"/>
          </a:xfrm>
          <a:prstGeom prst="roundRect">
            <a:avLst>
              <a:gd name="adj" fmla="val 11758"/>
            </a:avLst>
          </a:prstGeom>
          <a:solidFill>
            <a:srgbClr val="1E293B"/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1"/>
          <p:cNvSpPr/>
          <p:nvPr/>
        </p:nvSpPr>
        <p:spPr>
          <a:xfrm rot="2700000">
            <a:off x="6086246" y="4138574"/>
            <a:ext cx="152705" cy="152705"/>
          </a:xfrm>
          <a:prstGeom prst="rect">
            <a:avLst/>
          </a:prstGeom>
          <a:solidFill>
            <a:srgbClr val="1E29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2"/>
          <p:cNvSpPr/>
          <p:nvPr/>
        </p:nvSpPr>
        <p:spPr>
          <a:xfrm>
            <a:off x="5199278" y="4662526"/>
            <a:ext cx="1800454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3"/>
          <p:cNvSpPr txBox="1"/>
          <p:nvPr/>
        </p:nvSpPr>
        <p:spPr>
          <a:xfrm>
            <a:off x="5162702" y="4367174"/>
            <a:ext cx="1872691" cy="22037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D4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부장 (Manager)</a:t>
            </a:r>
            <a:endParaRPr lang="en-US" sz="1100" dirty="0"/>
          </a:p>
        </p:txBody>
      </p:sp>
      <p:sp>
        <p:nvSpPr>
          <p:cNvPr id="40" name="Text 34"/>
          <p:cNvSpPr txBox="1"/>
          <p:nvPr/>
        </p:nvSpPr>
        <p:spPr>
          <a:xfrm>
            <a:off x="5162702" y="4743907"/>
            <a:ext cx="1872691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전자정부 프레임워크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금융·공공 SI 프로젝트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대용량 DB 설계</a:t>
            </a:r>
            <a:endParaRPr lang="en-US" sz="900" dirty="0"/>
          </a:p>
        </p:txBody>
      </p:sp>
      <p:pic>
        <p:nvPicPr>
          <p:cNvPr id="41" name="Image 4" descr="preencoded.png"/>
          <p:cNvPicPr>
            <a:picLocks noChangeAspect="1"/>
          </p:cNvPicPr>
          <p:nvPr/>
        </p:nvPicPr>
        <p:blipFill>
          <a:blip r:embed="rId5"/>
          <a:srcRect t="-1087" b="-1087"/>
          <a:stretch/>
        </p:blipFill>
        <p:spPr>
          <a:xfrm>
            <a:off x="7292340" y="3783787"/>
            <a:ext cx="105156" cy="171907"/>
          </a:xfrm>
          <a:prstGeom prst="rect">
            <a:avLst/>
          </a:prstGeom>
        </p:spPr>
      </p:pic>
      <p:sp>
        <p:nvSpPr>
          <p:cNvPr id="42" name="Shape 35"/>
          <p:cNvSpPr/>
          <p:nvPr/>
        </p:nvSpPr>
        <p:spPr>
          <a:xfrm>
            <a:off x="7284110" y="2176272"/>
            <a:ext cx="2104949" cy="1047902"/>
          </a:xfrm>
          <a:prstGeom prst="roundRect">
            <a:avLst>
              <a:gd name="adj" fmla="val 19039"/>
            </a:avLst>
          </a:prstGeom>
          <a:solidFill>
            <a:srgbClr val="1B2A4A"/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36"/>
          <p:cNvSpPr/>
          <p:nvPr/>
        </p:nvSpPr>
        <p:spPr>
          <a:xfrm rot="2700000">
            <a:off x="8323783" y="2956692"/>
            <a:ext cx="152705" cy="152705"/>
          </a:xfrm>
          <a:prstGeom prst="rect">
            <a:avLst/>
          </a:prstGeom>
          <a:solidFill>
            <a:srgbClr val="1B2A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38"/>
          <p:cNvSpPr/>
          <p:nvPr/>
        </p:nvSpPr>
        <p:spPr>
          <a:xfrm>
            <a:off x="7435901" y="2336400"/>
            <a:ext cx="1800454" cy="267005"/>
          </a:xfrm>
          <a:prstGeom prst="roundRect">
            <a:avLst>
              <a:gd name="adj" fmla="val 342465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 39"/>
          <p:cNvSpPr/>
          <p:nvPr/>
        </p:nvSpPr>
        <p:spPr>
          <a:xfrm>
            <a:off x="7400239" y="2336400"/>
            <a:ext cx="1872691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38100" rIns="101600" bIns="381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2018 ~ 2025</a:t>
            </a:r>
            <a:endParaRPr lang="en-US" sz="900" dirty="0"/>
          </a:p>
        </p:txBody>
      </p:sp>
      <p:sp>
        <p:nvSpPr>
          <p:cNvPr id="47" name="Text 40"/>
          <p:cNvSpPr txBox="1"/>
          <p:nvPr/>
        </p:nvSpPr>
        <p:spPr>
          <a:xfrm>
            <a:off x="7364578" y="2764668"/>
            <a:ext cx="194492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더나은솔루션</a:t>
            </a:r>
            <a:endParaRPr lang="en-US" sz="1200" dirty="0"/>
          </a:p>
        </p:txBody>
      </p:sp>
      <p:sp>
        <p:nvSpPr>
          <p:cNvPr id="48" name="Shape 41"/>
          <p:cNvSpPr/>
          <p:nvPr/>
        </p:nvSpPr>
        <p:spPr>
          <a:xfrm>
            <a:off x="7284110" y="4214470"/>
            <a:ext cx="2104949" cy="1333195"/>
          </a:xfrm>
          <a:prstGeom prst="roundRect">
            <a:avLst>
              <a:gd name="adj" fmla="val 11758"/>
            </a:avLst>
          </a:prstGeom>
          <a:solidFill>
            <a:srgbClr val="1E293B"/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Shape 42"/>
          <p:cNvSpPr/>
          <p:nvPr/>
        </p:nvSpPr>
        <p:spPr>
          <a:xfrm rot="2700000">
            <a:off x="8323783" y="4138574"/>
            <a:ext cx="152705" cy="152705"/>
          </a:xfrm>
          <a:prstGeom prst="rect">
            <a:avLst/>
          </a:prstGeom>
          <a:solidFill>
            <a:srgbClr val="1E29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Shape 43"/>
          <p:cNvSpPr/>
          <p:nvPr/>
        </p:nvSpPr>
        <p:spPr>
          <a:xfrm>
            <a:off x="7435901" y="4662526"/>
            <a:ext cx="1800454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Text 44"/>
          <p:cNvSpPr txBox="1"/>
          <p:nvPr/>
        </p:nvSpPr>
        <p:spPr>
          <a:xfrm>
            <a:off x="7400239" y="4367174"/>
            <a:ext cx="1872691" cy="22037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D4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대표 (CEO)</a:t>
            </a:r>
            <a:endParaRPr lang="en-US" sz="1100" dirty="0"/>
          </a:p>
        </p:txBody>
      </p:sp>
      <p:sp>
        <p:nvSpPr>
          <p:cNvPr id="52" name="Text 45"/>
          <p:cNvSpPr txBox="1"/>
          <p:nvPr/>
        </p:nvSpPr>
        <p:spPr>
          <a:xfrm>
            <a:off x="7400239" y="4743907"/>
            <a:ext cx="1872691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IT 전문 컨설팅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ERP·그룹웨어 개발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비즈니스 솔루션 구축</a:t>
            </a:r>
            <a:endParaRPr lang="en-US" sz="900" dirty="0"/>
          </a:p>
        </p:txBody>
      </p:sp>
      <p:pic>
        <p:nvPicPr>
          <p:cNvPr id="53" name="Image 5" descr="preencoded.png"/>
          <p:cNvPicPr>
            <a:picLocks noChangeAspect="1"/>
          </p:cNvPicPr>
          <p:nvPr/>
        </p:nvPicPr>
        <p:blipFill>
          <a:blip r:embed="rId5"/>
          <a:srcRect t="-1087" b="-1087"/>
          <a:stretch/>
        </p:blipFill>
        <p:spPr>
          <a:xfrm>
            <a:off x="9529877" y="3783787"/>
            <a:ext cx="105156" cy="171907"/>
          </a:xfrm>
          <a:prstGeom prst="rect">
            <a:avLst/>
          </a:prstGeom>
        </p:spPr>
      </p:pic>
      <p:sp>
        <p:nvSpPr>
          <p:cNvPr id="54" name="Shape 46"/>
          <p:cNvSpPr/>
          <p:nvPr/>
        </p:nvSpPr>
        <p:spPr>
          <a:xfrm>
            <a:off x="9521647" y="2176272"/>
            <a:ext cx="2104949" cy="1047902"/>
          </a:xfrm>
          <a:prstGeom prst="roundRect">
            <a:avLst>
              <a:gd name="adj" fmla="val 19039"/>
            </a:avLst>
          </a:prstGeom>
          <a:solidFill>
            <a:srgbClr val="00D4FF">
              <a:alpha val="5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Shape 47"/>
          <p:cNvSpPr/>
          <p:nvPr/>
        </p:nvSpPr>
        <p:spPr>
          <a:xfrm rot="2700000">
            <a:off x="10561320" y="2956692"/>
            <a:ext cx="152705" cy="152705"/>
          </a:xfrm>
          <a:prstGeom prst="rect">
            <a:avLst/>
          </a:prstGeom>
          <a:solidFill>
            <a:srgbClr val="1B2A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49"/>
          <p:cNvSpPr/>
          <p:nvPr/>
        </p:nvSpPr>
        <p:spPr>
          <a:xfrm>
            <a:off x="9673438" y="2336400"/>
            <a:ext cx="1800454" cy="267005"/>
          </a:xfrm>
          <a:prstGeom prst="roundRect">
            <a:avLst>
              <a:gd name="adj" fmla="val 342465"/>
            </a:avLst>
          </a:prstGeom>
          <a:solidFill>
            <a:srgbClr val="00D4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Text 50"/>
          <p:cNvSpPr/>
          <p:nvPr/>
        </p:nvSpPr>
        <p:spPr>
          <a:xfrm>
            <a:off x="9637776" y="2336400"/>
            <a:ext cx="1872691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38100" rIns="101600" bIns="381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D4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2025 ~ 현재</a:t>
            </a:r>
            <a:endParaRPr lang="en-US" sz="900" dirty="0"/>
          </a:p>
        </p:txBody>
      </p:sp>
      <p:sp>
        <p:nvSpPr>
          <p:cNvPr id="59" name="Text 51"/>
          <p:cNvSpPr txBox="1"/>
          <p:nvPr/>
        </p:nvSpPr>
        <p:spPr>
          <a:xfrm>
            <a:off x="9635947" y="2764668"/>
            <a:ext cx="187726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D4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대양CIS</a:t>
            </a:r>
            <a:endParaRPr lang="en-US" sz="1200" dirty="0"/>
          </a:p>
        </p:txBody>
      </p:sp>
      <p:sp>
        <p:nvSpPr>
          <p:cNvPr id="60" name="Shape 52"/>
          <p:cNvSpPr/>
          <p:nvPr/>
        </p:nvSpPr>
        <p:spPr>
          <a:xfrm>
            <a:off x="9521647" y="4214470"/>
            <a:ext cx="2104949" cy="1333195"/>
          </a:xfrm>
          <a:prstGeom prst="roundRect">
            <a:avLst>
              <a:gd name="adj" fmla="val 11758"/>
            </a:avLst>
          </a:prstGeom>
          <a:solidFill>
            <a:srgbClr val="00D4FF">
              <a:alpha val="5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" name="Shape 53"/>
          <p:cNvSpPr/>
          <p:nvPr/>
        </p:nvSpPr>
        <p:spPr>
          <a:xfrm rot="2700000">
            <a:off x="10561320" y="4138574"/>
            <a:ext cx="152705" cy="152705"/>
          </a:xfrm>
          <a:prstGeom prst="rect">
            <a:avLst/>
          </a:prstGeom>
          <a:solidFill>
            <a:srgbClr val="1E29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" name="Shape 54"/>
          <p:cNvSpPr/>
          <p:nvPr/>
        </p:nvSpPr>
        <p:spPr>
          <a:xfrm>
            <a:off x="9673438" y="4662526"/>
            <a:ext cx="1800454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3" name="Text 55"/>
          <p:cNvSpPr txBox="1"/>
          <p:nvPr/>
        </p:nvSpPr>
        <p:spPr>
          <a:xfrm>
            <a:off x="9637776" y="4367174"/>
            <a:ext cx="1872691" cy="22037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D4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부장 (AI R&amp;D)</a:t>
            </a:r>
            <a:endParaRPr lang="en-US" sz="1100" dirty="0"/>
          </a:p>
        </p:txBody>
      </p:sp>
      <p:sp>
        <p:nvSpPr>
          <p:cNvPr id="64" name="Text 56"/>
          <p:cNvSpPr txBox="1"/>
          <p:nvPr/>
        </p:nvSpPr>
        <p:spPr>
          <a:xfrm>
            <a:off x="9637776" y="4743907"/>
            <a:ext cx="1872691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D4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AI/RAG 문서 지식화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LLM 자동화 파이프라인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최신 AI 기술 도입</a:t>
            </a:r>
            <a:endParaRPr lang="en-US" sz="900" dirty="0"/>
          </a:p>
        </p:txBody>
      </p:sp>
      <p:pic>
        <p:nvPicPr>
          <p:cNvPr id="65" name="Image 6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506931" y="3605479"/>
            <a:ext cx="228600" cy="228600"/>
          </a:xfrm>
          <a:prstGeom prst="rect">
            <a:avLst/>
          </a:prstGeom>
        </p:spPr>
      </p:pic>
      <p:pic>
        <p:nvPicPr>
          <p:cNvPr id="66" name="Image 7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3744468" y="3605479"/>
            <a:ext cx="228600" cy="228600"/>
          </a:xfrm>
          <a:prstGeom prst="rect">
            <a:avLst/>
          </a:prstGeom>
        </p:spPr>
      </p:pic>
      <p:pic>
        <p:nvPicPr>
          <p:cNvPr id="67" name="Image 8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5982005" y="3605479"/>
            <a:ext cx="228600" cy="228600"/>
          </a:xfrm>
          <a:prstGeom prst="rect">
            <a:avLst/>
          </a:prstGeom>
        </p:spPr>
      </p:pic>
      <p:pic>
        <p:nvPicPr>
          <p:cNvPr id="68" name="Image 9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218627" y="3605479"/>
            <a:ext cx="228600" cy="228600"/>
          </a:xfrm>
          <a:prstGeom prst="rect">
            <a:avLst/>
          </a:prstGeom>
        </p:spPr>
      </p:pic>
      <p:pic>
        <p:nvPicPr>
          <p:cNvPr id="69" name="Image 10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0456164" y="3605479"/>
            <a:ext cx="228600" cy="228600"/>
          </a:xfrm>
          <a:prstGeom prst="rect">
            <a:avLst/>
          </a:prstGeom>
        </p:spPr>
      </p:pic>
      <p:sp>
        <p:nvSpPr>
          <p:cNvPr id="70" name="Shape 57"/>
          <p:cNvSpPr/>
          <p:nvPr/>
        </p:nvSpPr>
        <p:spPr>
          <a:xfrm>
            <a:off x="381305" y="1038758"/>
            <a:ext cx="11430000" cy="1920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1" name="Text 58"/>
          <p:cNvSpPr txBox="1"/>
          <p:nvPr/>
        </p:nvSpPr>
        <p:spPr>
          <a:xfrm>
            <a:off x="381305" y="381305"/>
            <a:ext cx="2875788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경력 타임라인</a:t>
            </a:r>
            <a:endParaRPr lang="en-US" sz="2700" dirty="0"/>
          </a:p>
        </p:txBody>
      </p:sp>
      <p:sp>
        <p:nvSpPr>
          <p:cNvPr id="72" name="Text 59"/>
          <p:cNvSpPr txBox="1"/>
          <p:nvPr/>
        </p:nvSpPr>
        <p:spPr>
          <a:xfrm>
            <a:off x="2560320" y="509321"/>
            <a:ext cx="434705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00D4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2007년부터 현재까지, 끊임없는 성장과 도전의 여정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alphaModFix amt="5000"/>
          </a:blip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61695" y="1619886"/>
            <a:ext cx="10668305" cy="9144"/>
          </a:xfrm>
          <a:prstGeom prst="rect">
            <a:avLst/>
          </a:prstGeom>
          <a:solidFill>
            <a:srgbClr val="00D4FF">
              <a:alpha val="30000"/>
            </a:srgbClr>
          </a:solidFill>
          <a:ln w="12700">
            <a:solidFill>
              <a:srgbClr val="00D4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 txBox="1"/>
          <p:nvPr/>
        </p:nvSpPr>
        <p:spPr>
          <a:xfrm>
            <a:off x="761695" y="571500"/>
            <a:ext cx="1078260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135" dirty="0">
                <a:solidFill>
                  <a:srgbClr val="00D4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CORE COMPETENCIES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761695" y="905256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기술 역량</a:t>
            </a:r>
            <a:endParaRPr lang="en-US" sz="3600" dirty="0"/>
          </a:p>
        </p:txBody>
      </p:sp>
      <p:pic>
        <p:nvPicPr>
          <p:cNvPr id="181" name="Image 4" descr="preencoded.png">
            <a:extLst>
              <a:ext uri="{FF2B5EF4-FFF2-40B4-BE49-F238E27FC236}">
                <a16:creationId xmlns:a16="http://schemas.microsoft.com/office/drawing/2014/main" id="{6C87E7E9-4C87-655F-62E0-0F974C1301E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4" b="-4"/>
          <a:stretch/>
        </p:blipFill>
        <p:spPr>
          <a:xfrm>
            <a:off x="761695" y="1784910"/>
            <a:ext cx="3403397" cy="2198785"/>
          </a:xfrm>
          <a:prstGeom prst="rect">
            <a:avLst/>
          </a:prstGeom>
        </p:spPr>
      </p:pic>
      <p:sp>
        <p:nvSpPr>
          <p:cNvPr id="182" name="Shape 4">
            <a:extLst>
              <a:ext uri="{FF2B5EF4-FFF2-40B4-BE49-F238E27FC236}">
                <a16:creationId xmlns:a16="http://schemas.microsoft.com/office/drawing/2014/main" id="{64D0B58A-17BF-0536-0E11-C0BD0E485B1C}"/>
              </a:ext>
            </a:extLst>
          </p:cNvPr>
          <p:cNvSpPr/>
          <p:nvPr/>
        </p:nvSpPr>
        <p:spPr>
          <a:xfrm>
            <a:off x="761695" y="1784909"/>
            <a:ext cx="3384194" cy="38405"/>
          </a:xfrm>
          <a:prstGeom prst="rect">
            <a:avLst/>
          </a:prstGeom>
          <a:solidFill>
            <a:srgbClr val="00D4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3" name="Shape 5">
            <a:extLst>
              <a:ext uri="{FF2B5EF4-FFF2-40B4-BE49-F238E27FC236}">
                <a16:creationId xmlns:a16="http://schemas.microsoft.com/office/drawing/2014/main" id="{2E497843-595D-BDA2-F172-F1487DD63F16}"/>
              </a:ext>
            </a:extLst>
          </p:cNvPr>
          <p:cNvSpPr/>
          <p:nvPr/>
        </p:nvSpPr>
        <p:spPr>
          <a:xfrm>
            <a:off x="1000354" y="2041855"/>
            <a:ext cx="457200" cy="457200"/>
          </a:xfrm>
          <a:prstGeom prst="roundRect">
            <a:avLst>
              <a:gd name="adj" fmla="val 66667"/>
            </a:avLst>
          </a:prstGeom>
          <a:solidFill>
            <a:srgbClr val="00D4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84" name="Image 5" descr="preencoded.png">
            <a:extLst>
              <a:ext uri="{FF2B5EF4-FFF2-40B4-BE49-F238E27FC236}">
                <a16:creationId xmlns:a16="http://schemas.microsoft.com/office/drawing/2014/main" id="{8F6CC8E1-5079-5DE1-3491-6CC51EA3A69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114654" y="2156155"/>
            <a:ext cx="228600" cy="228600"/>
          </a:xfrm>
          <a:prstGeom prst="rect">
            <a:avLst/>
          </a:prstGeom>
        </p:spPr>
      </p:pic>
      <p:sp>
        <p:nvSpPr>
          <p:cNvPr id="185" name="Text 6">
            <a:extLst>
              <a:ext uri="{FF2B5EF4-FFF2-40B4-BE49-F238E27FC236}">
                <a16:creationId xmlns:a16="http://schemas.microsoft.com/office/drawing/2014/main" id="{A11D644C-FD0D-146A-66F0-6EE47F4AAAF8}"/>
              </a:ext>
            </a:extLst>
          </p:cNvPr>
          <p:cNvSpPr txBox="1"/>
          <p:nvPr/>
        </p:nvSpPr>
        <p:spPr>
          <a:xfrm>
            <a:off x="1609344" y="2023567"/>
            <a:ext cx="1587398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/ LLM 자동화</a:t>
            </a:r>
            <a:endParaRPr lang="en-US" sz="1500" dirty="0"/>
          </a:p>
        </p:txBody>
      </p:sp>
      <p:sp>
        <p:nvSpPr>
          <p:cNvPr id="186" name="Text 7">
            <a:extLst>
              <a:ext uri="{FF2B5EF4-FFF2-40B4-BE49-F238E27FC236}">
                <a16:creationId xmlns:a16="http://schemas.microsoft.com/office/drawing/2014/main" id="{A621D770-8C6E-A521-C5D9-E594784CC465}"/>
              </a:ext>
            </a:extLst>
          </p:cNvPr>
          <p:cNvSpPr txBox="1"/>
          <p:nvPr/>
        </p:nvSpPr>
        <p:spPr>
          <a:xfrm>
            <a:off x="1609344" y="2347265"/>
            <a:ext cx="14100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0A4A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GenAI &amp; Automation</a:t>
            </a:r>
            <a:endParaRPr lang="en-US" sz="900" dirty="0"/>
          </a:p>
        </p:txBody>
      </p:sp>
      <p:pic>
        <p:nvPicPr>
          <p:cNvPr id="187" name="Image 6" descr="preencoded.png">
            <a:extLst>
              <a:ext uri="{FF2B5EF4-FFF2-40B4-BE49-F238E27FC236}">
                <a16:creationId xmlns:a16="http://schemas.microsoft.com/office/drawing/2014/main" id="{CF83E4BC-9613-9BA7-2A05-46C4D0C7C2AA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-2571" r="-2571"/>
          <a:stretch/>
        </p:blipFill>
        <p:spPr>
          <a:xfrm>
            <a:off x="1000354" y="2709367"/>
            <a:ext cx="105156" cy="114300"/>
          </a:xfrm>
          <a:prstGeom prst="rect">
            <a:avLst/>
          </a:prstGeom>
        </p:spPr>
      </p:pic>
      <p:sp>
        <p:nvSpPr>
          <p:cNvPr id="188" name="Text 8">
            <a:extLst>
              <a:ext uri="{FF2B5EF4-FFF2-40B4-BE49-F238E27FC236}">
                <a16:creationId xmlns:a16="http://schemas.microsoft.com/office/drawing/2014/main" id="{25F6346F-5378-FC5E-9F3F-339A607BA950}"/>
              </a:ext>
            </a:extLst>
          </p:cNvPr>
          <p:cNvSpPr txBox="1"/>
          <p:nvPr/>
        </p:nvSpPr>
        <p:spPr>
          <a:xfrm>
            <a:off x="1200607" y="2670962"/>
            <a:ext cx="2809951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E0E0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RAG(검색 증강 생성) 시스템 아키텍처 설계 및 구축</a:t>
            </a:r>
            <a:endParaRPr lang="en-US" sz="1000" dirty="0"/>
          </a:p>
        </p:txBody>
      </p:sp>
      <p:pic>
        <p:nvPicPr>
          <p:cNvPr id="189" name="Image 7" descr="preencoded.png">
            <a:extLst>
              <a:ext uri="{FF2B5EF4-FFF2-40B4-BE49-F238E27FC236}">
                <a16:creationId xmlns:a16="http://schemas.microsoft.com/office/drawing/2014/main" id="{56A5F014-E7D2-08A5-E83E-3530AA086E7B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-2571" r="-2571"/>
          <a:stretch/>
        </p:blipFill>
        <p:spPr>
          <a:xfrm>
            <a:off x="1000354" y="2955965"/>
            <a:ext cx="105156" cy="114300"/>
          </a:xfrm>
          <a:prstGeom prst="rect">
            <a:avLst/>
          </a:prstGeom>
        </p:spPr>
      </p:pic>
      <p:sp>
        <p:nvSpPr>
          <p:cNvPr id="190" name="Text 9">
            <a:extLst>
              <a:ext uri="{FF2B5EF4-FFF2-40B4-BE49-F238E27FC236}">
                <a16:creationId xmlns:a16="http://schemas.microsoft.com/office/drawing/2014/main" id="{4E908B6C-BDB7-F379-0981-90A06B887EA7}"/>
              </a:ext>
            </a:extLst>
          </p:cNvPr>
          <p:cNvSpPr txBox="1"/>
          <p:nvPr/>
        </p:nvSpPr>
        <p:spPr>
          <a:xfrm>
            <a:off x="1221681" y="2918474"/>
            <a:ext cx="313547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0E0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프롬프트 엔지니어링 및 LLM 파이프라인 최적화</a:t>
            </a:r>
            <a:endParaRPr lang="en-US" sz="1000" dirty="0"/>
          </a:p>
        </p:txBody>
      </p:sp>
      <p:pic>
        <p:nvPicPr>
          <p:cNvPr id="191" name="Image 8" descr="preencoded.png">
            <a:extLst>
              <a:ext uri="{FF2B5EF4-FFF2-40B4-BE49-F238E27FC236}">
                <a16:creationId xmlns:a16="http://schemas.microsoft.com/office/drawing/2014/main" id="{7923E3B9-9D56-C6A5-A58A-BB539CED9899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-2571" r="-2571"/>
          <a:stretch/>
        </p:blipFill>
        <p:spPr>
          <a:xfrm>
            <a:off x="1000354" y="3251316"/>
            <a:ext cx="105156" cy="114300"/>
          </a:xfrm>
          <a:prstGeom prst="rect">
            <a:avLst/>
          </a:prstGeom>
        </p:spPr>
      </p:pic>
      <p:sp>
        <p:nvSpPr>
          <p:cNvPr id="192" name="Text 10">
            <a:extLst>
              <a:ext uri="{FF2B5EF4-FFF2-40B4-BE49-F238E27FC236}">
                <a16:creationId xmlns:a16="http://schemas.microsoft.com/office/drawing/2014/main" id="{1AEBB74F-FC71-E08A-E258-F0924DC0BE6E}"/>
              </a:ext>
            </a:extLst>
          </p:cNvPr>
          <p:cNvSpPr txBox="1"/>
          <p:nvPr/>
        </p:nvSpPr>
        <p:spPr>
          <a:xfrm>
            <a:off x="1221681" y="3212911"/>
            <a:ext cx="31510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0E0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n8n 워크플로우 자동화 및 로컬 LLM 서버 운영</a:t>
            </a:r>
            <a:endParaRPr lang="en-US" sz="1000" dirty="0"/>
          </a:p>
        </p:txBody>
      </p:sp>
      <p:sp>
        <p:nvSpPr>
          <p:cNvPr id="193" name="Shape 11">
            <a:extLst>
              <a:ext uri="{FF2B5EF4-FFF2-40B4-BE49-F238E27FC236}">
                <a16:creationId xmlns:a16="http://schemas.microsoft.com/office/drawing/2014/main" id="{1A958207-ECC8-C03F-3DBA-9B936CEEC4FE}"/>
              </a:ext>
            </a:extLst>
          </p:cNvPr>
          <p:cNvSpPr/>
          <p:nvPr/>
        </p:nvSpPr>
        <p:spPr>
          <a:xfrm>
            <a:off x="1000354" y="3582687"/>
            <a:ext cx="362102" cy="237744"/>
          </a:xfrm>
          <a:prstGeom prst="roundRect">
            <a:avLst>
              <a:gd name="adj" fmla="val 123077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4" name="Text 12">
            <a:extLst>
              <a:ext uri="{FF2B5EF4-FFF2-40B4-BE49-F238E27FC236}">
                <a16:creationId xmlns:a16="http://schemas.microsoft.com/office/drawing/2014/main" id="{0CE2157B-14C6-229D-96C3-B05CCB53B657}"/>
              </a:ext>
            </a:extLst>
          </p:cNvPr>
          <p:cNvSpPr txBox="1"/>
          <p:nvPr/>
        </p:nvSpPr>
        <p:spPr>
          <a:xfrm>
            <a:off x="1000354" y="3582687"/>
            <a:ext cx="419710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B0BEC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RAG</a:t>
            </a:r>
            <a:endParaRPr lang="en-US" sz="800" dirty="0"/>
          </a:p>
        </p:txBody>
      </p:sp>
      <p:sp>
        <p:nvSpPr>
          <p:cNvPr id="195" name="Shape 13">
            <a:extLst>
              <a:ext uri="{FF2B5EF4-FFF2-40B4-BE49-F238E27FC236}">
                <a16:creationId xmlns:a16="http://schemas.microsoft.com/office/drawing/2014/main" id="{6CD90FFA-1BB7-DC4F-DD03-FF8BD29DF69F}"/>
              </a:ext>
            </a:extLst>
          </p:cNvPr>
          <p:cNvSpPr/>
          <p:nvPr/>
        </p:nvSpPr>
        <p:spPr>
          <a:xfrm>
            <a:off x="1433779" y="3582687"/>
            <a:ext cx="342900" cy="237744"/>
          </a:xfrm>
          <a:prstGeom prst="roundRect">
            <a:avLst>
              <a:gd name="adj" fmla="val 123077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6" name="Text 14">
            <a:extLst>
              <a:ext uri="{FF2B5EF4-FFF2-40B4-BE49-F238E27FC236}">
                <a16:creationId xmlns:a16="http://schemas.microsoft.com/office/drawing/2014/main" id="{5BDCB16A-2BEB-CCC7-1A77-235CC0A02B53}"/>
              </a:ext>
            </a:extLst>
          </p:cNvPr>
          <p:cNvSpPr txBox="1"/>
          <p:nvPr/>
        </p:nvSpPr>
        <p:spPr>
          <a:xfrm>
            <a:off x="1433779" y="3582687"/>
            <a:ext cx="400507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B0BEC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n8n</a:t>
            </a:r>
            <a:endParaRPr lang="en-US" sz="800" dirty="0"/>
          </a:p>
        </p:txBody>
      </p:sp>
      <p:sp>
        <p:nvSpPr>
          <p:cNvPr id="197" name="Shape 15">
            <a:extLst>
              <a:ext uri="{FF2B5EF4-FFF2-40B4-BE49-F238E27FC236}">
                <a16:creationId xmlns:a16="http://schemas.microsoft.com/office/drawing/2014/main" id="{1785C834-8610-6472-0D11-C5EEA0F1B259}"/>
              </a:ext>
            </a:extLst>
          </p:cNvPr>
          <p:cNvSpPr/>
          <p:nvPr/>
        </p:nvSpPr>
        <p:spPr>
          <a:xfrm>
            <a:off x="1852574" y="3582687"/>
            <a:ext cx="685800" cy="237744"/>
          </a:xfrm>
          <a:prstGeom prst="roundRect">
            <a:avLst>
              <a:gd name="adj" fmla="val 123077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8" name="Text 16">
            <a:extLst>
              <a:ext uri="{FF2B5EF4-FFF2-40B4-BE49-F238E27FC236}">
                <a16:creationId xmlns:a16="http://schemas.microsoft.com/office/drawing/2014/main" id="{B71E6AB0-CB16-4AE3-C985-CB066ECD08BC}"/>
              </a:ext>
            </a:extLst>
          </p:cNvPr>
          <p:cNvSpPr txBox="1"/>
          <p:nvPr/>
        </p:nvSpPr>
        <p:spPr>
          <a:xfrm>
            <a:off x="1852574" y="3582687"/>
            <a:ext cx="743407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B0BEC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LangChain</a:t>
            </a:r>
            <a:endParaRPr lang="en-US" sz="800" dirty="0"/>
          </a:p>
        </p:txBody>
      </p:sp>
      <p:sp>
        <p:nvSpPr>
          <p:cNvPr id="199" name="Shape 17">
            <a:extLst>
              <a:ext uri="{FF2B5EF4-FFF2-40B4-BE49-F238E27FC236}">
                <a16:creationId xmlns:a16="http://schemas.microsoft.com/office/drawing/2014/main" id="{9325A592-5F69-21F6-323D-502C66B4DA73}"/>
              </a:ext>
            </a:extLst>
          </p:cNvPr>
          <p:cNvSpPr/>
          <p:nvPr/>
        </p:nvSpPr>
        <p:spPr>
          <a:xfrm>
            <a:off x="2614270" y="3582687"/>
            <a:ext cx="657454" cy="237744"/>
          </a:xfrm>
          <a:prstGeom prst="roundRect">
            <a:avLst>
              <a:gd name="adj" fmla="val 123077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0" name="Text 18">
            <a:extLst>
              <a:ext uri="{FF2B5EF4-FFF2-40B4-BE49-F238E27FC236}">
                <a16:creationId xmlns:a16="http://schemas.microsoft.com/office/drawing/2014/main" id="{F8F3A41A-C2F6-DCF8-E870-DB3C66CCB132}"/>
              </a:ext>
            </a:extLst>
          </p:cNvPr>
          <p:cNvSpPr txBox="1"/>
          <p:nvPr/>
        </p:nvSpPr>
        <p:spPr>
          <a:xfrm>
            <a:off x="2614270" y="3582687"/>
            <a:ext cx="715061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B0BEC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Local LLM</a:t>
            </a:r>
            <a:endParaRPr lang="en-US" sz="800" dirty="0"/>
          </a:p>
        </p:txBody>
      </p:sp>
      <p:pic>
        <p:nvPicPr>
          <p:cNvPr id="201" name="Image 9" descr="preencoded.png">
            <a:extLst>
              <a:ext uri="{FF2B5EF4-FFF2-40B4-BE49-F238E27FC236}">
                <a16:creationId xmlns:a16="http://schemas.microsoft.com/office/drawing/2014/main" id="{4A7FD197-9324-31E7-2239-B14E808FFD5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4" b="-4"/>
          <a:stretch/>
        </p:blipFill>
        <p:spPr>
          <a:xfrm>
            <a:off x="4394606" y="1784910"/>
            <a:ext cx="3403397" cy="2198785"/>
          </a:xfrm>
          <a:prstGeom prst="rect">
            <a:avLst/>
          </a:prstGeom>
        </p:spPr>
      </p:pic>
      <p:sp>
        <p:nvSpPr>
          <p:cNvPr id="202" name="Shape 19">
            <a:extLst>
              <a:ext uri="{FF2B5EF4-FFF2-40B4-BE49-F238E27FC236}">
                <a16:creationId xmlns:a16="http://schemas.microsoft.com/office/drawing/2014/main" id="{92ABB736-C9DE-222F-198D-F625AD1CD3A4}"/>
              </a:ext>
            </a:extLst>
          </p:cNvPr>
          <p:cNvSpPr/>
          <p:nvPr/>
        </p:nvSpPr>
        <p:spPr>
          <a:xfrm>
            <a:off x="4394606" y="1784909"/>
            <a:ext cx="3384194" cy="38405"/>
          </a:xfrm>
          <a:prstGeom prst="rect">
            <a:avLst/>
          </a:prstGeom>
          <a:solidFill>
            <a:srgbClr val="4CAF5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3" name="Shape 20">
            <a:extLst>
              <a:ext uri="{FF2B5EF4-FFF2-40B4-BE49-F238E27FC236}">
                <a16:creationId xmlns:a16="http://schemas.microsoft.com/office/drawing/2014/main" id="{B799F19C-34E6-F7A3-68EA-E5BB8AFF75B1}"/>
              </a:ext>
            </a:extLst>
          </p:cNvPr>
          <p:cNvSpPr/>
          <p:nvPr/>
        </p:nvSpPr>
        <p:spPr>
          <a:xfrm>
            <a:off x="4632350" y="2041855"/>
            <a:ext cx="457200" cy="457200"/>
          </a:xfrm>
          <a:prstGeom prst="roundRect">
            <a:avLst>
              <a:gd name="adj" fmla="val 66667"/>
            </a:avLst>
          </a:prstGeom>
          <a:solidFill>
            <a:srgbClr val="4CAF50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04" name="Image 10" descr="preencoded.png">
            <a:extLst>
              <a:ext uri="{FF2B5EF4-FFF2-40B4-BE49-F238E27FC236}">
                <a16:creationId xmlns:a16="http://schemas.microsoft.com/office/drawing/2014/main" id="{4AA6CEAB-7943-DCDD-0D3A-8153D64F4306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-80" r="-80"/>
          <a:stretch/>
        </p:blipFill>
        <p:spPr>
          <a:xfrm>
            <a:off x="4718304" y="2156155"/>
            <a:ext cx="286207" cy="228600"/>
          </a:xfrm>
          <a:prstGeom prst="rect">
            <a:avLst/>
          </a:prstGeom>
        </p:spPr>
      </p:pic>
      <p:sp>
        <p:nvSpPr>
          <p:cNvPr id="205" name="Text 21">
            <a:extLst>
              <a:ext uri="{FF2B5EF4-FFF2-40B4-BE49-F238E27FC236}">
                <a16:creationId xmlns:a16="http://schemas.microsoft.com/office/drawing/2014/main" id="{072A23D0-9385-E65F-76EC-E604324309E2}"/>
              </a:ext>
            </a:extLst>
          </p:cNvPr>
          <p:cNvSpPr txBox="1"/>
          <p:nvPr/>
        </p:nvSpPr>
        <p:spPr>
          <a:xfrm>
            <a:off x="5242255" y="2023567"/>
            <a:ext cx="232989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Backend Development</a:t>
            </a:r>
            <a:endParaRPr lang="en-US" sz="1500" dirty="0"/>
          </a:p>
        </p:txBody>
      </p:sp>
      <p:sp>
        <p:nvSpPr>
          <p:cNvPr id="206" name="Text 22">
            <a:extLst>
              <a:ext uri="{FF2B5EF4-FFF2-40B4-BE49-F238E27FC236}">
                <a16:creationId xmlns:a16="http://schemas.microsoft.com/office/drawing/2014/main" id="{AC266593-B40D-B934-D2D7-22F56C7971FF}"/>
              </a:ext>
            </a:extLst>
          </p:cNvPr>
          <p:cNvSpPr txBox="1"/>
          <p:nvPr/>
        </p:nvSpPr>
        <p:spPr>
          <a:xfrm>
            <a:off x="5242255" y="2347265"/>
            <a:ext cx="220919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0A4A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Server-side Engineering</a:t>
            </a:r>
            <a:endParaRPr lang="en-US" sz="900" dirty="0"/>
          </a:p>
        </p:txBody>
      </p:sp>
      <p:pic>
        <p:nvPicPr>
          <p:cNvPr id="207" name="Image 11" descr="preencoded.png">
            <a:extLst>
              <a:ext uri="{FF2B5EF4-FFF2-40B4-BE49-F238E27FC236}">
                <a16:creationId xmlns:a16="http://schemas.microsoft.com/office/drawing/2014/main" id="{5C0818E2-86CA-BCC8-0293-7AC31C69E35F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-2571" r="-2571"/>
          <a:stretch/>
        </p:blipFill>
        <p:spPr>
          <a:xfrm>
            <a:off x="4632350" y="2709367"/>
            <a:ext cx="105156" cy="114300"/>
          </a:xfrm>
          <a:prstGeom prst="rect">
            <a:avLst/>
          </a:prstGeom>
        </p:spPr>
      </p:pic>
      <p:sp>
        <p:nvSpPr>
          <p:cNvPr id="208" name="Text 23">
            <a:extLst>
              <a:ext uri="{FF2B5EF4-FFF2-40B4-BE49-F238E27FC236}">
                <a16:creationId xmlns:a16="http://schemas.microsoft.com/office/drawing/2014/main" id="{54669D9D-C1C8-9BD1-50D8-6A6ECF11280B}"/>
              </a:ext>
            </a:extLst>
          </p:cNvPr>
          <p:cNvSpPr txBox="1"/>
          <p:nvPr/>
        </p:nvSpPr>
        <p:spPr>
          <a:xfrm>
            <a:off x="4832603" y="2670962"/>
            <a:ext cx="3098901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E0E0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Python (FastAPI, Django) 및 Java Spring 프레임워크</a:t>
            </a:r>
            <a:endParaRPr lang="en-US" sz="1000" dirty="0"/>
          </a:p>
        </p:txBody>
      </p:sp>
      <p:pic>
        <p:nvPicPr>
          <p:cNvPr id="209" name="Image 12" descr="preencoded.png">
            <a:extLst>
              <a:ext uri="{FF2B5EF4-FFF2-40B4-BE49-F238E27FC236}">
                <a16:creationId xmlns:a16="http://schemas.microsoft.com/office/drawing/2014/main" id="{9E143D2E-D002-3B45-ECB3-190E8275AA88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-2571" r="-2571"/>
          <a:stretch/>
        </p:blipFill>
        <p:spPr>
          <a:xfrm>
            <a:off x="4632350" y="2955965"/>
            <a:ext cx="105156" cy="114300"/>
          </a:xfrm>
          <a:prstGeom prst="rect">
            <a:avLst/>
          </a:prstGeom>
        </p:spPr>
      </p:pic>
      <p:sp>
        <p:nvSpPr>
          <p:cNvPr id="210" name="Text 24">
            <a:extLst>
              <a:ext uri="{FF2B5EF4-FFF2-40B4-BE49-F238E27FC236}">
                <a16:creationId xmlns:a16="http://schemas.microsoft.com/office/drawing/2014/main" id="{83871689-4AB4-CE8B-2E42-464B9DB376A9}"/>
              </a:ext>
            </a:extLst>
          </p:cNvPr>
          <p:cNvSpPr txBox="1"/>
          <p:nvPr/>
        </p:nvSpPr>
        <p:spPr>
          <a:xfrm>
            <a:off x="4853678" y="2918474"/>
            <a:ext cx="2809951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E0E0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RESTful API 설계 및 마이크로서비스 아키텍처 구현</a:t>
            </a:r>
            <a:endParaRPr lang="en-US" sz="1000" dirty="0"/>
          </a:p>
        </p:txBody>
      </p:sp>
      <p:pic>
        <p:nvPicPr>
          <p:cNvPr id="211" name="Image 13" descr="preencoded.png">
            <a:extLst>
              <a:ext uri="{FF2B5EF4-FFF2-40B4-BE49-F238E27FC236}">
                <a16:creationId xmlns:a16="http://schemas.microsoft.com/office/drawing/2014/main" id="{0962A197-9217-7FBC-B54B-9295BC2B6223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-2571" r="-2571"/>
          <a:stretch/>
        </p:blipFill>
        <p:spPr>
          <a:xfrm>
            <a:off x="4632350" y="3189296"/>
            <a:ext cx="105156" cy="114300"/>
          </a:xfrm>
          <a:prstGeom prst="rect">
            <a:avLst/>
          </a:prstGeom>
        </p:spPr>
      </p:pic>
      <p:sp>
        <p:nvSpPr>
          <p:cNvPr id="212" name="Text 25">
            <a:extLst>
              <a:ext uri="{FF2B5EF4-FFF2-40B4-BE49-F238E27FC236}">
                <a16:creationId xmlns:a16="http://schemas.microsoft.com/office/drawing/2014/main" id="{DB869A7F-3566-AED0-9025-297F1F66E987}"/>
              </a:ext>
            </a:extLst>
          </p:cNvPr>
          <p:cNvSpPr txBox="1"/>
          <p:nvPr/>
        </p:nvSpPr>
        <p:spPr>
          <a:xfrm>
            <a:off x="4832604" y="3150892"/>
            <a:ext cx="2809951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E0E0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Legacy 시스템(PHP, ASP.NET) 유지보수 및 마이그레이션</a:t>
            </a:r>
            <a:endParaRPr lang="en-US" sz="1000" dirty="0"/>
          </a:p>
        </p:txBody>
      </p:sp>
      <p:sp>
        <p:nvSpPr>
          <p:cNvPr id="213" name="Shape 26">
            <a:extLst>
              <a:ext uri="{FF2B5EF4-FFF2-40B4-BE49-F238E27FC236}">
                <a16:creationId xmlns:a16="http://schemas.microsoft.com/office/drawing/2014/main" id="{2A609329-8A8C-6175-4786-F7814FD87276}"/>
              </a:ext>
            </a:extLst>
          </p:cNvPr>
          <p:cNvSpPr/>
          <p:nvPr/>
        </p:nvSpPr>
        <p:spPr>
          <a:xfrm>
            <a:off x="4632350" y="3582687"/>
            <a:ext cx="514807" cy="237744"/>
          </a:xfrm>
          <a:prstGeom prst="roundRect">
            <a:avLst>
              <a:gd name="adj" fmla="val 123077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4" name="Text 27">
            <a:extLst>
              <a:ext uri="{FF2B5EF4-FFF2-40B4-BE49-F238E27FC236}">
                <a16:creationId xmlns:a16="http://schemas.microsoft.com/office/drawing/2014/main" id="{01FF1BF0-E3DF-C493-4E1F-E001929F7193}"/>
              </a:ext>
            </a:extLst>
          </p:cNvPr>
          <p:cNvSpPr txBox="1"/>
          <p:nvPr/>
        </p:nvSpPr>
        <p:spPr>
          <a:xfrm>
            <a:off x="4632350" y="3582687"/>
            <a:ext cx="571500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B0BEC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Python</a:t>
            </a:r>
            <a:endParaRPr lang="en-US" sz="800" dirty="0"/>
          </a:p>
        </p:txBody>
      </p:sp>
      <p:sp>
        <p:nvSpPr>
          <p:cNvPr id="215" name="Shape 28">
            <a:extLst>
              <a:ext uri="{FF2B5EF4-FFF2-40B4-BE49-F238E27FC236}">
                <a16:creationId xmlns:a16="http://schemas.microsoft.com/office/drawing/2014/main" id="{08ECC663-FFE0-3DEE-EE7B-C2E1EAD01D0F}"/>
              </a:ext>
            </a:extLst>
          </p:cNvPr>
          <p:cNvSpPr/>
          <p:nvPr/>
        </p:nvSpPr>
        <p:spPr>
          <a:xfrm>
            <a:off x="5222138" y="3582687"/>
            <a:ext cx="761695" cy="237744"/>
          </a:xfrm>
          <a:prstGeom prst="roundRect">
            <a:avLst>
              <a:gd name="adj" fmla="val 123077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6" name="Text 29">
            <a:extLst>
              <a:ext uri="{FF2B5EF4-FFF2-40B4-BE49-F238E27FC236}">
                <a16:creationId xmlns:a16="http://schemas.microsoft.com/office/drawing/2014/main" id="{9B38167A-04E9-454F-0077-97C7F3F8B035}"/>
              </a:ext>
            </a:extLst>
          </p:cNvPr>
          <p:cNvSpPr txBox="1"/>
          <p:nvPr/>
        </p:nvSpPr>
        <p:spPr>
          <a:xfrm>
            <a:off x="5222138" y="3582687"/>
            <a:ext cx="819302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B0BEC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Java/Spring</a:t>
            </a:r>
            <a:endParaRPr lang="en-US" sz="800" dirty="0"/>
          </a:p>
        </p:txBody>
      </p:sp>
      <p:sp>
        <p:nvSpPr>
          <p:cNvPr id="217" name="Shape 30">
            <a:extLst>
              <a:ext uri="{FF2B5EF4-FFF2-40B4-BE49-F238E27FC236}">
                <a16:creationId xmlns:a16="http://schemas.microsoft.com/office/drawing/2014/main" id="{DE24FE8B-494D-215B-57E3-B9EFF6B4B620}"/>
              </a:ext>
            </a:extLst>
          </p:cNvPr>
          <p:cNvSpPr/>
          <p:nvPr/>
        </p:nvSpPr>
        <p:spPr>
          <a:xfrm>
            <a:off x="6053328" y="3582687"/>
            <a:ext cx="523951" cy="237744"/>
          </a:xfrm>
          <a:prstGeom prst="roundRect">
            <a:avLst>
              <a:gd name="adj" fmla="val 123077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8" name="Text 31">
            <a:extLst>
              <a:ext uri="{FF2B5EF4-FFF2-40B4-BE49-F238E27FC236}">
                <a16:creationId xmlns:a16="http://schemas.microsoft.com/office/drawing/2014/main" id="{450BC0A1-FA93-D312-AAFF-F8F8D7A5F0B1}"/>
              </a:ext>
            </a:extLst>
          </p:cNvPr>
          <p:cNvSpPr txBox="1"/>
          <p:nvPr/>
        </p:nvSpPr>
        <p:spPr>
          <a:xfrm>
            <a:off x="6053328" y="3582687"/>
            <a:ext cx="581558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B0BEC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FastAPI</a:t>
            </a:r>
            <a:endParaRPr lang="en-US" sz="800" dirty="0"/>
          </a:p>
        </p:txBody>
      </p:sp>
      <p:sp>
        <p:nvSpPr>
          <p:cNvPr id="219" name="Shape 32">
            <a:extLst>
              <a:ext uri="{FF2B5EF4-FFF2-40B4-BE49-F238E27FC236}">
                <a16:creationId xmlns:a16="http://schemas.microsoft.com/office/drawing/2014/main" id="{F14EE570-19C2-19FC-E364-84AC35E255F4}"/>
              </a:ext>
            </a:extLst>
          </p:cNvPr>
          <p:cNvSpPr/>
          <p:nvPr/>
        </p:nvSpPr>
        <p:spPr>
          <a:xfrm>
            <a:off x="6651346" y="3582687"/>
            <a:ext cx="609905" cy="237744"/>
          </a:xfrm>
          <a:prstGeom prst="roundRect">
            <a:avLst>
              <a:gd name="adj" fmla="val 123077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0" name="Text 33">
            <a:extLst>
              <a:ext uri="{FF2B5EF4-FFF2-40B4-BE49-F238E27FC236}">
                <a16:creationId xmlns:a16="http://schemas.microsoft.com/office/drawing/2014/main" id="{97D7A375-CDD8-C249-9FFE-F583CB4EF1C2}"/>
              </a:ext>
            </a:extLst>
          </p:cNvPr>
          <p:cNvSpPr txBox="1"/>
          <p:nvPr/>
        </p:nvSpPr>
        <p:spPr>
          <a:xfrm>
            <a:off x="6651346" y="3582687"/>
            <a:ext cx="667512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B0BEC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REST API</a:t>
            </a:r>
            <a:endParaRPr lang="en-US" sz="800" dirty="0"/>
          </a:p>
        </p:txBody>
      </p:sp>
      <p:pic>
        <p:nvPicPr>
          <p:cNvPr id="221" name="Image 14" descr="preencoded.png">
            <a:extLst>
              <a:ext uri="{FF2B5EF4-FFF2-40B4-BE49-F238E27FC236}">
                <a16:creationId xmlns:a16="http://schemas.microsoft.com/office/drawing/2014/main" id="{8DF881B4-8DD2-DCC9-C8BC-6C7DD4D5A3E8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t="-6" b="-6"/>
          <a:stretch/>
        </p:blipFill>
        <p:spPr>
          <a:xfrm>
            <a:off x="8026603" y="1784910"/>
            <a:ext cx="3403397" cy="2198785"/>
          </a:xfrm>
          <a:prstGeom prst="rect">
            <a:avLst/>
          </a:prstGeom>
        </p:spPr>
      </p:pic>
      <p:sp>
        <p:nvSpPr>
          <p:cNvPr id="222" name="Shape 34">
            <a:extLst>
              <a:ext uri="{FF2B5EF4-FFF2-40B4-BE49-F238E27FC236}">
                <a16:creationId xmlns:a16="http://schemas.microsoft.com/office/drawing/2014/main" id="{E3181BD0-48BA-AA36-A258-88D3C8DD01C0}"/>
              </a:ext>
            </a:extLst>
          </p:cNvPr>
          <p:cNvSpPr/>
          <p:nvPr/>
        </p:nvSpPr>
        <p:spPr>
          <a:xfrm>
            <a:off x="8026603" y="1784909"/>
            <a:ext cx="3384194" cy="38405"/>
          </a:xfrm>
          <a:prstGeom prst="rect">
            <a:avLst/>
          </a:prstGeom>
          <a:solidFill>
            <a:srgbClr val="FFC10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3" name="Shape 35">
            <a:extLst>
              <a:ext uri="{FF2B5EF4-FFF2-40B4-BE49-F238E27FC236}">
                <a16:creationId xmlns:a16="http://schemas.microsoft.com/office/drawing/2014/main" id="{5A6B90FE-096D-32FC-3D67-7E0FEE714FA3}"/>
              </a:ext>
            </a:extLst>
          </p:cNvPr>
          <p:cNvSpPr/>
          <p:nvPr/>
        </p:nvSpPr>
        <p:spPr>
          <a:xfrm>
            <a:off x="8264347" y="2041855"/>
            <a:ext cx="457200" cy="457200"/>
          </a:xfrm>
          <a:prstGeom prst="roundRect">
            <a:avLst>
              <a:gd name="adj" fmla="val 66667"/>
            </a:avLst>
          </a:prstGeom>
          <a:solidFill>
            <a:srgbClr val="FFC107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24" name="Image 15" descr="preencoded.png">
            <a:extLst>
              <a:ext uri="{FF2B5EF4-FFF2-40B4-BE49-F238E27FC236}">
                <a16:creationId xmlns:a16="http://schemas.microsoft.com/office/drawing/2014/main" id="{63444572-A766-FE60-A92B-27991BAA5C97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-57" r="-57"/>
          <a:stretch/>
        </p:blipFill>
        <p:spPr>
          <a:xfrm>
            <a:off x="8393278" y="2156155"/>
            <a:ext cx="200254" cy="228600"/>
          </a:xfrm>
          <a:prstGeom prst="rect">
            <a:avLst/>
          </a:prstGeom>
        </p:spPr>
      </p:pic>
      <p:sp>
        <p:nvSpPr>
          <p:cNvPr id="225" name="Text 36">
            <a:extLst>
              <a:ext uri="{FF2B5EF4-FFF2-40B4-BE49-F238E27FC236}">
                <a16:creationId xmlns:a16="http://schemas.microsoft.com/office/drawing/2014/main" id="{C42063CC-DAB5-3D85-2A43-8D54ADFCCD72}"/>
              </a:ext>
            </a:extLst>
          </p:cNvPr>
          <p:cNvSpPr txBox="1"/>
          <p:nvPr/>
        </p:nvSpPr>
        <p:spPr>
          <a:xfrm>
            <a:off x="8874252" y="2023567"/>
            <a:ext cx="2445106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Database Engineering</a:t>
            </a:r>
            <a:endParaRPr lang="en-US" sz="1500" dirty="0"/>
          </a:p>
        </p:txBody>
      </p:sp>
      <p:sp>
        <p:nvSpPr>
          <p:cNvPr id="226" name="Text 37">
            <a:extLst>
              <a:ext uri="{FF2B5EF4-FFF2-40B4-BE49-F238E27FC236}">
                <a16:creationId xmlns:a16="http://schemas.microsoft.com/office/drawing/2014/main" id="{9DCF9840-09F7-D515-E6BC-E0C941FCF4B1}"/>
              </a:ext>
            </a:extLst>
          </p:cNvPr>
          <p:cNvSpPr txBox="1"/>
          <p:nvPr/>
        </p:nvSpPr>
        <p:spPr>
          <a:xfrm>
            <a:off x="8874252" y="2347265"/>
            <a:ext cx="213969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0A4A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Data Architecture</a:t>
            </a:r>
            <a:endParaRPr lang="en-US" sz="900" dirty="0"/>
          </a:p>
        </p:txBody>
      </p:sp>
      <p:pic>
        <p:nvPicPr>
          <p:cNvPr id="227" name="Image 16" descr="preencoded.png">
            <a:extLst>
              <a:ext uri="{FF2B5EF4-FFF2-40B4-BE49-F238E27FC236}">
                <a16:creationId xmlns:a16="http://schemas.microsoft.com/office/drawing/2014/main" id="{09CFABF2-C39F-DCB8-E18A-FA9DB2806275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l="-2571" r="-2571"/>
          <a:stretch/>
        </p:blipFill>
        <p:spPr>
          <a:xfrm>
            <a:off x="8264347" y="2709367"/>
            <a:ext cx="105156" cy="114300"/>
          </a:xfrm>
          <a:prstGeom prst="rect">
            <a:avLst/>
          </a:prstGeom>
        </p:spPr>
      </p:pic>
      <p:sp>
        <p:nvSpPr>
          <p:cNvPr id="228" name="Text 38">
            <a:extLst>
              <a:ext uri="{FF2B5EF4-FFF2-40B4-BE49-F238E27FC236}">
                <a16:creationId xmlns:a16="http://schemas.microsoft.com/office/drawing/2014/main" id="{02519813-9E95-7E44-5F1A-86AEC736B6E4}"/>
              </a:ext>
            </a:extLst>
          </p:cNvPr>
          <p:cNvSpPr txBox="1"/>
          <p:nvPr/>
        </p:nvSpPr>
        <p:spPr>
          <a:xfrm>
            <a:off x="8464601" y="2670962"/>
            <a:ext cx="2809951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E0E0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MariaDB, PostgreSQL 기반 대용량 트랜잭션 처리</a:t>
            </a:r>
            <a:endParaRPr lang="en-US" sz="1000" dirty="0"/>
          </a:p>
        </p:txBody>
      </p:sp>
      <p:pic>
        <p:nvPicPr>
          <p:cNvPr id="229" name="Image 17" descr="preencoded.png">
            <a:extLst>
              <a:ext uri="{FF2B5EF4-FFF2-40B4-BE49-F238E27FC236}">
                <a16:creationId xmlns:a16="http://schemas.microsoft.com/office/drawing/2014/main" id="{2CE2CD04-0CE4-E8E6-91FA-35C8E935163B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l="-2571" r="-2571"/>
          <a:stretch/>
        </p:blipFill>
        <p:spPr>
          <a:xfrm>
            <a:off x="8264347" y="2955965"/>
            <a:ext cx="105156" cy="114300"/>
          </a:xfrm>
          <a:prstGeom prst="rect">
            <a:avLst/>
          </a:prstGeom>
        </p:spPr>
      </p:pic>
      <p:sp>
        <p:nvSpPr>
          <p:cNvPr id="230" name="Text 39">
            <a:extLst>
              <a:ext uri="{FF2B5EF4-FFF2-40B4-BE49-F238E27FC236}">
                <a16:creationId xmlns:a16="http://schemas.microsoft.com/office/drawing/2014/main" id="{CDD6F6AF-1C7C-1D09-3DA2-2EB0413BC663}"/>
              </a:ext>
            </a:extLst>
          </p:cNvPr>
          <p:cNvSpPr txBox="1"/>
          <p:nvPr/>
        </p:nvSpPr>
        <p:spPr>
          <a:xfrm>
            <a:off x="8464601" y="2918474"/>
            <a:ext cx="310347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0E0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복잡한 쿼리 튜닝 및 데이터베이스 성능 최적화</a:t>
            </a:r>
            <a:endParaRPr lang="en-US" sz="1000" dirty="0"/>
          </a:p>
        </p:txBody>
      </p:sp>
      <p:pic>
        <p:nvPicPr>
          <p:cNvPr id="231" name="Image 18" descr="preencoded.png">
            <a:extLst>
              <a:ext uri="{FF2B5EF4-FFF2-40B4-BE49-F238E27FC236}">
                <a16:creationId xmlns:a16="http://schemas.microsoft.com/office/drawing/2014/main" id="{FB5E75C5-7B50-7830-5AFB-184BBAD3CD9F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l="-2571" r="-2571"/>
          <a:stretch/>
        </p:blipFill>
        <p:spPr>
          <a:xfrm>
            <a:off x="8264347" y="3251316"/>
            <a:ext cx="105156" cy="114300"/>
          </a:xfrm>
          <a:prstGeom prst="rect">
            <a:avLst/>
          </a:prstGeom>
        </p:spPr>
      </p:pic>
      <p:sp>
        <p:nvSpPr>
          <p:cNvPr id="232" name="Text 40">
            <a:extLst>
              <a:ext uri="{FF2B5EF4-FFF2-40B4-BE49-F238E27FC236}">
                <a16:creationId xmlns:a16="http://schemas.microsoft.com/office/drawing/2014/main" id="{A0D6B5AA-BB67-BC93-0587-EE0D2F34C3EA}"/>
              </a:ext>
            </a:extLst>
          </p:cNvPr>
          <p:cNvSpPr txBox="1"/>
          <p:nvPr/>
        </p:nvSpPr>
        <p:spPr>
          <a:xfrm>
            <a:off x="8464601" y="3198731"/>
            <a:ext cx="321960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0E0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벡터 DB(Vector DB) 활용 및 비정형 데이터 처리</a:t>
            </a:r>
            <a:endParaRPr lang="en-US" sz="1000" dirty="0"/>
          </a:p>
        </p:txBody>
      </p:sp>
      <p:sp>
        <p:nvSpPr>
          <p:cNvPr id="233" name="Shape 41">
            <a:extLst>
              <a:ext uri="{FF2B5EF4-FFF2-40B4-BE49-F238E27FC236}">
                <a16:creationId xmlns:a16="http://schemas.microsoft.com/office/drawing/2014/main" id="{FD9B145A-0D16-026D-594D-3322DB63B983}"/>
              </a:ext>
            </a:extLst>
          </p:cNvPr>
          <p:cNvSpPr/>
          <p:nvPr/>
        </p:nvSpPr>
        <p:spPr>
          <a:xfrm>
            <a:off x="8264347" y="3582687"/>
            <a:ext cx="580644" cy="237744"/>
          </a:xfrm>
          <a:prstGeom prst="roundRect">
            <a:avLst>
              <a:gd name="adj" fmla="val 123077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4" name="Text 42">
            <a:extLst>
              <a:ext uri="{FF2B5EF4-FFF2-40B4-BE49-F238E27FC236}">
                <a16:creationId xmlns:a16="http://schemas.microsoft.com/office/drawing/2014/main" id="{0800DD81-C066-8883-065B-D2B2E0EF4E31}"/>
              </a:ext>
            </a:extLst>
          </p:cNvPr>
          <p:cNvSpPr txBox="1"/>
          <p:nvPr/>
        </p:nvSpPr>
        <p:spPr>
          <a:xfrm>
            <a:off x="8264347" y="3582687"/>
            <a:ext cx="638251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B0BEC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MariaDB</a:t>
            </a:r>
            <a:endParaRPr lang="en-US" sz="800" dirty="0"/>
          </a:p>
        </p:txBody>
      </p:sp>
      <p:sp>
        <p:nvSpPr>
          <p:cNvPr id="235" name="Shape 43">
            <a:extLst>
              <a:ext uri="{FF2B5EF4-FFF2-40B4-BE49-F238E27FC236}">
                <a16:creationId xmlns:a16="http://schemas.microsoft.com/office/drawing/2014/main" id="{A26C4818-27F9-73C5-EE2B-D3FA0E427FD2}"/>
              </a:ext>
            </a:extLst>
          </p:cNvPr>
          <p:cNvSpPr/>
          <p:nvPr/>
        </p:nvSpPr>
        <p:spPr>
          <a:xfrm>
            <a:off x="8916314" y="3582687"/>
            <a:ext cx="733349" cy="237744"/>
          </a:xfrm>
          <a:prstGeom prst="roundRect">
            <a:avLst>
              <a:gd name="adj" fmla="val 123077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6" name="Text 44">
            <a:extLst>
              <a:ext uri="{FF2B5EF4-FFF2-40B4-BE49-F238E27FC236}">
                <a16:creationId xmlns:a16="http://schemas.microsoft.com/office/drawing/2014/main" id="{5CBFFB2F-9413-51CF-9CC2-D36F2B396B2A}"/>
              </a:ext>
            </a:extLst>
          </p:cNvPr>
          <p:cNvSpPr txBox="1"/>
          <p:nvPr/>
        </p:nvSpPr>
        <p:spPr>
          <a:xfrm>
            <a:off x="8916314" y="3582687"/>
            <a:ext cx="790956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B0BEC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PostgreSQL</a:t>
            </a:r>
            <a:endParaRPr lang="en-US" sz="800" dirty="0"/>
          </a:p>
        </p:txBody>
      </p:sp>
      <p:sp>
        <p:nvSpPr>
          <p:cNvPr id="237" name="Shape 45">
            <a:extLst>
              <a:ext uri="{FF2B5EF4-FFF2-40B4-BE49-F238E27FC236}">
                <a16:creationId xmlns:a16="http://schemas.microsoft.com/office/drawing/2014/main" id="{39E48BDC-F941-2901-6921-C29DC92C33FA}"/>
              </a:ext>
            </a:extLst>
          </p:cNvPr>
          <p:cNvSpPr/>
          <p:nvPr/>
        </p:nvSpPr>
        <p:spPr>
          <a:xfrm>
            <a:off x="9720986" y="3582687"/>
            <a:ext cx="733349" cy="237744"/>
          </a:xfrm>
          <a:prstGeom prst="roundRect">
            <a:avLst>
              <a:gd name="adj" fmla="val 123077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8" name="Text 46">
            <a:extLst>
              <a:ext uri="{FF2B5EF4-FFF2-40B4-BE49-F238E27FC236}">
                <a16:creationId xmlns:a16="http://schemas.microsoft.com/office/drawing/2014/main" id="{19305878-D7C8-A0BB-9C1F-7A2AF3AD7635}"/>
              </a:ext>
            </a:extLst>
          </p:cNvPr>
          <p:cNvSpPr txBox="1"/>
          <p:nvPr/>
        </p:nvSpPr>
        <p:spPr>
          <a:xfrm>
            <a:off x="9720986" y="3582687"/>
            <a:ext cx="790956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B0BEC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SQL Tuning</a:t>
            </a:r>
            <a:endParaRPr lang="en-US" sz="800" dirty="0"/>
          </a:p>
        </p:txBody>
      </p:sp>
      <p:sp>
        <p:nvSpPr>
          <p:cNvPr id="239" name="Shape 47">
            <a:extLst>
              <a:ext uri="{FF2B5EF4-FFF2-40B4-BE49-F238E27FC236}">
                <a16:creationId xmlns:a16="http://schemas.microsoft.com/office/drawing/2014/main" id="{1225988E-25C7-342C-EC28-9F78DF86952E}"/>
              </a:ext>
            </a:extLst>
          </p:cNvPr>
          <p:cNvSpPr/>
          <p:nvPr/>
        </p:nvSpPr>
        <p:spPr>
          <a:xfrm>
            <a:off x="10524744" y="3582687"/>
            <a:ext cx="647395" cy="237744"/>
          </a:xfrm>
          <a:prstGeom prst="roundRect">
            <a:avLst>
              <a:gd name="adj" fmla="val 123077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0" name="Text 48">
            <a:extLst>
              <a:ext uri="{FF2B5EF4-FFF2-40B4-BE49-F238E27FC236}">
                <a16:creationId xmlns:a16="http://schemas.microsoft.com/office/drawing/2014/main" id="{E0C1F740-354A-B2DA-3AFD-FAC1B3A5FBB5}"/>
              </a:ext>
            </a:extLst>
          </p:cNvPr>
          <p:cNvSpPr txBox="1"/>
          <p:nvPr/>
        </p:nvSpPr>
        <p:spPr>
          <a:xfrm>
            <a:off x="10524744" y="3582687"/>
            <a:ext cx="705002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B0BEC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Vector DB</a:t>
            </a:r>
            <a:endParaRPr lang="en-US" sz="800" dirty="0"/>
          </a:p>
        </p:txBody>
      </p:sp>
      <p:pic>
        <p:nvPicPr>
          <p:cNvPr id="241" name="Image 19" descr="preencoded.png">
            <a:extLst>
              <a:ext uri="{FF2B5EF4-FFF2-40B4-BE49-F238E27FC236}">
                <a16:creationId xmlns:a16="http://schemas.microsoft.com/office/drawing/2014/main" id="{D1A45D2E-C2E0-E8F8-436E-D73E199BFF5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4" b="-4"/>
          <a:stretch/>
        </p:blipFill>
        <p:spPr>
          <a:xfrm>
            <a:off x="761695" y="4134888"/>
            <a:ext cx="3403397" cy="2264328"/>
          </a:xfrm>
          <a:prstGeom prst="rect">
            <a:avLst/>
          </a:prstGeom>
        </p:spPr>
      </p:pic>
      <p:sp>
        <p:nvSpPr>
          <p:cNvPr id="242" name="Shape 49">
            <a:extLst>
              <a:ext uri="{FF2B5EF4-FFF2-40B4-BE49-F238E27FC236}">
                <a16:creationId xmlns:a16="http://schemas.microsoft.com/office/drawing/2014/main" id="{96192AE8-D468-4CFF-DB3E-66E23D87F65A}"/>
              </a:ext>
            </a:extLst>
          </p:cNvPr>
          <p:cNvSpPr/>
          <p:nvPr/>
        </p:nvSpPr>
        <p:spPr>
          <a:xfrm>
            <a:off x="761695" y="4134887"/>
            <a:ext cx="3384194" cy="38405"/>
          </a:xfrm>
          <a:prstGeom prst="rect">
            <a:avLst/>
          </a:prstGeom>
          <a:solidFill>
            <a:srgbClr val="FF572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3" name="Shape 50">
            <a:extLst>
              <a:ext uri="{FF2B5EF4-FFF2-40B4-BE49-F238E27FC236}">
                <a16:creationId xmlns:a16="http://schemas.microsoft.com/office/drawing/2014/main" id="{129E42B7-D682-2F2A-DDDC-46FEAEE60CF3}"/>
              </a:ext>
            </a:extLst>
          </p:cNvPr>
          <p:cNvSpPr/>
          <p:nvPr/>
        </p:nvSpPr>
        <p:spPr>
          <a:xfrm>
            <a:off x="1000354" y="4391833"/>
            <a:ext cx="457200" cy="457200"/>
          </a:xfrm>
          <a:prstGeom prst="roundRect">
            <a:avLst>
              <a:gd name="adj" fmla="val 66667"/>
            </a:avLst>
          </a:prstGeom>
          <a:solidFill>
            <a:srgbClr val="FF5722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44" name="Image 20" descr="preencoded.png">
            <a:extLst>
              <a:ext uri="{FF2B5EF4-FFF2-40B4-BE49-F238E27FC236}">
                <a16:creationId xmlns:a16="http://schemas.microsoft.com/office/drawing/2014/main" id="{3F8032E2-800E-BD6D-415F-144F72776874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1114654" y="4506133"/>
            <a:ext cx="228600" cy="228600"/>
          </a:xfrm>
          <a:prstGeom prst="rect">
            <a:avLst/>
          </a:prstGeom>
        </p:spPr>
      </p:pic>
      <p:sp>
        <p:nvSpPr>
          <p:cNvPr id="245" name="Text 51">
            <a:extLst>
              <a:ext uri="{FF2B5EF4-FFF2-40B4-BE49-F238E27FC236}">
                <a16:creationId xmlns:a16="http://schemas.microsoft.com/office/drawing/2014/main" id="{723FD2C4-4004-D65D-71A0-021BBE133CC5}"/>
              </a:ext>
            </a:extLst>
          </p:cNvPr>
          <p:cNvSpPr txBox="1"/>
          <p:nvPr/>
        </p:nvSpPr>
        <p:spPr>
          <a:xfrm>
            <a:off x="1609344" y="4372631"/>
            <a:ext cx="1564538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Infrastructure</a:t>
            </a:r>
            <a:endParaRPr lang="en-US" sz="1500" dirty="0"/>
          </a:p>
        </p:txBody>
      </p:sp>
      <p:sp>
        <p:nvSpPr>
          <p:cNvPr id="246" name="Text 52">
            <a:extLst>
              <a:ext uri="{FF2B5EF4-FFF2-40B4-BE49-F238E27FC236}">
                <a16:creationId xmlns:a16="http://schemas.microsoft.com/office/drawing/2014/main" id="{74F40715-BFFF-55CA-0C1A-73BA01ECF648}"/>
              </a:ext>
            </a:extLst>
          </p:cNvPr>
          <p:cNvSpPr txBox="1"/>
          <p:nvPr/>
        </p:nvSpPr>
        <p:spPr>
          <a:xfrm>
            <a:off x="1609344" y="4697243"/>
            <a:ext cx="13908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0A4A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System Operations</a:t>
            </a:r>
            <a:endParaRPr lang="en-US" sz="900" dirty="0"/>
          </a:p>
        </p:txBody>
      </p:sp>
      <p:pic>
        <p:nvPicPr>
          <p:cNvPr id="247" name="Image 21" descr="preencoded.png">
            <a:extLst>
              <a:ext uri="{FF2B5EF4-FFF2-40B4-BE49-F238E27FC236}">
                <a16:creationId xmlns:a16="http://schemas.microsoft.com/office/drawing/2014/main" id="{868F3555-9524-15B4-5B08-E5B840B80C5A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l="-2571" r="-2571"/>
          <a:stretch/>
        </p:blipFill>
        <p:spPr>
          <a:xfrm>
            <a:off x="1000354" y="5058431"/>
            <a:ext cx="105156" cy="114300"/>
          </a:xfrm>
          <a:prstGeom prst="rect">
            <a:avLst/>
          </a:prstGeom>
        </p:spPr>
      </p:pic>
      <p:sp>
        <p:nvSpPr>
          <p:cNvPr id="248" name="Text 53">
            <a:extLst>
              <a:ext uri="{FF2B5EF4-FFF2-40B4-BE49-F238E27FC236}">
                <a16:creationId xmlns:a16="http://schemas.microsoft.com/office/drawing/2014/main" id="{040AF2AD-E621-E1F7-324F-0B6F1C6A7D87}"/>
              </a:ext>
            </a:extLst>
          </p:cNvPr>
          <p:cNvSpPr txBox="1"/>
          <p:nvPr/>
        </p:nvSpPr>
        <p:spPr>
          <a:xfrm>
            <a:off x="1200607" y="5020940"/>
            <a:ext cx="335950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0E0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Linux 서버 구축 및 운영, 보안 설정 및 모니터링</a:t>
            </a:r>
            <a:endParaRPr lang="en-US" sz="1000" dirty="0"/>
          </a:p>
        </p:txBody>
      </p:sp>
      <p:pic>
        <p:nvPicPr>
          <p:cNvPr id="249" name="Image 22" descr="preencoded.png">
            <a:extLst>
              <a:ext uri="{FF2B5EF4-FFF2-40B4-BE49-F238E27FC236}">
                <a16:creationId xmlns:a16="http://schemas.microsoft.com/office/drawing/2014/main" id="{7B5B11DE-2CCD-F021-C284-BADADF9578DB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l="-2571" r="-2571"/>
          <a:stretch/>
        </p:blipFill>
        <p:spPr>
          <a:xfrm>
            <a:off x="1000354" y="5353782"/>
            <a:ext cx="105156" cy="114300"/>
          </a:xfrm>
          <a:prstGeom prst="rect">
            <a:avLst/>
          </a:prstGeom>
        </p:spPr>
      </p:pic>
      <p:sp>
        <p:nvSpPr>
          <p:cNvPr id="250" name="Text 54">
            <a:extLst>
              <a:ext uri="{FF2B5EF4-FFF2-40B4-BE49-F238E27FC236}">
                <a16:creationId xmlns:a16="http://schemas.microsoft.com/office/drawing/2014/main" id="{1AFA6672-6574-A9D6-5C1E-4835CD4DA205}"/>
              </a:ext>
            </a:extLst>
          </p:cNvPr>
          <p:cNvSpPr txBox="1"/>
          <p:nvPr/>
        </p:nvSpPr>
        <p:spPr>
          <a:xfrm>
            <a:off x="1200607" y="5316291"/>
            <a:ext cx="323149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0E0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SaaS 아키텍처 설계 및 고가용성(HA) 환경 구성</a:t>
            </a:r>
            <a:endParaRPr lang="en-US" sz="1000" dirty="0"/>
          </a:p>
        </p:txBody>
      </p:sp>
      <p:pic>
        <p:nvPicPr>
          <p:cNvPr id="251" name="Image 23" descr="preencoded.png">
            <a:extLst>
              <a:ext uri="{FF2B5EF4-FFF2-40B4-BE49-F238E27FC236}">
                <a16:creationId xmlns:a16="http://schemas.microsoft.com/office/drawing/2014/main" id="{2632CEA8-8124-A49F-1F50-0813088C70B7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l="-2571" r="-2571"/>
          <a:stretch/>
        </p:blipFill>
        <p:spPr>
          <a:xfrm>
            <a:off x="1000354" y="5649133"/>
            <a:ext cx="105156" cy="114300"/>
          </a:xfrm>
          <a:prstGeom prst="rect">
            <a:avLst/>
          </a:prstGeom>
        </p:spPr>
      </p:pic>
      <p:sp>
        <p:nvSpPr>
          <p:cNvPr id="252" name="Text 55">
            <a:extLst>
              <a:ext uri="{FF2B5EF4-FFF2-40B4-BE49-F238E27FC236}">
                <a16:creationId xmlns:a16="http://schemas.microsoft.com/office/drawing/2014/main" id="{1C39058E-19A8-AE8B-B4AA-13406D5520F1}"/>
              </a:ext>
            </a:extLst>
          </p:cNvPr>
          <p:cNvSpPr txBox="1"/>
          <p:nvPr/>
        </p:nvSpPr>
        <p:spPr>
          <a:xfrm>
            <a:off x="1200607" y="5611643"/>
            <a:ext cx="278892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0E0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시스템 자원 관리 및 성능 병목 분석/해결</a:t>
            </a:r>
            <a:endParaRPr lang="en-US" sz="1000" dirty="0"/>
          </a:p>
        </p:txBody>
      </p:sp>
      <p:sp>
        <p:nvSpPr>
          <p:cNvPr id="253" name="Shape 56">
            <a:extLst>
              <a:ext uri="{FF2B5EF4-FFF2-40B4-BE49-F238E27FC236}">
                <a16:creationId xmlns:a16="http://schemas.microsoft.com/office/drawing/2014/main" id="{BBF690BC-1AA1-7910-57F0-249DCA534049}"/>
              </a:ext>
            </a:extLst>
          </p:cNvPr>
          <p:cNvSpPr/>
          <p:nvPr/>
        </p:nvSpPr>
        <p:spPr>
          <a:xfrm>
            <a:off x="1000354" y="5975207"/>
            <a:ext cx="428854" cy="237744"/>
          </a:xfrm>
          <a:prstGeom prst="roundRect">
            <a:avLst>
              <a:gd name="adj" fmla="val 123077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4" name="Text 57">
            <a:extLst>
              <a:ext uri="{FF2B5EF4-FFF2-40B4-BE49-F238E27FC236}">
                <a16:creationId xmlns:a16="http://schemas.microsoft.com/office/drawing/2014/main" id="{40B7682D-8AA9-7A3F-8FD7-E527147ED3E5}"/>
              </a:ext>
            </a:extLst>
          </p:cNvPr>
          <p:cNvSpPr txBox="1"/>
          <p:nvPr/>
        </p:nvSpPr>
        <p:spPr>
          <a:xfrm>
            <a:off x="1000354" y="5975207"/>
            <a:ext cx="486461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B0BEC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Linux</a:t>
            </a:r>
            <a:endParaRPr lang="en-US" sz="800" dirty="0"/>
          </a:p>
        </p:txBody>
      </p:sp>
      <p:sp>
        <p:nvSpPr>
          <p:cNvPr id="255" name="Shape 58">
            <a:extLst>
              <a:ext uri="{FF2B5EF4-FFF2-40B4-BE49-F238E27FC236}">
                <a16:creationId xmlns:a16="http://schemas.microsoft.com/office/drawing/2014/main" id="{49B19092-B90C-A4C0-7B2C-AE41B5BE8FEF}"/>
              </a:ext>
            </a:extLst>
          </p:cNvPr>
          <p:cNvSpPr/>
          <p:nvPr/>
        </p:nvSpPr>
        <p:spPr>
          <a:xfrm>
            <a:off x="1503274" y="5975207"/>
            <a:ext cx="409651" cy="237744"/>
          </a:xfrm>
          <a:prstGeom prst="roundRect">
            <a:avLst>
              <a:gd name="adj" fmla="val 123077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6" name="Text 59">
            <a:extLst>
              <a:ext uri="{FF2B5EF4-FFF2-40B4-BE49-F238E27FC236}">
                <a16:creationId xmlns:a16="http://schemas.microsoft.com/office/drawing/2014/main" id="{E252C5F4-BD51-70E5-9A95-C48C96511045}"/>
              </a:ext>
            </a:extLst>
          </p:cNvPr>
          <p:cNvSpPr txBox="1"/>
          <p:nvPr/>
        </p:nvSpPr>
        <p:spPr>
          <a:xfrm>
            <a:off x="1503274" y="5975207"/>
            <a:ext cx="467258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B0BEC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SaaS</a:t>
            </a:r>
            <a:endParaRPr lang="en-US" sz="800" dirty="0"/>
          </a:p>
        </p:txBody>
      </p:sp>
      <p:sp>
        <p:nvSpPr>
          <p:cNvPr id="257" name="Shape 60">
            <a:extLst>
              <a:ext uri="{FF2B5EF4-FFF2-40B4-BE49-F238E27FC236}">
                <a16:creationId xmlns:a16="http://schemas.microsoft.com/office/drawing/2014/main" id="{F7961D14-80F0-BC84-5626-64EA3608C44A}"/>
              </a:ext>
            </a:extLst>
          </p:cNvPr>
          <p:cNvSpPr/>
          <p:nvPr/>
        </p:nvSpPr>
        <p:spPr>
          <a:xfrm>
            <a:off x="1979676" y="5975207"/>
            <a:ext cx="295351" cy="237744"/>
          </a:xfrm>
          <a:prstGeom prst="roundRect">
            <a:avLst>
              <a:gd name="adj" fmla="val 123077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8" name="Text 61">
            <a:extLst>
              <a:ext uri="{FF2B5EF4-FFF2-40B4-BE49-F238E27FC236}">
                <a16:creationId xmlns:a16="http://schemas.microsoft.com/office/drawing/2014/main" id="{93552C25-705C-4FCF-CD38-EA70C9FBCD8A}"/>
              </a:ext>
            </a:extLst>
          </p:cNvPr>
          <p:cNvSpPr txBox="1"/>
          <p:nvPr/>
        </p:nvSpPr>
        <p:spPr>
          <a:xfrm>
            <a:off x="1979676" y="5975207"/>
            <a:ext cx="352958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B0BEC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HA</a:t>
            </a:r>
            <a:endParaRPr lang="en-US" sz="800" dirty="0"/>
          </a:p>
        </p:txBody>
      </p:sp>
      <p:sp>
        <p:nvSpPr>
          <p:cNvPr id="259" name="Shape 62">
            <a:extLst>
              <a:ext uri="{FF2B5EF4-FFF2-40B4-BE49-F238E27FC236}">
                <a16:creationId xmlns:a16="http://schemas.microsoft.com/office/drawing/2014/main" id="{E57BC80E-A4A3-4009-24E3-89AAC82CBF1F}"/>
              </a:ext>
            </a:extLst>
          </p:cNvPr>
          <p:cNvSpPr/>
          <p:nvPr/>
        </p:nvSpPr>
        <p:spPr>
          <a:xfrm>
            <a:off x="2350922" y="5975207"/>
            <a:ext cx="571500" cy="237744"/>
          </a:xfrm>
          <a:prstGeom prst="roundRect">
            <a:avLst>
              <a:gd name="adj" fmla="val 123077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0" name="Text 63">
            <a:extLst>
              <a:ext uri="{FF2B5EF4-FFF2-40B4-BE49-F238E27FC236}">
                <a16:creationId xmlns:a16="http://schemas.microsoft.com/office/drawing/2014/main" id="{E2247F6E-891F-3A71-A279-8D26AE287A2C}"/>
              </a:ext>
            </a:extLst>
          </p:cNvPr>
          <p:cNvSpPr txBox="1"/>
          <p:nvPr/>
        </p:nvSpPr>
        <p:spPr>
          <a:xfrm>
            <a:off x="2350922" y="5975207"/>
            <a:ext cx="629107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B0BEC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Security</a:t>
            </a:r>
            <a:endParaRPr lang="en-US" sz="800" dirty="0"/>
          </a:p>
        </p:txBody>
      </p:sp>
      <p:pic>
        <p:nvPicPr>
          <p:cNvPr id="261" name="Image 24" descr="preencoded.png">
            <a:extLst>
              <a:ext uri="{FF2B5EF4-FFF2-40B4-BE49-F238E27FC236}">
                <a16:creationId xmlns:a16="http://schemas.microsoft.com/office/drawing/2014/main" id="{1CDAA780-A53F-10EA-57F3-B07182C1791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4" b="-4"/>
          <a:stretch/>
        </p:blipFill>
        <p:spPr>
          <a:xfrm>
            <a:off x="4394606" y="4134888"/>
            <a:ext cx="3403397" cy="2264328"/>
          </a:xfrm>
          <a:prstGeom prst="rect">
            <a:avLst/>
          </a:prstGeom>
        </p:spPr>
      </p:pic>
      <p:sp>
        <p:nvSpPr>
          <p:cNvPr id="262" name="Shape 64">
            <a:extLst>
              <a:ext uri="{FF2B5EF4-FFF2-40B4-BE49-F238E27FC236}">
                <a16:creationId xmlns:a16="http://schemas.microsoft.com/office/drawing/2014/main" id="{477ED5C7-3767-20A8-BDFA-F2DDD8042602}"/>
              </a:ext>
            </a:extLst>
          </p:cNvPr>
          <p:cNvSpPr/>
          <p:nvPr/>
        </p:nvSpPr>
        <p:spPr>
          <a:xfrm>
            <a:off x="4394606" y="4134887"/>
            <a:ext cx="3384194" cy="38405"/>
          </a:xfrm>
          <a:prstGeom prst="rect">
            <a:avLst/>
          </a:prstGeom>
          <a:solidFill>
            <a:srgbClr val="9C27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3" name="Shape 65">
            <a:extLst>
              <a:ext uri="{FF2B5EF4-FFF2-40B4-BE49-F238E27FC236}">
                <a16:creationId xmlns:a16="http://schemas.microsoft.com/office/drawing/2014/main" id="{5575A601-630F-B0D9-B955-AD27EA9C596A}"/>
              </a:ext>
            </a:extLst>
          </p:cNvPr>
          <p:cNvSpPr/>
          <p:nvPr/>
        </p:nvSpPr>
        <p:spPr>
          <a:xfrm>
            <a:off x="4632350" y="4391833"/>
            <a:ext cx="457200" cy="457200"/>
          </a:xfrm>
          <a:prstGeom prst="roundRect">
            <a:avLst>
              <a:gd name="adj" fmla="val 66667"/>
            </a:avLst>
          </a:prstGeom>
          <a:solidFill>
            <a:srgbClr val="9C27B0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64" name="Image 25" descr="preencoded.png">
            <a:extLst>
              <a:ext uri="{FF2B5EF4-FFF2-40B4-BE49-F238E27FC236}">
                <a16:creationId xmlns:a16="http://schemas.microsoft.com/office/drawing/2014/main" id="{2AE35C73-1173-8A84-DEFE-EC2928C499CB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4746650" y="4506133"/>
            <a:ext cx="228600" cy="228600"/>
          </a:xfrm>
          <a:prstGeom prst="rect">
            <a:avLst/>
          </a:prstGeom>
        </p:spPr>
      </p:pic>
      <p:sp>
        <p:nvSpPr>
          <p:cNvPr id="265" name="Text 66">
            <a:extLst>
              <a:ext uri="{FF2B5EF4-FFF2-40B4-BE49-F238E27FC236}">
                <a16:creationId xmlns:a16="http://schemas.microsoft.com/office/drawing/2014/main" id="{36F6E5C0-36DA-0349-E0A1-DA7C34CAF223}"/>
              </a:ext>
            </a:extLst>
          </p:cNvPr>
          <p:cNvSpPr txBox="1"/>
          <p:nvPr/>
        </p:nvSpPr>
        <p:spPr>
          <a:xfrm>
            <a:off x="5242255" y="4372631"/>
            <a:ext cx="1496873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IT Consulting</a:t>
            </a:r>
            <a:endParaRPr lang="en-US" sz="1500" dirty="0"/>
          </a:p>
        </p:txBody>
      </p:sp>
      <p:sp>
        <p:nvSpPr>
          <p:cNvPr id="266" name="Text 67">
            <a:extLst>
              <a:ext uri="{FF2B5EF4-FFF2-40B4-BE49-F238E27FC236}">
                <a16:creationId xmlns:a16="http://schemas.microsoft.com/office/drawing/2014/main" id="{23395135-0055-AC5E-379F-F611D816ACC1}"/>
              </a:ext>
            </a:extLst>
          </p:cNvPr>
          <p:cNvSpPr txBox="1"/>
          <p:nvPr/>
        </p:nvSpPr>
        <p:spPr>
          <a:xfrm>
            <a:off x="5242255" y="4697243"/>
            <a:ext cx="13341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0A4A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Strategy &amp; Process</a:t>
            </a:r>
            <a:endParaRPr lang="en-US" sz="900" dirty="0"/>
          </a:p>
        </p:txBody>
      </p:sp>
      <p:pic>
        <p:nvPicPr>
          <p:cNvPr id="267" name="Image 26" descr="preencoded.png">
            <a:extLst>
              <a:ext uri="{FF2B5EF4-FFF2-40B4-BE49-F238E27FC236}">
                <a16:creationId xmlns:a16="http://schemas.microsoft.com/office/drawing/2014/main" id="{AABBCCAF-59DD-1171-9E30-58DE94B460CC}"/>
              </a:ext>
            </a:extLst>
          </p:cNvPr>
          <p:cNvPicPr>
            <a:picLocks noChangeAspect="1"/>
          </p:cNvPicPr>
          <p:nvPr/>
        </p:nvPicPr>
        <p:blipFill>
          <a:blip r:embed="rId15"/>
          <a:srcRect l="-2571" r="-2571"/>
          <a:stretch/>
        </p:blipFill>
        <p:spPr>
          <a:xfrm>
            <a:off x="4632350" y="5058431"/>
            <a:ext cx="105156" cy="114300"/>
          </a:xfrm>
          <a:prstGeom prst="rect">
            <a:avLst/>
          </a:prstGeom>
        </p:spPr>
      </p:pic>
      <p:sp>
        <p:nvSpPr>
          <p:cNvPr id="268" name="Text 68">
            <a:extLst>
              <a:ext uri="{FF2B5EF4-FFF2-40B4-BE49-F238E27FC236}">
                <a16:creationId xmlns:a16="http://schemas.microsoft.com/office/drawing/2014/main" id="{60F9B8AC-7FC0-927B-B526-A4B5484BFBEF}"/>
              </a:ext>
            </a:extLst>
          </p:cNvPr>
          <p:cNvSpPr txBox="1"/>
          <p:nvPr/>
        </p:nvSpPr>
        <p:spPr>
          <a:xfrm>
            <a:off x="4832604" y="5020940"/>
            <a:ext cx="2809951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E0E0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ISP(정보전략계획), ISMP(정보시스템 마스터플랜) 수립</a:t>
            </a:r>
            <a:endParaRPr lang="en-US" sz="1000" dirty="0"/>
          </a:p>
        </p:txBody>
      </p:sp>
      <p:pic>
        <p:nvPicPr>
          <p:cNvPr id="269" name="Image 27" descr="preencoded.png">
            <a:extLst>
              <a:ext uri="{FF2B5EF4-FFF2-40B4-BE49-F238E27FC236}">
                <a16:creationId xmlns:a16="http://schemas.microsoft.com/office/drawing/2014/main" id="{BE394988-5879-502B-9473-6BEADAF66247}"/>
              </a:ext>
            </a:extLst>
          </p:cNvPr>
          <p:cNvPicPr>
            <a:picLocks noChangeAspect="1"/>
          </p:cNvPicPr>
          <p:nvPr/>
        </p:nvPicPr>
        <p:blipFill>
          <a:blip r:embed="rId15"/>
          <a:srcRect l="-2571" r="-2571"/>
          <a:stretch/>
        </p:blipFill>
        <p:spPr>
          <a:xfrm>
            <a:off x="4632350" y="5383916"/>
            <a:ext cx="105156" cy="114300"/>
          </a:xfrm>
          <a:prstGeom prst="rect">
            <a:avLst/>
          </a:prstGeom>
        </p:spPr>
      </p:pic>
      <p:sp>
        <p:nvSpPr>
          <p:cNvPr id="270" name="Text 69">
            <a:extLst>
              <a:ext uri="{FF2B5EF4-FFF2-40B4-BE49-F238E27FC236}">
                <a16:creationId xmlns:a16="http://schemas.microsoft.com/office/drawing/2014/main" id="{6CD940C5-37AF-EB79-D8B8-9D75191712F6}"/>
              </a:ext>
            </a:extLst>
          </p:cNvPr>
          <p:cNvSpPr txBox="1"/>
          <p:nvPr/>
        </p:nvSpPr>
        <p:spPr>
          <a:xfrm>
            <a:off x="4832604" y="5345512"/>
            <a:ext cx="323149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0E0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BPR/PI (업무 프로세스 재설계 및 혁신) 컨설팅</a:t>
            </a:r>
            <a:endParaRPr lang="en-US" sz="1000" dirty="0"/>
          </a:p>
        </p:txBody>
      </p:sp>
      <p:pic>
        <p:nvPicPr>
          <p:cNvPr id="271" name="Image 28" descr="preencoded.png">
            <a:extLst>
              <a:ext uri="{FF2B5EF4-FFF2-40B4-BE49-F238E27FC236}">
                <a16:creationId xmlns:a16="http://schemas.microsoft.com/office/drawing/2014/main" id="{406D9765-2489-2AF1-7EC4-BCF3F63ED277}"/>
              </a:ext>
            </a:extLst>
          </p:cNvPr>
          <p:cNvPicPr>
            <a:picLocks noChangeAspect="1"/>
          </p:cNvPicPr>
          <p:nvPr/>
        </p:nvPicPr>
        <p:blipFill>
          <a:blip r:embed="rId15"/>
          <a:srcRect l="-2571" r="-2571"/>
          <a:stretch/>
        </p:blipFill>
        <p:spPr>
          <a:xfrm>
            <a:off x="4632350" y="5679268"/>
            <a:ext cx="105156" cy="114300"/>
          </a:xfrm>
          <a:prstGeom prst="rect">
            <a:avLst/>
          </a:prstGeom>
        </p:spPr>
      </p:pic>
      <p:sp>
        <p:nvSpPr>
          <p:cNvPr id="272" name="Text 70">
            <a:extLst>
              <a:ext uri="{FF2B5EF4-FFF2-40B4-BE49-F238E27FC236}">
                <a16:creationId xmlns:a16="http://schemas.microsoft.com/office/drawing/2014/main" id="{5157F0EC-093C-4495-CC6E-45F6F57CD031}"/>
              </a:ext>
            </a:extLst>
          </p:cNvPr>
          <p:cNvSpPr txBox="1"/>
          <p:nvPr/>
        </p:nvSpPr>
        <p:spPr>
          <a:xfrm>
            <a:off x="4832604" y="5640863"/>
            <a:ext cx="2809951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E0E0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PMO(프로젝트 관리 조직) 역할 수행 및 품질 관리</a:t>
            </a:r>
            <a:endParaRPr lang="en-US" sz="1000" dirty="0"/>
          </a:p>
        </p:txBody>
      </p:sp>
      <p:sp>
        <p:nvSpPr>
          <p:cNvPr id="273" name="Shape 71">
            <a:extLst>
              <a:ext uri="{FF2B5EF4-FFF2-40B4-BE49-F238E27FC236}">
                <a16:creationId xmlns:a16="http://schemas.microsoft.com/office/drawing/2014/main" id="{0E4CBB4D-0433-FBD3-A21E-1AE608D67B98}"/>
              </a:ext>
            </a:extLst>
          </p:cNvPr>
          <p:cNvSpPr/>
          <p:nvPr/>
        </p:nvSpPr>
        <p:spPr>
          <a:xfrm>
            <a:off x="4632350" y="5975207"/>
            <a:ext cx="609905" cy="237744"/>
          </a:xfrm>
          <a:prstGeom prst="roundRect">
            <a:avLst>
              <a:gd name="adj" fmla="val 123077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4" name="Text 72">
            <a:extLst>
              <a:ext uri="{FF2B5EF4-FFF2-40B4-BE49-F238E27FC236}">
                <a16:creationId xmlns:a16="http://schemas.microsoft.com/office/drawing/2014/main" id="{AEBC5BCE-E85B-AF3D-CE2D-71EF80E24B30}"/>
              </a:ext>
            </a:extLst>
          </p:cNvPr>
          <p:cNvSpPr txBox="1"/>
          <p:nvPr/>
        </p:nvSpPr>
        <p:spPr>
          <a:xfrm>
            <a:off x="4632350" y="5975207"/>
            <a:ext cx="667512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B0BEC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ISP/ISMP</a:t>
            </a:r>
            <a:endParaRPr lang="en-US" sz="800" dirty="0"/>
          </a:p>
        </p:txBody>
      </p:sp>
      <p:sp>
        <p:nvSpPr>
          <p:cNvPr id="275" name="Shape 73">
            <a:extLst>
              <a:ext uri="{FF2B5EF4-FFF2-40B4-BE49-F238E27FC236}">
                <a16:creationId xmlns:a16="http://schemas.microsoft.com/office/drawing/2014/main" id="{11B8DE2D-7A6B-56B3-F0A8-84A7062C8BBA}"/>
              </a:ext>
            </a:extLst>
          </p:cNvPr>
          <p:cNvSpPr/>
          <p:nvPr/>
        </p:nvSpPr>
        <p:spPr>
          <a:xfrm>
            <a:off x="5317236" y="5975207"/>
            <a:ext cx="504749" cy="237744"/>
          </a:xfrm>
          <a:prstGeom prst="roundRect">
            <a:avLst>
              <a:gd name="adj" fmla="val 123077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6" name="Text 74">
            <a:extLst>
              <a:ext uri="{FF2B5EF4-FFF2-40B4-BE49-F238E27FC236}">
                <a16:creationId xmlns:a16="http://schemas.microsoft.com/office/drawing/2014/main" id="{4F6284AC-2131-EFE1-25D2-BAA34B7E7A31}"/>
              </a:ext>
            </a:extLst>
          </p:cNvPr>
          <p:cNvSpPr txBox="1"/>
          <p:nvPr/>
        </p:nvSpPr>
        <p:spPr>
          <a:xfrm>
            <a:off x="5317236" y="5975207"/>
            <a:ext cx="562356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B0BEC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BPR/PI</a:t>
            </a:r>
            <a:endParaRPr lang="en-US" sz="800" dirty="0"/>
          </a:p>
        </p:txBody>
      </p:sp>
      <p:sp>
        <p:nvSpPr>
          <p:cNvPr id="277" name="Shape 75">
            <a:extLst>
              <a:ext uri="{FF2B5EF4-FFF2-40B4-BE49-F238E27FC236}">
                <a16:creationId xmlns:a16="http://schemas.microsoft.com/office/drawing/2014/main" id="{166D9FAA-F260-ECAC-D673-51A6E00045D2}"/>
              </a:ext>
            </a:extLst>
          </p:cNvPr>
          <p:cNvSpPr/>
          <p:nvPr/>
        </p:nvSpPr>
        <p:spPr>
          <a:xfrm>
            <a:off x="5893308" y="5975207"/>
            <a:ext cx="390449" cy="237744"/>
          </a:xfrm>
          <a:prstGeom prst="roundRect">
            <a:avLst>
              <a:gd name="adj" fmla="val 123077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8" name="Text 76">
            <a:extLst>
              <a:ext uri="{FF2B5EF4-FFF2-40B4-BE49-F238E27FC236}">
                <a16:creationId xmlns:a16="http://schemas.microsoft.com/office/drawing/2014/main" id="{5EA5E6C9-120C-82FE-E4B5-73A555F6CAE3}"/>
              </a:ext>
            </a:extLst>
          </p:cNvPr>
          <p:cNvSpPr txBox="1"/>
          <p:nvPr/>
        </p:nvSpPr>
        <p:spPr>
          <a:xfrm>
            <a:off x="5893308" y="5975207"/>
            <a:ext cx="448056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B0BEC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PMO</a:t>
            </a:r>
            <a:endParaRPr lang="en-US" sz="800" dirty="0"/>
          </a:p>
        </p:txBody>
      </p:sp>
      <p:sp>
        <p:nvSpPr>
          <p:cNvPr id="279" name="Shape 77">
            <a:extLst>
              <a:ext uri="{FF2B5EF4-FFF2-40B4-BE49-F238E27FC236}">
                <a16:creationId xmlns:a16="http://schemas.microsoft.com/office/drawing/2014/main" id="{1C117DF7-E329-3EB5-70AB-3D07056D5E00}"/>
              </a:ext>
            </a:extLst>
          </p:cNvPr>
          <p:cNvSpPr/>
          <p:nvPr/>
        </p:nvSpPr>
        <p:spPr>
          <a:xfrm>
            <a:off x="6355994" y="5975207"/>
            <a:ext cx="295351" cy="237744"/>
          </a:xfrm>
          <a:prstGeom prst="roundRect">
            <a:avLst>
              <a:gd name="adj" fmla="val 123077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0" name="Text 78">
            <a:extLst>
              <a:ext uri="{FF2B5EF4-FFF2-40B4-BE49-F238E27FC236}">
                <a16:creationId xmlns:a16="http://schemas.microsoft.com/office/drawing/2014/main" id="{F53633AE-250A-5874-5240-FD1B0DBE1A7D}"/>
              </a:ext>
            </a:extLst>
          </p:cNvPr>
          <p:cNvSpPr txBox="1"/>
          <p:nvPr/>
        </p:nvSpPr>
        <p:spPr>
          <a:xfrm>
            <a:off x="6355994" y="5975207"/>
            <a:ext cx="352958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B0BEC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QA</a:t>
            </a:r>
            <a:endParaRPr lang="en-US" sz="800" dirty="0"/>
          </a:p>
        </p:txBody>
      </p:sp>
      <p:pic>
        <p:nvPicPr>
          <p:cNvPr id="281" name="Image 29" descr="preencoded.png">
            <a:extLst>
              <a:ext uri="{FF2B5EF4-FFF2-40B4-BE49-F238E27FC236}">
                <a16:creationId xmlns:a16="http://schemas.microsoft.com/office/drawing/2014/main" id="{3E546673-081D-C7CB-00D3-B466548D333E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t="-6" b="-6"/>
          <a:stretch/>
        </p:blipFill>
        <p:spPr>
          <a:xfrm>
            <a:off x="8026603" y="4134888"/>
            <a:ext cx="3403397" cy="2264328"/>
          </a:xfrm>
          <a:prstGeom prst="rect">
            <a:avLst/>
          </a:prstGeom>
        </p:spPr>
      </p:pic>
      <p:sp>
        <p:nvSpPr>
          <p:cNvPr id="282" name="Shape 79">
            <a:extLst>
              <a:ext uri="{FF2B5EF4-FFF2-40B4-BE49-F238E27FC236}">
                <a16:creationId xmlns:a16="http://schemas.microsoft.com/office/drawing/2014/main" id="{EF6E5A1A-C302-088E-D3ED-122123ACA0D9}"/>
              </a:ext>
            </a:extLst>
          </p:cNvPr>
          <p:cNvSpPr/>
          <p:nvPr/>
        </p:nvSpPr>
        <p:spPr>
          <a:xfrm>
            <a:off x="8026603" y="4134887"/>
            <a:ext cx="3384194" cy="38405"/>
          </a:xfrm>
          <a:prstGeom prst="rect">
            <a:avLst/>
          </a:prstGeom>
          <a:solidFill>
            <a:srgbClr val="2196F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3" name="Shape 80">
            <a:extLst>
              <a:ext uri="{FF2B5EF4-FFF2-40B4-BE49-F238E27FC236}">
                <a16:creationId xmlns:a16="http://schemas.microsoft.com/office/drawing/2014/main" id="{91DF3E4A-C275-9F56-5A17-28B0737F14A0}"/>
              </a:ext>
            </a:extLst>
          </p:cNvPr>
          <p:cNvSpPr/>
          <p:nvPr/>
        </p:nvSpPr>
        <p:spPr>
          <a:xfrm>
            <a:off x="8264347" y="4391833"/>
            <a:ext cx="457200" cy="457200"/>
          </a:xfrm>
          <a:prstGeom prst="roundRect">
            <a:avLst>
              <a:gd name="adj" fmla="val 66667"/>
            </a:avLst>
          </a:prstGeom>
          <a:solidFill>
            <a:srgbClr val="2196F3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84" name="Image 30" descr="preencoded.png">
            <a:extLst>
              <a:ext uri="{FF2B5EF4-FFF2-40B4-BE49-F238E27FC236}">
                <a16:creationId xmlns:a16="http://schemas.microsoft.com/office/drawing/2014/main" id="{3D2AC173-37D0-1E91-0BD6-025769818B13}"/>
              </a:ext>
            </a:extLst>
          </p:cNvPr>
          <p:cNvPicPr>
            <a:picLocks noChangeAspect="1"/>
          </p:cNvPicPr>
          <p:nvPr/>
        </p:nvPicPr>
        <p:blipFill>
          <a:blip r:embed="rId16"/>
          <a:srcRect l="-80" r="-80"/>
          <a:stretch/>
        </p:blipFill>
        <p:spPr>
          <a:xfrm>
            <a:off x="8350301" y="4506133"/>
            <a:ext cx="286207" cy="228600"/>
          </a:xfrm>
          <a:prstGeom prst="rect">
            <a:avLst/>
          </a:prstGeom>
        </p:spPr>
      </p:pic>
      <p:sp>
        <p:nvSpPr>
          <p:cNvPr id="285" name="Text 81">
            <a:extLst>
              <a:ext uri="{FF2B5EF4-FFF2-40B4-BE49-F238E27FC236}">
                <a16:creationId xmlns:a16="http://schemas.microsoft.com/office/drawing/2014/main" id="{97F35B78-37A0-7E91-F49B-5158BE2F5821}"/>
              </a:ext>
            </a:extLst>
          </p:cNvPr>
          <p:cNvSpPr txBox="1"/>
          <p:nvPr/>
        </p:nvSpPr>
        <p:spPr>
          <a:xfrm>
            <a:off x="8874252" y="4372631"/>
            <a:ext cx="171175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Cloud Platform</a:t>
            </a:r>
            <a:endParaRPr lang="en-US" sz="1500" dirty="0"/>
          </a:p>
        </p:txBody>
      </p:sp>
      <p:sp>
        <p:nvSpPr>
          <p:cNvPr id="286" name="Text 82">
            <a:extLst>
              <a:ext uri="{FF2B5EF4-FFF2-40B4-BE49-F238E27FC236}">
                <a16:creationId xmlns:a16="http://schemas.microsoft.com/office/drawing/2014/main" id="{5F593E81-E6AE-4DFD-75C9-F2073BE3B952}"/>
              </a:ext>
            </a:extLst>
          </p:cNvPr>
          <p:cNvSpPr txBox="1"/>
          <p:nvPr/>
        </p:nvSpPr>
        <p:spPr>
          <a:xfrm>
            <a:off x="8874252" y="4697243"/>
            <a:ext cx="156636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0A4A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IaaS &amp; API Integration</a:t>
            </a:r>
            <a:endParaRPr lang="en-US" sz="900" dirty="0"/>
          </a:p>
        </p:txBody>
      </p:sp>
      <p:pic>
        <p:nvPicPr>
          <p:cNvPr id="287" name="Image 31" descr="preencoded.png">
            <a:extLst>
              <a:ext uri="{FF2B5EF4-FFF2-40B4-BE49-F238E27FC236}">
                <a16:creationId xmlns:a16="http://schemas.microsoft.com/office/drawing/2014/main" id="{238C8DF7-49DD-D641-7F72-D6B8FFDBD43F}"/>
              </a:ext>
            </a:extLst>
          </p:cNvPr>
          <p:cNvPicPr>
            <a:picLocks noChangeAspect="1"/>
          </p:cNvPicPr>
          <p:nvPr/>
        </p:nvPicPr>
        <p:blipFill>
          <a:blip r:embed="rId17"/>
          <a:srcRect l="-2571" r="-2571"/>
          <a:stretch/>
        </p:blipFill>
        <p:spPr>
          <a:xfrm>
            <a:off x="8264347" y="5058431"/>
            <a:ext cx="105156" cy="114300"/>
          </a:xfrm>
          <a:prstGeom prst="rect">
            <a:avLst/>
          </a:prstGeom>
        </p:spPr>
      </p:pic>
      <p:sp>
        <p:nvSpPr>
          <p:cNvPr id="288" name="Text 83">
            <a:extLst>
              <a:ext uri="{FF2B5EF4-FFF2-40B4-BE49-F238E27FC236}">
                <a16:creationId xmlns:a16="http://schemas.microsoft.com/office/drawing/2014/main" id="{86E9CCE9-5F8B-40AC-BAE4-DF8480CAC923}"/>
              </a:ext>
            </a:extLst>
          </p:cNvPr>
          <p:cNvSpPr txBox="1"/>
          <p:nvPr/>
        </p:nvSpPr>
        <p:spPr>
          <a:xfrm>
            <a:off x="8464601" y="5020940"/>
            <a:ext cx="2809951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E0E0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OpenStack 기반 클라우드 아키텍처 이해 및 활용</a:t>
            </a:r>
            <a:endParaRPr lang="en-US" sz="1000" dirty="0"/>
          </a:p>
        </p:txBody>
      </p:sp>
      <p:pic>
        <p:nvPicPr>
          <p:cNvPr id="289" name="Image 32" descr="preencoded.png">
            <a:extLst>
              <a:ext uri="{FF2B5EF4-FFF2-40B4-BE49-F238E27FC236}">
                <a16:creationId xmlns:a16="http://schemas.microsoft.com/office/drawing/2014/main" id="{8B8E1173-1A8A-0448-3141-A24325238663}"/>
              </a:ext>
            </a:extLst>
          </p:cNvPr>
          <p:cNvPicPr>
            <a:picLocks noChangeAspect="1"/>
          </p:cNvPicPr>
          <p:nvPr/>
        </p:nvPicPr>
        <p:blipFill>
          <a:blip r:embed="rId17"/>
          <a:srcRect l="-2571" r="-2571"/>
          <a:stretch/>
        </p:blipFill>
        <p:spPr>
          <a:xfrm>
            <a:off x="8264347" y="5383916"/>
            <a:ext cx="105156" cy="114300"/>
          </a:xfrm>
          <a:prstGeom prst="rect">
            <a:avLst/>
          </a:prstGeom>
        </p:spPr>
      </p:pic>
      <p:sp>
        <p:nvSpPr>
          <p:cNvPr id="290" name="Text 84">
            <a:extLst>
              <a:ext uri="{FF2B5EF4-FFF2-40B4-BE49-F238E27FC236}">
                <a16:creationId xmlns:a16="http://schemas.microsoft.com/office/drawing/2014/main" id="{2B27E223-1E7A-7373-EC8A-877192C77F91}"/>
              </a:ext>
            </a:extLst>
          </p:cNvPr>
          <p:cNvSpPr txBox="1"/>
          <p:nvPr/>
        </p:nvSpPr>
        <p:spPr>
          <a:xfrm>
            <a:off x="8464601" y="5345512"/>
            <a:ext cx="2809951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E0E0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클라우드 관리 포털(Web Portal) 분석 및 API 연동</a:t>
            </a:r>
            <a:endParaRPr lang="en-US" sz="1000" dirty="0"/>
          </a:p>
        </p:txBody>
      </p:sp>
      <p:pic>
        <p:nvPicPr>
          <p:cNvPr id="291" name="Image 33" descr="preencoded.png">
            <a:extLst>
              <a:ext uri="{FF2B5EF4-FFF2-40B4-BE49-F238E27FC236}">
                <a16:creationId xmlns:a16="http://schemas.microsoft.com/office/drawing/2014/main" id="{6815BE01-8173-1610-C4A7-EF243B465435}"/>
              </a:ext>
            </a:extLst>
          </p:cNvPr>
          <p:cNvPicPr>
            <a:picLocks noChangeAspect="1"/>
          </p:cNvPicPr>
          <p:nvPr/>
        </p:nvPicPr>
        <p:blipFill>
          <a:blip r:embed="rId17"/>
          <a:srcRect l="-2571" r="-2571"/>
          <a:stretch/>
        </p:blipFill>
        <p:spPr>
          <a:xfrm>
            <a:off x="8264347" y="5666873"/>
            <a:ext cx="105156" cy="114300"/>
          </a:xfrm>
          <a:prstGeom prst="rect">
            <a:avLst/>
          </a:prstGeom>
        </p:spPr>
      </p:pic>
      <p:sp>
        <p:nvSpPr>
          <p:cNvPr id="292" name="Text 85">
            <a:extLst>
              <a:ext uri="{FF2B5EF4-FFF2-40B4-BE49-F238E27FC236}">
                <a16:creationId xmlns:a16="http://schemas.microsoft.com/office/drawing/2014/main" id="{EB6919A8-900C-7F15-6B92-877D04FA262E}"/>
              </a:ext>
            </a:extLst>
          </p:cNvPr>
          <p:cNvSpPr txBox="1"/>
          <p:nvPr/>
        </p:nvSpPr>
        <p:spPr>
          <a:xfrm>
            <a:off x="8464601" y="5628468"/>
            <a:ext cx="2809951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E0E0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멀티 테넌시(Multi-tenancy) 환경 데이터 구조 설계</a:t>
            </a:r>
            <a:endParaRPr lang="en-US" sz="1000" dirty="0"/>
          </a:p>
        </p:txBody>
      </p:sp>
      <p:sp>
        <p:nvSpPr>
          <p:cNvPr id="293" name="Shape 86">
            <a:extLst>
              <a:ext uri="{FF2B5EF4-FFF2-40B4-BE49-F238E27FC236}">
                <a16:creationId xmlns:a16="http://schemas.microsoft.com/office/drawing/2014/main" id="{D9018913-CC5B-F517-B7BD-B24651B71748}"/>
              </a:ext>
            </a:extLst>
          </p:cNvPr>
          <p:cNvSpPr/>
          <p:nvPr/>
        </p:nvSpPr>
        <p:spPr>
          <a:xfrm>
            <a:off x="8264347" y="5975207"/>
            <a:ext cx="705002" cy="237744"/>
          </a:xfrm>
          <a:prstGeom prst="roundRect">
            <a:avLst>
              <a:gd name="adj" fmla="val 123077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4" name="Text 87">
            <a:extLst>
              <a:ext uri="{FF2B5EF4-FFF2-40B4-BE49-F238E27FC236}">
                <a16:creationId xmlns:a16="http://schemas.microsoft.com/office/drawing/2014/main" id="{CC75C04E-CF12-1196-2937-549B25F5A00E}"/>
              </a:ext>
            </a:extLst>
          </p:cNvPr>
          <p:cNvSpPr txBox="1"/>
          <p:nvPr/>
        </p:nvSpPr>
        <p:spPr>
          <a:xfrm>
            <a:off x="8264347" y="5975207"/>
            <a:ext cx="762610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B0BEC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OpenStack</a:t>
            </a:r>
            <a:endParaRPr lang="en-US" sz="800" dirty="0"/>
          </a:p>
        </p:txBody>
      </p:sp>
      <p:sp>
        <p:nvSpPr>
          <p:cNvPr id="295" name="Shape 88">
            <a:extLst>
              <a:ext uri="{FF2B5EF4-FFF2-40B4-BE49-F238E27FC236}">
                <a16:creationId xmlns:a16="http://schemas.microsoft.com/office/drawing/2014/main" id="{EC25DF7F-D91A-20F8-BAD0-8999F58EC429}"/>
              </a:ext>
            </a:extLst>
          </p:cNvPr>
          <p:cNvSpPr/>
          <p:nvPr/>
        </p:nvSpPr>
        <p:spPr>
          <a:xfrm>
            <a:off x="9036101" y="5975207"/>
            <a:ext cx="571500" cy="237744"/>
          </a:xfrm>
          <a:prstGeom prst="roundRect">
            <a:avLst>
              <a:gd name="adj" fmla="val 123077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6" name="Text 89">
            <a:extLst>
              <a:ext uri="{FF2B5EF4-FFF2-40B4-BE49-F238E27FC236}">
                <a16:creationId xmlns:a16="http://schemas.microsoft.com/office/drawing/2014/main" id="{7A33055E-B6A2-8A78-F2FD-961CB66864B0}"/>
              </a:ext>
            </a:extLst>
          </p:cNvPr>
          <p:cNvSpPr txBox="1"/>
          <p:nvPr/>
        </p:nvSpPr>
        <p:spPr>
          <a:xfrm>
            <a:off x="9036101" y="5975207"/>
            <a:ext cx="629107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B0BEC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IaaS API</a:t>
            </a:r>
            <a:endParaRPr lang="en-US" sz="800" dirty="0"/>
          </a:p>
        </p:txBody>
      </p:sp>
      <p:sp>
        <p:nvSpPr>
          <p:cNvPr id="297" name="Shape 90">
            <a:extLst>
              <a:ext uri="{FF2B5EF4-FFF2-40B4-BE49-F238E27FC236}">
                <a16:creationId xmlns:a16="http://schemas.microsoft.com/office/drawing/2014/main" id="{7F9FA624-36B0-C4D4-39F0-25D63C6D87F0}"/>
              </a:ext>
            </a:extLst>
          </p:cNvPr>
          <p:cNvSpPr/>
          <p:nvPr/>
        </p:nvSpPr>
        <p:spPr>
          <a:xfrm>
            <a:off x="9676181" y="5975207"/>
            <a:ext cx="847649" cy="237744"/>
          </a:xfrm>
          <a:prstGeom prst="roundRect">
            <a:avLst>
              <a:gd name="adj" fmla="val 123077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8" name="Text 91">
            <a:extLst>
              <a:ext uri="{FF2B5EF4-FFF2-40B4-BE49-F238E27FC236}">
                <a16:creationId xmlns:a16="http://schemas.microsoft.com/office/drawing/2014/main" id="{E1656D8A-7E97-689C-C7A0-B6E98603BEBC}"/>
              </a:ext>
            </a:extLst>
          </p:cNvPr>
          <p:cNvSpPr txBox="1"/>
          <p:nvPr/>
        </p:nvSpPr>
        <p:spPr>
          <a:xfrm>
            <a:off x="9676181" y="5975207"/>
            <a:ext cx="905256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B0BEC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Multi-tenancy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81305" y="1038758"/>
            <a:ext cx="11430000" cy="1920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 txBox="1"/>
          <p:nvPr/>
        </p:nvSpPr>
        <p:spPr>
          <a:xfrm>
            <a:off x="381305" y="381305"/>
            <a:ext cx="476951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더나은솔루션 운영 실적</a:t>
            </a:r>
            <a:endParaRPr lang="en-US" sz="2700" dirty="0"/>
          </a:p>
        </p:txBody>
      </p:sp>
      <p:sp>
        <p:nvSpPr>
          <p:cNvPr id="7" name="Text 4"/>
          <p:cNvSpPr txBox="1"/>
          <p:nvPr/>
        </p:nvSpPr>
        <p:spPr>
          <a:xfrm>
            <a:off x="3918204" y="509321"/>
            <a:ext cx="490575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00D4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전직 대형 SI 인력 기반 IT 전문 컨설팅 기업 (2018 ~ 2025)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81305" y="1295705"/>
            <a:ext cx="3685946" cy="5181905"/>
          </a:xfrm>
          <a:prstGeom prst="roundRect">
            <a:avLst>
              <a:gd name="adj" fmla="val 1538"/>
            </a:avLst>
          </a:prstGeom>
          <a:solidFill>
            <a:srgbClr val="1B2A4A"/>
          </a:solidFill>
          <a:ln/>
          <a:effectLst>
            <a:outerShdw blurRad="63500" dist="381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381305" y="1295705"/>
            <a:ext cx="3685946" cy="38405"/>
          </a:xfrm>
          <a:prstGeom prst="roundRect">
            <a:avLst>
              <a:gd name="adj" fmla="val 147655"/>
            </a:avLst>
          </a:prstGeom>
          <a:solidFill>
            <a:srgbClr val="00D4FF"/>
          </a:solidFill>
          <a:ln w="12700">
            <a:solidFill>
              <a:srgbClr val="00D4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>
            <a:alphaModFix amt="3000"/>
          </a:blip>
          <a:srcRect l="-16" r="-16"/>
          <a:stretch/>
        </p:blipFill>
        <p:spPr>
          <a:xfrm>
            <a:off x="2825496" y="5524805"/>
            <a:ext cx="1429207" cy="114300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619049" y="2658161"/>
            <a:ext cx="3209544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8"/>
          <p:cNvSpPr txBox="1"/>
          <p:nvPr/>
        </p:nvSpPr>
        <p:spPr>
          <a:xfrm>
            <a:off x="619049" y="1571854"/>
            <a:ext cx="3621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0D4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📺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619049" y="1990649"/>
            <a:ext cx="34006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한국경제TV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619049" y="2310689"/>
            <a:ext cx="332475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2018.08 ~ 2020.12</a:t>
            </a:r>
            <a:endParaRPr lang="en-US" sz="1000" dirty="0"/>
          </a:p>
        </p:txBody>
      </p:sp>
      <p:sp>
        <p:nvSpPr>
          <p:cNvPr id="15" name="Text 11"/>
          <p:cNvSpPr txBox="1"/>
          <p:nvPr/>
        </p:nvSpPr>
        <p:spPr>
          <a:xfrm>
            <a:off x="828446" y="2853842"/>
            <a:ext cx="319125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8" dirty="0">
                <a:solidFill>
                  <a:srgbClr val="00D4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</a:t>
            </a:r>
            <a:endParaRPr lang="en-US" sz="90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rcRect l="-4074" r="-4074"/>
          <a:stretch/>
        </p:blipFill>
        <p:spPr>
          <a:xfrm>
            <a:off x="619049" y="2884932"/>
            <a:ext cx="133502" cy="12344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19049" y="3096158"/>
            <a:ext cx="34006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시간외근무 관리 시스템 구축</a:t>
            </a:r>
            <a:endParaRPr lang="en-US" sz="1100" dirty="0"/>
          </a:p>
        </p:txBody>
      </p:sp>
      <p:sp>
        <p:nvSpPr>
          <p:cNvPr id="18" name="Text 13"/>
          <p:cNvSpPr txBox="1"/>
          <p:nvPr/>
        </p:nvSpPr>
        <p:spPr>
          <a:xfrm>
            <a:off x="856793" y="3468319"/>
            <a:ext cx="31629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8" dirty="0">
                <a:solidFill>
                  <a:srgbClr val="00D4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기능</a:t>
            </a:r>
            <a:endParaRPr lang="en-US" sz="900" dirty="0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rcRect l="-2444" r="-2444"/>
          <a:stretch/>
        </p:blipFill>
        <p:spPr>
          <a:xfrm>
            <a:off x="619049" y="3498494"/>
            <a:ext cx="161849" cy="123444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619049" y="3710635"/>
            <a:ext cx="340065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직원 초과근무 신청·승인·정산 자동화</a:t>
            </a:r>
            <a:endParaRPr lang="en-US" sz="1000" dirty="0"/>
          </a:p>
        </p:txBody>
      </p:sp>
      <p:sp>
        <p:nvSpPr>
          <p:cNvPr id="21" name="Text 15"/>
          <p:cNvSpPr txBox="1"/>
          <p:nvPr/>
        </p:nvSpPr>
        <p:spPr>
          <a:xfrm>
            <a:off x="619049" y="3949294"/>
            <a:ext cx="340065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근태 데이터 실시간 집계 및 모니터링</a:t>
            </a:r>
            <a:endParaRPr lang="en-US" sz="1000" dirty="0"/>
          </a:p>
        </p:txBody>
      </p:sp>
      <p:sp>
        <p:nvSpPr>
          <p:cNvPr id="22" name="Text 16"/>
          <p:cNvSpPr txBox="1"/>
          <p:nvPr/>
        </p:nvSpPr>
        <p:spPr>
          <a:xfrm>
            <a:off x="619049" y="4187038"/>
            <a:ext cx="340065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전사 HR 시스템 및 급여 연동</a:t>
            </a:r>
            <a:endParaRPr lang="en-US" sz="1000" dirty="0"/>
          </a:p>
        </p:txBody>
      </p:sp>
      <p:sp>
        <p:nvSpPr>
          <p:cNvPr id="23" name="Text 17"/>
          <p:cNvSpPr txBox="1"/>
          <p:nvPr/>
        </p:nvSpPr>
        <p:spPr>
          <a:xfrm>
            <a:off x="619049" y="4425696"/>
            <a:ext cx="340065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법적 근로시간 준수 알림 기능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619049" y="5772607"/>
            <a:ext cx="3209544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19"/>
          <p:cNvSpPr/>
          <p:nvPr/>
        </p:nvSpPr>
        <p:spPr>
          <a:xfrm>
            <a:off x="619049" y="5971946"/>
            <a:ext cx="466344" cy="267005"/>
          </a:xfrm>
          <a:prstGeom prst="roundRect">
            <a:avLst>
              <a:gd name="adj" fmla="val 97847"/>
            </a:avLst>
          </a:prstGeom>
          <a:solidFill>
            <a:srgbClr val="00D4FF">
              <a:alpha val="10000"/>
            </a:srgbClr>
          </a:solidFill>
          <a:ln w="12700">
            <a:solidFill>
              <a:srgbClr val="00D4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0"/>
          <p:cNvSpPr txBox="1"/>
          <p:nvPr/>
        </p:nvSpPr>
        <p:spPr>
          <a:xfrm>
            <a:off x="619049" y="5971946"/>
            <a:ext cx="523951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38100" rIns="101600" bIns="3810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00D4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Java</a:t>
            </a:r>
            <a:endParaRPr lang="en-US" sz="900" dirty="0"/>
          </a:p>
        </p:txBody>
      </p:sp>
      <p:sp>
        <p:nvSpPr>
          <p:cNvPr id="27" name="Shape 21"/>
          <p:cNvSpPr/>
          <p:nvPr/>
        </p:nvSpPr>
        <p:spPr>
          <a:xfrm>
            <a:off x="1158545" y="5971946"/>
            <a:ext cx="1218895" cy="267005"/>
          </a:xfrm>
          <a:prstGeom prst="roundRect">
            <a:avLst>
              <a:gd name="adj" fmla="val 97847"/>
            </a:avLst>
          </a:prstGeom>
          <a:solidFill>
            <a:srgbClr val="00D4FF">
              <a:alpha val="10000"/>
            </a:srgbClr>
          </a:solidFill>
          <a:ln w="12700">
            <a:solidFill>
              <a:srgbClr val="00D4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2"/>
          <p:cNvSpPr txBox="1"/>
          <p:nvPr/>
        </p:nvSpPr>
        <p:spPr>
          <a:xfrm>
            <a:off x="1158545" y="5971946"/>
            <a:ext cx="1276502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38100" rIns="101600" bIns="3810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00D4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Spring Framework</a:t>
            </a:r>
            <a:endParaRPr lang="en-US" sz="900" dirty="0"/>
          </a:p>
        </p:txBody>
      </p:sp>
      <p:sp>
        <p:nvSpPr>
          <p:cNvPr id="29" name="Shape 23"/>
          <p:cNvSpPr/>
          <p:nvPr/>
        </p:nvSpPr>
        <p:spPr>
          <a:xfrm>
            <a:off x="2454250" y="5971946"/>
            <a:ext cx="676656" cy="267005"/>
          </a:xfrm>
          <a:prstGeom prst="roundRect">
            <a:avLst>
              <a:gd name="adj" fmla="val 97847"/>
            </a:avLst>
          </a:prstGeom>
          <a:solidFill>
            <a:srgbClr val="00D4FF">
              <a:alpha val="10000"/>
            </a:srgbClr>
          </a:solidFill>
          <a:ln w="12700">
            <a:solidFill>
              <a:srgbClr val="00D4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4"/>
          <p:cNvSpPr txBox="1"/>
          <p:nvPr/>
        </p:nvSpPr>
        <p:spPr>
          <a:xfrm>
            <a:off x="2454250" y="5971946"/>
            <a:ext cx="734263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38100" rIns="101600" bIns="3810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00D4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MariaDB</a:t>
            </a:r>
            <a:endParaRPr lang="en-US" sz="900" dirty="0"/>
          </a:p>
        </p:txBody>
      </p:sp>
      <p:sp>
        <p:nvSpPr>
          <p:cNvPr id="31" name="Shape 25"/>
          <p:cNvSpPr/>
          <p:nvPr/>
        </p:nvSpPr>
        <p:spPr>
          <a:xfrm>
            <a:off x="3202229" y="5971946"/>
            <a:ext cx="619049" cy="267005"/>
          </a:xfrm>
          <a:prstGeom prst="roundRect">
            <a:avLst>
              <a:gd name="adj" fmla="val 97847"/>
            </a:avLst>
          </a:prstGeom>
          <a:solidFill>
            <a:srgbClr val="00D4FF">
              <a:alpha val="10000"/>
            </a:srgbClr>
          </a:solidFill>
          <a:ln w="12700">
            <a:solidFill>
              <a:srgbClr val="00D4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26"/>
          <p:cNvSpPr txBox="1"/>
          <p:nvPr/>
        </p:nvSpPr>
        <p:spPr>
          <a:xfrm>
            <a:off x="3202229" y="5971946"/>
            <a:ext cx="676656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38100" rIns="101600" bIns="3810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00D4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HR 연동</a:t>
            </a:r>
            <a:endParaRPr lang="en-US" sz="900" dirty="0"/>
          </a:p>
        </p:txBody>
      </p:sp>
      <p:sp>
        <p:nvSpPr>
          <p:cNvPr id="33" name="Shape 27"/>
          <p:cNvSpPr/>
          <p:nvPr/>
        </p:nvSpPr>
        <p:spPr>
          <a:xfrm>
            <a:off x="4254703" y="1295705"/>
            <a:ext cx="3685946" cy="5181905"/>
          </a:xfrm>
          <a:prstGeom prst="roundRect">
            <a:avLst>
              <a:gd name="adj" fmla="val 1538"/>
            </a:avLst>
          </a:prstGeom>
          <a:solidFill>
            <a:srgbClr val="1B2A4A"/>
          </a:solidFill>
          <a:ln/>
          <a:effectLst>
            <a:outerShdw blurRad="63500" dist="381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28"/>
          <p:cNvSpPr/>
          <p:nvPr/>
        </p:nvSpPr>
        <p:spPr>
          <a:xfrm>
            <a:off x="4254703" y="1295705"/>
            <a:ext cx="3685946" cy="38405"/>
          </a:xfrm>
          <a:prstGeom prst="roundRect">
            <a:avLst>
              <a:gd name="adj" fmla="val 147655"/>
            </a:avLst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5" name="Image 4" descr="preencoded.png"/>
          <p:cNvPicPr>
            <a:picLocks noChangeAspect="1"/>
          </p:cNvPicPr>
          <p:nvPr/>
        </p:nvPicPr>
        <p:blipFill>
          <a:blip r:embed="rId7">
            <a:alphaModFix amt="3000"/>
          </a:blip>
          <a:srcRect/>
          <a:stretch/>
        </p:blipFill>
        <p:spPr>
          <a:xfrm>
            <a:off x="6985102" y="5524805"/>
            <a:ext cx="1143000" cy="1143000"/>
          </a:xfrm>
          <a:prstGeom prst="rect">
            <a:avLst/>
          </a:prstGeom>
        </p:spPr>
      </p:pic>
      <p:sp>
        <p:nvSpPr>
          <p:cNvPr id="36" name="Shape 29"/>
          <p:cNvSpPr/>
          <p:nvPr/>
        </p:nvSpPr>
        <p:spPr>
          <a:xfrm>
            <a:off x="4492447" y="2658161"/>
            <a:ext cx="3209544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0"/>
          <p:cNvSpPr txBox="1"/>
          <p:nvPr/>
        </p:nvSpPr>
        <p:spPr>
          <a:xfrm>
            <a:off x="4492447" y="1571854"/>
            <a:ext cx="3621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0B98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🌿</a:t>
            </a:r>
            <a:endParaRPr lang="en-US" sz="1800" dirty="0"/>
          </a:p>
        </p:txBody>
      </p:sp>
      <p:sp>
        <p:nvSpPr>
          <p:cNvPr id="38" name="Text 31"/>
          <p:cNvSpPr txBox="1"/>
          <p:nvPr/>
        </p:nvSpPr>
        <p:spPr>
          <a:xfrm>
            <a:off x="4492447" y="1990649"/>
            <a:ext cx="3324758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KC환경 ERP</a:t>
            </a:r>
            <a:endParaRPr lang="en-US" sz="1600" dirty="0"/>
          </a:p>
        </p:txBody>
      </p:sp>
      <p:sp>
        <p:nvSpPr>
          <p:cNvPr id="39" name="Text 32"/>
          <p:cNvSpPr txBox="1"/>
          <p:nvPr/>
        </p:nvSpPr>
        <p:spPr>
          <a:xfrm>
            <a:off x="4492447" y="2310689"/>
            <a:ext cx="340065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약 1년 (더나은솔루션 기간)</a:t>
            </a:r>
            <a:endParaRPr lang="en-US" sz="1000" dirty="0"/>
          </a:p>
        </p:txBody>
      </p:sp>
      <p:sp>
        <p:nvSpPr>
          <p:cNvPr id="40" name="Text 33"/>
          <p:cNvSpPr txBox="1"/>
          <p:nvPr/>
        </p:nvSpPr>
        <p:spPr>
          <a:xfrm>
            <a:off x="4711903" y="2853842"/>
            <a:ext cx="318119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8" dirty="0">
                <a:solidFill>
                  <a:srgbClr val="10B98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</a:t>
            </a:r>
            <a:endParaRPr lang="en-US" sz="900" dirty="0"/>
          </a:p>
        </p:txBody>
      </p:sp>
      <p:pic>
        <p:nvPicPr>
          <p:cNvPr id="41" name="Image 5" descr="preencoded.png"/>
          <p:cNvPicPr>
            <a:picLocks noChangeAspect="1"/>
          </p:cNvPicPr>
          <p:nvPr/>
        </p:nvPicPr>
        <p:blipFill>
          <a:blip r:embed="rId8"/>
          <a:srcRect l="-1358" r="-1358"/>
          <a:stretch/>
        </p:blipFill>
        <p:spPr>
          <a:xfrm>
            <a:off x="4492447" y="2884932"/>
            <a:ext cx="142646" cy="123444"/>
          </a:xfrm>
          <a:prstGeom prst="rect">
            <a:avLst/>
          </a:prstGeom>
        </p:spPr>
      </p:pic>
      <p:sp>
        <p:nvSpPr>
          <p:cNvPr id="42" name="Text 34"/>
          <p:cNvSpPr txBox="1"/>
          <p:nvPr/>
        </p:nvSpPr>
        <p:spPr>
          <a:xfrm>
            <a:off x="4492447" y="3096158"/>
            <a:ext cx="34006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환경 관리 통합 ERP 시스템 구축</a:t>
            </a:r>
            <a:endParaRPr lang="en-US" sz="1100" dirty="0"/>
          </a:p>
        </p:txBody>
      </p:sp>
      <p:sp>
        <p:nvSpPr>
          <p:cNvPr id="43" name="Text 35"/>
          <p:cNvSpPr txBox="1"/>
          <p:nvPr/>
        </p:nvSpPr>
        <p:spPr>
          <a:xfrm>
            <a:off x="4701845" y="3468319"/>
            <a:ext cx="319125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8" dirty="0">
                <a:solidFill>
                  <a:srgbClr val="10B98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모듈</a:t>
            </a:r>
            <a:endParaRPr lang="en-US" sz="900" dirty="0"/>
          </a:p>
        </p:txBody>
      </p:sp>
      <p:pic>
        <p:nvPicPr>
          <p:cNvPr id="44" name="Image 6" descr="preencoded.png"/>
          <p:cNvPicPr>
            <a:picLocks noChangeAspect="1"/>
          </p:cNvPicPr>
          <p:nvPr/>
        </p:nvPicPr>
        <p:blipFill>
          <a:blip r:embed="rId9"/>
          <a:srcRect l="-4074" r="-4074"/>
          <a:stretch/>
        </p:blipFill>
        <p:spPr>
          <a:xfrm>
            <a:off x="4492447" y="3498494"/>
            <a:ext cx="133502" cy="123444"/>
          </a:xfrm>
          <a:prstGeom prst="rect">
            <a:avLst/>
          </a:prstGeom>
        </p:spPr>
      </p:pic>
      <p:sp>
        <p:nvSpPr>
          <p:cNvPr id="45" name="Text 36"/>
          <p:cNvSpPr txBox="1"/>
          <p:nvPr/>
        </p:nvSpPr>
        <p:spPr>
          <a:xfrm>
            <a:off x="4492447" y="3710635"/>
            <a:ext cx="340065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거래처 계약관리</a:t>
            </a:r>
            <a:r>
              <a:rPr lang="en-US" sz="10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계약 등록·이력·갱신</a:t>
            </a:r>
            <a:endParaRPr lang="en-US" sz="1000" dirty="0"/>
          </a:p>
        </p:txBody>
      </p:sp>
      <p:sp>
        <p:nvSpPr>
          <p:cNvPr id="46" name="Text 37"/>
          <p:cNvSpPr txBox="1"/>
          <p:nvPr/>
        </p:nvSpPr>
        <p:spPr>
          <a:xfrm>
            <a:off x="4492447" y="3949294"/>
            <a:ext cx="340065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폐기물 처리 관리</a:t>
            </a:r>
            <a:r>
              <a:rPr lang="en-US" sz="10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수거·처리 워크플로우</a:t>
            </a:r>
            <a:endParaRPr lang="en-US" sz="1000" dirty="0"/>
          </a:p>
        </p:txBody>
      </p:sp>
      <p:sp>
        <p:nvSpPr>
          <p:cNvPr id="47" name="Text 38"/>
          <p:cNvSpPr txBox="1"/>
          <p:nvPr/>
        </p:nvSpPr>
        <p:spPr>
          <a:xfrm>
            <a:off x="4492447" y="4187038"/>
            <a:ext cx="340065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환경 데이터 관리</a:t>
            </a:r>
            <a:r>
              <a:rPr lang="en-US" sz="10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측정 데이터 통합</a:t>
            </a:r>
            <a:endParaRPr lang="en-US" sz="1000" dirty="0"/>
          </a:p>
        </p:txBody>
      </p:sp>
      <p:sp>
        <p:nvSpPr>
          <p:cNvPr id="48" name="Text 39"/>
          <p:cNvSpPr txBox="1"/>
          <p:nvPr/>
        </p:nvSpPr>
        <p:spPr>
          <a:xfrm>
            <a:off x="4492447" y="4425696"/>
            <a:ext cx="340065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수질·대기 등록</a:t>
            </a:r>
            <a:r>
              <a:rPr lang="en-US" sz="10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법적 기준 데이터 보고</a:t>
            </a:r>
            <a:endParaRPr lang="en-US" sz="1000" dirty="0"/>
          </a:p>
        </p:txBody>
      </p:sp>
      <p:sp>
        <p:nvSpPr>
          <p:cNvPr id="49" name="Text 40"/>
          <p:cNvSpPr txBox="1"/>
          <p:nvPr/>
        </p:nvSpPr>
        <p:spPr>
          <a:xfrm>
            <a:off x="4664354" y="4806086"/>
            <a:ext cx="322874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8" dirty="0">
                <a:solidFill>
                  <a:srgbClr val="10B98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운영 규모</a:t>
            </a:r>
            <a:endParaRPr lang="en-US" sz="900" dirty="0"/>
          </a:p>
        </p:txBody>
      </p:sp>
      <p:pic>
        <p:nvPicPr>
          <p:cNvPr id="50" name="Image 7" descr="preencoded.png"/>
          <p:cNvPicPr>
            <a:picLocks noChangeAspect="1"/>
          </p:cNvPicPr>
          <p:nvPr/>
        </p:nvPicPr>
        <p:blipFill>
          <a:blip r:embed="rId10"/>
          <a:srcRect l="-1358" r="-1358"/>
          <a:stretch/>
        </p:blipFill>
        <p:spPr>
          <a:xfrm>
            <a:off x="4492447" y="4837176"/>
            <a:ext cx="95098" cy="123444"/>
          </a:xfrm>
          <a:prstGeom prst="rect">
            <a:avLst/>
          </a:prstGeom>
        </p:spPr>
      </p:pic>
      <p:sp>
        <p:nvSpPr>
          <p:cNvPr id="51" name="Text 41"/>
          <p:cNvSpPr txBox="1"/>
          <p:nvPr/>
        </p:nvSpPr>
        <p:spPr>
          <a:xfrm>
            <a:off x="4492447" y="5049317"/>
            <a:ext cx="34006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4개 지점 통합 운영 시스템</a:t>
            </a:r>
            <a:endParaRPr lang="en-US" sz="1100" dirty="0"/>
          </a:p>
        </p:txBody>
      </p:sp>
      <p:sp>
        <p:nvSpPr>
          <p:cNvPr id="52" name="Shape 42"/>
          <p:cNvSpPr/>
          <p:nvPr/>
        </p:nvSpPr>
        <p:spPr>
          <a:xfrm>
            <a:off x="4492447" y="5772607"/>
            <a:ext cx="3209544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43"/>
          <p:cNvSpPr/>
          <p:nvPr/>
        </p:nvSpPr>
        <p:spPr>
          <a:xfrm>
            <a:off x="4492447" y="5971946"/>
            <a:ext cx="866851" cy="267005"/>
          </a:xfrm>
          <a:prstGeom prst="roundRect">
            <a:avLst>
              <a:gd name="adj" fmla="val 97847"/>
            </a:avLst>
          </a:prstGeom>
          <a:solidFill>
            <a:srgbClr val="10B981">
              <a:alpha val="10000"/>
            </a:srgbClr>
          </a:solidFill>
          <a:ln w="12700">
            <a:solidFill>
              <a:srgbClr val="10B981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Text 44"/>
          <p:cNvSpPr txBox="1"/>
          <p:nvPr/>
        </p:nvSpPr>
        <p:spPr>
          <a:xfrm>
            <a:off x="4492447" y="5971946"/>
            <a:ext cx="924458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38100" rIns="101600" bIns="3810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0B98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Spring Boot</a:t>
            </a:r>
            <a:endParaRPr lang="en-US" sz="900" dirty="0"/>
          </a:p>
        </p:txBody>
      </p:sp>
      <p:sp>
        <p:nvSpPr>
          <p:cNvPr id="55" name="Shape 45"/>
          <p:cNvSpPr/>
          <p:nvPr/>
        </p:nvSpPr>
        <p:spPr>
          <a:xfrm>
            <a:off x="5427878" y="5971946"/>
            <a:ext cx="676656" cy="267005"/>
          </a:xfrm>
          <a:prstGeom prst="roundRect">
            <a:avLst>
              <a:gd name="adj" fmla="val 97847"/>
            </a:avLst>
          </a:prstGeom>
          <a:solidFill>
            <a:srgbClr val="10B981">
              <a:alpha val="10000"/>
            </a:srgbClr>
          </a:solidFill>
          <a:ln w="12700">
            <a:solidFill>
              <a:srgbClr val="10B981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Text 46"/>
          <p:cNvSpPr txBox="1"/>
          <p:nvPr/>
        </p:nvSpPr>
        <p:spPr>
          <a:xfrm>
            <a:off x="5427878" y="5971946"/>
            <a:ext cx="734263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38100" rIns="101600" bIns="3810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0B98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MariaDB</a:t>
            </a:r>
            <a:endParaRPr lang="en-US" sz="900" dirty="0"/>
          </a:p>
        </p:txBody>
      </p:sp>
      <p:sp>
        <p:nvSpPr>
          <p:cNvPr id="57" name="Shape 47"/>
          <p:cNvSpPr/>
          <p:nvPr/>
        </p:nvSpPr>
        <p:spPr>
          <a:xfrm>
            <a:off x="6175858" y="5971946"/>
            <a:ext cx="428854" cy="267005"/>
          </a:xfrm>
          <a:prstGeom prst="roundRect">
            <a:avLst>
              <a:gd name="adj" fmla="val 97847"/>
            </a:avLst>
          </a:prstGeom>
          <a:solidFill>
            <a:srgbClr val="10B981">
              <a:alpha val="10000"/>
            </a:srgbClr>
          </a:solidFill>
          <a:ln w="12700">
            <a:solidFill>
              <a:srgbClr val="10B981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Text 48"/>
          <p:cNvSpPr txBox="1"/>
          <p:nvPr/>
        </p:nvSpPr>
        <p:spPr>
          <a:xfrm>
            <a:off x="6175858" y="5971946"/>
            <a:ext cx="486461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38100" rIns="101600" bIns="3810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0B98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ERP</a:t>
            </a:r>
            <a:endParaRPr lang="en-US" sz="900" dirty="0"/>
          </a:p>
        </p:txBody>
      </p:sp>
      <p:sp>
        <p:nvSpPr>
          <p:cNvPr id="59" name="Shape 49"/>
          <p:cNvSpPr/>
          <p:nvPr/>
        </p:nvSpPr>
        <p:spPr>
          <a:xfrm>
            <a:off x="6679692" y="5971946"/>
            <a:ext cx="743407" cy="267005"/>
          </a:xfrm>
          <a:prstGeom prst="roundRect">
            <a:avLst>
              <a:gd name="adj" fmla="val 97847"/>
            </a:avLst>
          </a:prstGeom>
          <a:solidFill>
            <a:srgbClr val="10B981">
              <a:alpha val="10000"/>
            </a:srgbClr>
          </a:solidFill>
          <a:ln w="12700">
            <a:solidFill>
              <a:srgbClr val="10B981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Text 50"/>
          <p:cNvSpPr txBox="1"/>
          <p:nvPr/>
        </p:nvSpPr>
        <p:spPr>
          <a:xfrm>
            <a:off x="6679692" y="5971946"/>
            <a:ext cx="800100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38100" rIns="101600" bIns="3810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0B98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환경데이터</a:t>
            </a:r>
            <a:endParaRPr lang="en-US" sz="900" dirty="0"/>
          </a:p>
        </p:txBody>
      </p:sp>
      <p:sp>
        <p:nvSpPr>
          <p:cNvPr id="61" name="Shape 51"/>
          <p:cNvSpPr/>
          <p:nvPr/>
        </p:nvSpPr>
        <p:spPr>
          <a:xfrm>
            <a:off x="8128102" y="1295705"/>
            <a:ext cx="3685946" cy="5181905"/>
          </a:xfrm>
          <a:prstGeom prst="roundRect">
            <a:avLst>
              <a:gd name="adj" fmla="val 1538"/>
            </a:avLst>
          </a:prstGeom>
          <a:solidFill>
            <a:srgbClr val="1B2A4A"/>
          </a:solidFill>
          <a:ln/>
          <a:effectLst>
            <a:outerShdw blurRad="63500" dist="381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2" name="Shape 52"/>
          <p:cNvSpPr/>
          <p:nvPr/>
        </p:nvSpPr>
        <p:spPr>
          <a:xfrm>
            <a:off x="8128102" y="1295705"/>
            <a:ext cx="3685946" cy="38405"/>
          </a:xfrm>
          <a:prstGeom prst="roundRect">
            <a:avLst>
              <a:gd name="adj" fmla="val 147655"/>
            </a:avLst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3" name="Image 8" descr="preencoded.png"/>
          <p:cNvPicPr>
            <a:picLocks noChangeAspect="1"/>
          </p:cNvPicPr>
          <p:nvPr/>
        </p:nvPicPr>
        <p:blipFill>
          <a:blip r:embed="rId11">
            <a:alphaModFix amt="3000"/>
          </a:blip>
          <a:srcRect/>
          <a:stretch/>
        </p:blipFill>
        <p:spPr>
          <a:xfrm>
            <a:off x="10858500" y="5524805"/>
            <a:ext cx="1143000" cy="1143000"/>
          </a:xfrm>
          <a:prstGeom prst="rect">
            <a:avLst/>
          </a:prstGeom>
        </p:spPr>
      </p:pic>
      <p:sp>
        <p:nvSpPr>
          <p:cNvPr id="64" name="Shape 53"/>
          <p:cNvSpPr/>
          <p:nvPr/>
        </p:nvSpPr>
        <p:spPr>
          <a:xfrm>
            <a:off x="8365846" y="2658161"/>
            <a:ext cx="3209544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5" name="Text 54"/>
          <p:cNvSpPr txBox="1"/>
          <p:nvPr/>
        </p:nvSpPr>
        <p:spPr>
          <a:xfrm>
            <a:off x="8365846" y="1571854"/>
            <a:ext cx="3621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59E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🔄</a:t>
            </a:r>
            <a:endParaRPr lang="en-US" sz="1800" dirty="0"/>
          </a:p>
        </p:txBody>
      </p:sp>
      <p:sp>
        <p:nvSpPr>
          <p:cNvPr id="66" name="Text 55"/>
          <p:cNvSpPr txBox="1"/>
          <p:nvPr/>
        </p:nvSpPr>
        <p:spPr>
          <a:xfrm>
            <a:off x="8365846" y="1990649"/>
            <a:ext cx="34006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ERP 마이그레이션</a:t>
            </a:r>
            <a:endParaRPr lang="en-US" sz="1600" dirty="0"/>
          </a:p>
        </p:txBody>
      </p:sp>
      <p:sp>
        <p:nvSpPr>
          <p:cNvPr id="67" name="Text 56"/>
          <p:cNvSpPr txBox="1"/>
          <p:nvPr/>
        </p:nvSpPr>
        <p:spPr>
          <a:xfrm>
            <a:off x="8365846" y="2310689"/>
            <a:ext cx="340065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더나은솔루션 운영 기간</a:t>
            </a:r>
            <a:endParaRPr lang="en-US" sz="1000" dirty="0"/>
          </a:p>
        </p:txBody>
      </p:sp>
      <p:sp>
        <p:nvSpPr>
          <p:cNvPr id="68" name="Text 57"/>
          <p:cNvSpPr txBox="1"/>
          <p:nvPr/>
        </p:nvSpPr>
        <p:spPr>
          <a:xfrm>
            <a:off x="8603590" y="2853842"/>
            <a:ext cx="31629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8" dirty="0">
                <a:solidFill>
                  <a:srgbClr val="F59E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전환 목표</a:t>
            </a:r>
            <a:endParaRPr lang="en-US" sz="900" dirty="0"/>
          </a:p>
        </p:txBody>
      </p:sp>
      <p:pic>
        <p:nvPicPr>
          <p:cNvPr id="69" name="Image 9" descr="preencoded.png"/>
          <p:cNvPicPr>
            <a:picLocks noChangeAspect="1"/>
          </p:cNvPicPr>
          <p:nvPr/>
        </p:nvPicPr>
        <p:blipFill>
          <a:blip r:embed="rId12"/>
          <a:srcRect l="-2444" r="-2444"/>
          <a:stretch/>
        </p:blipFill>
        <p:spPr>
          <a:xfrm>
            <a:off x="8365846" y="2884932"/>
            <a:ext cx="161849" cy="123444"/>
          </a:xfrm>
          <a:prstGeom prst="rect">
            <a:avLst/>
          </a:prstGeom>
        </p:spPr>
      </p:pic>
      <p:sp>
        <p:nvSpPr>
          <p:cNvPr id="70" name="Text 58"/>
          <p:cNvSpPr txBox="1"/>
          <p:nvPr/>
        </p:nvSpPr>
        <p:spPr>
          <a:xfrm>
            <a:off x="8365846" y="3096158"/>
            <a:ext cx="33247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레거시 ERP 현대화 (ASP → Spring)</a:t>
            </a:r>
            <a:endParaRPr lang="en-US" sz="1100" dirty="0"/>
          </a:p>
        </p:txBody>
      </p:sp>
      <p:sp>
        <p:nvSpPr>
          <p:cNvPr id="71" name="Text 59"/>
          <p:cNvSpPr txBox="1"/>
          <p:nvPr/>
        </p:nvSpPr>
        <p:spPr>
          <a:xfrm>
            <a:off x="8575243" y="3468319"/>
            <a:ext cx="319125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8" dirty="0">
                <a:solidFill>
                  <a:srgbClr val="F59E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수행 내용</a:t>
            </a:r>
            <a:endParaRPr lang="en-US" sz="900" dirty="0"/>
          </a:p>
        </p:txBody>
      </p:sp>
      <p:pic>
        <p:nvPicPr>
          <p:cNvPr id="72" name="Image 10" descr="preencoded.png"/>
          <p:cNvPicPr>
            <a:picLocks noChangeAspect="1"/>
          </p:cNvPicPr>
          <p:nvPr/>
        </p:nvPicPr>
        <p:blipFill>
          <a:blip r:embed="rId13"/>
          <a:srcRect l="-4074" r="-4074"/>
          <a:stretch/>
        </p:blipFill>
        <p:spPr>
          <a:xfrm>
            <a:off x="8365846" y="3498494"/>
            <a:ext cx="133502" cy="123444"/>
          </a:xfrm>
          <a:prstGeom prst="rect">
            <a:avLst/>
          </a:prstGeom>
        </p:spPr>
      </p:pic>
      <p:sp>
        <p:nvSpPr>
          <p:cNvPr id="73" name="Text 60"/>
          <p:cNvSpPr txBox="1"/>
          <p:nvPr/>
        </p:nvSpPr>
        <p:spPr>
          <a:xfrm>
            <a:off x="8365846" y="3710635"/>
            <a:ext cx="332475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기존 ASP 기반 코드를 Java Spring으로 재구축</a:t>
            </a:r>
            <a:endParaRPr lang="en-US" sz="1000" dirty="0"/>
          </a:p>
        </p:txBody>
      </p:sp>
      <p:sp>
        <p:nvSpPr>
          <p:cNvPr id="74" name="Text 61"/>
          <p:cNvSpPr txBox="1"/>
          <p:nvPr/>
        </p:nvSpPr>
        <p:spPr>
          <a:xfrm>
            <a:off x="8365846" y="3949294"/>
            <a:ext cx="340065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데이터베이스 구조 최적화 및 마이그레이션</a:t>
            </a:r>
            <a:endParaRPr lang="en-US" sz="1000" dirty="0"/>
          </a:p>
        </p:txBody>
      </p:sp>
      <p:sp>
        <p:nvSpPr>
          <p:cNvPr id="75" name="Text 62"/>
          <p:cNvSpPr txBox="1"/>
          <p:nvPr/>
        </p:nvSpPr>
        <p:spPr>
          <a:xfrm>
            <a:off x="8365846" y="4187038"/>
            <a:ext cx="332475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웹 표준 준수 및 UI/UX 개선</a:t>
            </a:r>
            <a:endParaRPr lang="en-US" sz="1000" dirty="0"/>
          </a:p>
        </p:txBody>
      </p:sp>
      <p:sp>
        <p:nvSpPr>
          <p:cNvPr id="76" name="Text 63"/>
          <p:cNvSpPr txBox="1"/>
          <p:nvPr/>
        </p:nvSpPr>
        <p:spPr>
          <a:xfrm>
            <a:off x="8575243" y="4568342"/>
            <a:ext cx="319125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8" dirty="0">
                <a:solidFill>
                  <a:srgbClr val="F59E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성과</a:t>
            </a:r>
            <a:endParaRPr lang="en-US" sz="900" dirty="0"/>
          </a:p>
        </p:txBody>
      </p:sp>
      <p:pic>
        <p:nvPicPr>
          <p:cNvPr id="77" name="Image 11" descr="preencoded.png"/>
          <p:cNvPicPr>
            <a:picLocks noChangeAspect="1"/>
          </p:cNvPicPr>
          <p:nvPr/>
        </p:nvPicPr>
        <p:blipFill>
          <a:blip r:embed="rId14"/>
          <a:srcRect l="-4074" r="-4074"/>
          <a:stretch/>
        </p:blipFill>
        <p:spPr>
          <a:xfrm>
            <a:off x="8365846" y="4599432"/>
            <a:ext cx="133502" cy="123444"/>
          </a:xfrm>
          <a:prstGeom prst="rect">
            <a:avLst/>
          </a:prstGeom>
        </p:spPr>
      </p:pic>
      <p:sp>
        <p:nvSpPr>
          <p:cNvPr id="78" name="Text 64"/>
          <p:cNvSpPr txBox="1"/>
          <p:nvPr/>
        </p:nvSpPr>
        <p:spPr>
          <a:xfrm>
            <a:off x="8365846" y="4810658"/>
            <a:ext cx="32863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시스템 성능 획기적 개선, 유지보수 용이성 확보, 최신 보안 아키텍처 적용</a:t>
            </a:r>
            <a:endParaRPr lang="en-US" sz="1100" dirty="0"/>
          </a:p>
        </p:txBody>
      </p:sp>
      <p:sp>
        <p:nvSpPr>
          <p:cNvPr id="79" name="Shape 65"/>
          <p:cNvSpPr/>
          <p:nvPr/>
        </p:nvSpPr>
        <p:spPr>
          <a:xfrm>
            <a:off x="8365846" y="5429707"/>
            <a:ext cx="3209544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0" name="Shape 66"/>
          <p:cNvSpPr/>
          <p:nvPr/>
        </p:nvSpPr>
        <p:spPr>
          <a:xfrm>
            <a:off x="8365846" y="5629046"/>
            <a:ext cx="1143000" cy="267005"/>
          </a:xfrm>
          <a:prstGeom prst="roundRect">
            <a:avLst>
              <a:gd name="adj" fmla="val 97847"/>
            </a:avLst>
          </a:prstGeom>
          <a:solidFill>
            <a:srgbClr val="F59E0B">
              <a:alpha val="10000"/>
            </a:srgbClr>
          </a:solidFill>
          <a:ln w="12700">
            <a:solidFill>
              <a:srgbClr val="F59E0B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1" name="Text 67"/>
          <p:cNvSpPr txBox="1"/>
          <p:nvPr/>
        </p:nvSpPr>
        <p:spPr>
          <a:xfrm>
            <a:off x="8365846" y="5629046"/>
            <a:ext cx="1200607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38100" rIns="101600" bIns="3810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F59E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Legacy Migration</a:t>
            </a:r>
            <a:endParaRPr lang="en-US" sz="900" dirty="0"/>
          </a:p>
        </p:txBody>
      </p:sp>
      <p:sp>
        <p:nvSpPr>
          <p:cNvPr id="82" name="Shape 68"/>
          <p:cNvSpPr/>
          <p:nvPr/>
        </p:nvSpPr>
        <p:spPr>
          <a:xfrm>
            <a:off x="9579254" y="5629046"/>
            <a:ext cx="961949" cy="267005"/>
          </a:xfrm>
          <a:prstGeom prst="roundRect">
            <a:avLst>
              <a:gd name="adj" fmla="val 97847"/>
            </a:avLst>
          </a:prstGeom>
          <a:solidFill>
            <a:srgbClr val="F59E0B">
              <a:alpha val="10000"/>
            </a:srgbClr>
          </a:solidFill>
          <a:ln w="12700">
            <a:solidFill>
              <a:srgbClr val="F59E0B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3" name="Text 69"/>
          <p:cNvSpPr txBox="1"/>
          <p:nvPr/>
        </p:nvSpPr>
        <p:spPr>
          <a:xfrm>
            <a:off x="9579254" y="5629046"/>
            <a:ext cx="1019556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38100" rIns="101600" bIns="3810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F59E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ASP to Spring</a:t>
            </a:r>
            <a:endParaRPr lang="en-US" sz="900" dirty="0"/>
          </a:p>
        </p:txBody>
      </p:sp>
      <p:sp>
        <p:nvSpPr>
          <p:cNvPr id="84" name="Shape 70"/>
          <p:cNvSpPr/>
          <p:nvPr/>
        </p:nvSpPr>
        <p:spPr>
          <a:xfrm>
            <a:off x="8365846" y="5971946"/>
            <a:ext cx="1047902" cy="267005"/>
          </a:xfrm>
          <a:prstGeom prst="roundRect">
            <a:avLst>
              <a:gd name="adj" fmla="val 97847"/>
            </a:avLst>
          </a:prstGeom>
          <a:solidFill>
            <a:srgbClr val="F59E0B">
              <a:alpha val="10000"/>
            </a:srgbClr>
          </a:solidFill>
          <a:ln w="12700">
            <a:solidFill>
              <a:srgbClr val="F59E0B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5" name="Text 71"/>
          <p:cNvSpPr txBox="1"/>
          <p:nvPr/>
        </p:nvSpPr>
        <p:spPr>
          <a:xfrm>
            <a:off x="8365846" y="5971946"/>
            <a:ext cx="1105510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38100" rIns="101600" bIns="3810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F59E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Re-Engineering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381305" y="1038758"/>
            <a:ext cx="11430000" cy="1920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381305" y="381305"/>
            <a:ext cx="2875788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상세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2560320" y="509321"/>
            <a:ext cx="3849624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00D4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(2015)</a:t>
            </a:r>
            <a:endParaRPr lang="en-US" sz="1300" dirty="0"/>
          </a:p>
        </p:txBody>
      </p:sp>
      <p:sp>
        <p:nvSpPr>
          <p:cNvPr id="69" name="Shape 3">
            <a:extLst>
              <a:ext uri="{FF2B5EF4-FFF2-40B4-BE49-F238E27FC236}">
                <a16:creationId xmlns:a16="http://schemas.microsoft.com/office/drawing/2014/main" id="{33CABD22-02D5-35F4-85C6-119183F4898F}"/>
              </a:ext>
            </a:extLst>
          </p:cNvPr>
          <p:cNvSpPr/>
          <p:nvPr/>
        </p:nvSpPr>
        <p:spPr>
          <a:xfrm>
            <a:off x="761695" y="6629400"/>
            <a:ext cx="10668305" cy="171907"/>
          </a:xfrm>
          <a:prstGeom prst="roundRect">
            <a:avLst>
              <a:gd name="adj" fmla="val 236407"/>
            </a:avLst>
          </a:prstGeom>
          <a:solidFill>
            <a:srgbClr val="000000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0" name="Text 4">
            <a:extLst>
              <a:ext uri="{FF2B5EF4-FFF2-40B4-BE49-F238E27FC236}">
                <a16:creationId xmlns:a16="http://schemas.microsoft.com/office/drawing/2014/main" id="{ACC82B50-CBF3-02DF-06F6-A096E2D4B11C}"/>
              </a:ext>
            </a:extLst>
          </p:cNvPr>
          <p:cNvSpPr txBox="1"/>
          <p:nvPr/>
        </p:nvSpPr>
        <p:spPr>
          <a:xfrm>
            <a:off x="1133856" y="6205199"/>
            <a:ext cx="88879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D4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카드 승인 데이터 </a:t>
            </a:r>
            <a:endParaRPr lang="en-US" sz="900" dirty="0"/>
          </a:p>
        </p:txBody>
      </p:sp>
      <p:pic>
        <p:nvPicPr>
          <p:cNvPr id="71" name="Image 2" descr="preencoded.png">
            <a:extLst>
              <a:ext uri="{FF2B5EF4-FFF2-40B4-BE49-F238E27FC236}">
                <a16:creationId xmlns:a16="http://schemas.microsoft.com/office/drawing/2014/main" id="{D69778F6-182E-8F8E-B265-D00DE41F3F8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2571" r="-2571"/>
          <a:stretch/>
        </p:blipFill>
        <p:spPr>
          <a:xfrm>
            <a:off x="952805" y="6233545"/>
            <a:ext cx="105156" cy="114300"/>
          </a:xfrm>
          <a:prstGeom prst="rect">
            <a:avLst/>
          </a:prstGeom>
        </p:spPr>
      </p:pic>
      <p:pic>
        <p:nvPicPr>
          <p:cNvPr id="72" name="Image 3" descr="preencoded.png">
            <a:extLst>
              <a:ext uri="{FF2B5EF4-FFF2-40B4-BE49-F238E27FC236}">
                <a16:creationId xmlns:a16="http://schemas.microsoft.com/office/drawing/2014/main" id="{64F94845-5DC5-4FCA-D8D0-464B45E68C1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80" b="-180"/>
          <a:stretch/>
        </p:blipFill>
        <p:spPr>
          <a:xfrm>
            <a:off x="2557577" y="6214343"/>
            <a:ext cx="95098" cy="152705"/>
          </a:xfrm>
          <a:prstGeom prst="rect">
            <a:avLst/>
          </a:prstGeom>
        </p:spPr>
      </p:pic>
      <p:sp>
        <p:nvSpPr>
          <p:cNvPr id="73" name="Text 5">
            <a:extLst>
              <a:ext uri="{FF2B5EF4-FFF2-40B4-BE49-F238E27FC236}">
                <a16:creationId xmlns:a16="http://schemas.microsoft.com/office/drawing/2014/main" id="{307C8CFD-5E10-BF8B-202F-08B35C1B3C3E}"/>
              </a:ext>
            </a:extLst>
          </p:cNvPr>
          <p:cNvSpPr txBox="1"/>
          <p:nvPr/>
        </p:nvSpPr>
        <p:spPr>
          <a:xfrm>
            <a:off x="3466490" y="6205199"/>
            <a:ext cx="71506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D4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ETL / 전처리 </a:t>
            </a:r>
            <a:endParaRPr lang="en-US" sz="900" dirty="0"/>
          </a:p>
        </p:txBody>
      </p:sp>
      <p:pic>
        <p:nvPicPr>
          <p:cNvPr id="74" name="Image 4" descr="preencoded.png">
            <a:extLst>
              <a:ext uri="{FF2B5EF4-FFF2-40B4-BE49-F238E27FC236}">
                <a16:creationId xmlns:a16="http://schemas.microsoft.com/office/drawing/2014/main" id="{7106A354-12D5-3946-C4A7-A55E3594BF8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276295" y="6233545"/>
            <a:ext cx="114300" cy="114300"/>
          </a:xfrm>
          <a:prstGeom prst="rect">
            <a:avLst/>
          </a:prstGeom>
        </p:spPr>
      </p:pic>
      <p:pic>
        <p:nvPicPr>
          <p:cNvPr id="75" name="Image 5" descr="preencoded.png">
            <a:extLst>
              <a:ext uri="{FF2B5EF4-FFF2-40B4-BE49-F238E27FC236}">
                <a16:creationId xmlns:a16="http://schemas.microsoft.com/office/drawing/2014/main" id="{000BB9AE-633B-AD01-1DA0-B1ECFEF92B2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80" b="-180"/>
          <a:stretch/>
        </p:blipFill>
        <p:spPr>
          <a:xfrm>
            <a:off x="4721962" y="6214343"/>
            <a:ext cx="95098" cy="152705"/>
          </a:xfrm>
          <a:prstGeom prst="rect">
            <a:avLst/>
          </a:prstGeom>
        </p:spPr>
      </p:pic>
      <p:sp>
        <p:nvSpPr>
          <p:cNvPr id="76" name="Text 6">
            <a:extLst>
              <a:ext uri="{FF2B5EF4-FFF2-40B4-BE49-F238E27FC236}">
                <a16:creationId xmlns:a16="http://schemas.microsoft.com/office/drawing/2014/main" id="{348093B3-5CCD-0613-6E32-DFF3294E0243}"/>
              </a:ext>
            </a:extLst>
          </p:cNvPr>
          <p:cNvSpPr txBox="1"/>
          <p:nvPr/>
        </p:nvSpPr>
        <p:spPr>
          <a:xfrm>
            <a:off x="5630875" y="6205199"/>
            <a:ext cx="11055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D4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색인(Indexing) 생성 </a:t>
            </a:r>
            <a:endParaRPr lang="en-US" sz="900" dirty="0"/>
          </a:p>
        </p:txBody>
      </p:sp>
      <p:pic>
        <p:nvPicPr>
          <p:cNvPr id="77" name="Image 6" descr="preencoded.png">
            <a:extLst>
              <a:ext uri="{FF2B5EF4-FFF2-40B4-BE49-F238E27FC236}">
                <a16:creationId xmlns:a16="http://schemas.microsoft.com/office/drawing/2014/main" id="{7E2CA177-B416-BADB-4570-546B940B6B0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5440680" y="6233545"/>
            <a:ext cx="114300" cy="114300"/>
          </a:xfrm>
          <a:prstGeom prst="rect">
            <a:avLst/>
          </a:prstGeom>
        </p:spPr>
      </p:pic>
      <p:pic>
        <p:nvPicPr>
          <p:cNvPr id="78" name="Image 7" descr="preencoded.png">
            <a:extLst>
              <a:ext uri="{FF2B5EF4-FFF2-40B4-BE49-F238E27FC236}">
                <a16:creationId xmlns:a16="http://schemas.microsoft.com/office/drawing/2014/main" id="{C4D32386-5F4C-540B-64F6-214ECE197D4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80" b="-180"/>
          <a:stretch/>
        </p:blipFill>
        <p:spPr>
          <a:xfrm>
            <a:off x="7283196" y="6214343"/>
            <a:ext cx="95098" cy="152705"/>
          </a:xfrm>
          <a:prstGeom prst="rect">
            <a:avLst/>
          </a:prstGeom>
        </p:spPr>
      </p:pic>
      <p:sp>
        <p:nvSpPr>
          <p:cNvPr id="79" name="Text 7">
            <a:extLst>
              <a:ext uri="{FF2B5EF4-FFF2-40B4-BE49-F238E27FC236}">
                <a16:creationId xmlns:a16="http://schemas.microsoft.com/office/drawing/2014/main" id="{A8FFC46C-65AA-28D5-744F-7EAF12CEF185}"/>
              </a:ext>
            </a:extLst>
          </p:cNvPr>
          <p:cNvSpPr txBox="1"/>
          <p:nvPr/>
        </p:nvSpPr>
        <p:spPr>
          <a:xfrm>
            <a:off x="8192110" y="6205199"/>
            <a:ext cx="77266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D4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고속 검색 엔진 </a:t>
            </a:r>
            <a:endParaRPr lang="en-US" sz="900" dirty="0"/>
          </a:p>
        </p:txBody>
      </p:sp>
      <p:pic>
        <p:nvPicPr>
          <p:cNvPr id="80" name="Image 8" descr="preencoded.png">
            <a:extLst>
              <a:ext uri="{FF2B5EF4-FFF2-40B4-BE49-F238E27FC236}">
                <a16:creationId xmlns:a16="http://schemas.microsoft.com/office/drawing/2014/main" id="{87414A77-949A-A5C3-11B2-0D1D5D832C9B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001914" y="6233545"/>
            <a:ext cx="114300" cy="114300"/>
          </a:xfrm>
          <a:prstGeom prst="rect">
            <a:avLst/>
          </a:prstGeom>
        </p:spPr>
      </p:pic>
      <p:pic>
        <p:nvPicPr>
          <p:cNvPr id="81" name="Image 9" descr="preencoded.png">
            <a:extLst>
              <a:ext uri="{FF2B5EF4-FFF2-40B4-BE49-F238E27FC236}">
                <a16:creationId xmlns:a16="http://schemas.microsoft.com/office/drawing/2014/main" id="{C73E47A7-A5E5-D408-6855-00E632C6A77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80" b="-180"/>
          <a:stretch/>
        </p:blipFill>
        <p:spPr>
          <a:xfrm>
            <a:off x="9510674" y="6214343"/>
            <a:ext cx="95098" cy="152705"/>
          </a:xfrm>
          <a:prstGeom prst="rect">
            <a:avLst/>
          </a:prstGeom>
        </p:spPr>
      </p:pic>
      <p:sp>
        <p:nvSpPr>
          <p:cNvPr id="82" name="Text 8">
            <a:extLst>
              <a:ext uri="{FF2B5EF4-FFF2-40B4-BE49-F238E27FC236}">
                <a16:creationId xmlns:a16="http://schemas.microsoft.com/office/drawing/2014/main" id="{D6E9E6CB-5E79-F688-9D83-3E152AF95614}"/>
              </a:ext>
            </a:extLst>
          </p:cNvPr>
          <p:cNvSpPr txBox="1"/>
          <p:nvPr/>
        </p:nvSpPr>
        <p:spPr>
          <a:xfrm>
            <a:off x="10438790" y="6205199"/>
            <a:ext cx="89154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D4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사용자 조회 결과 </a:t>
            </a:r>
            <a:endParaRPr lang="en-US" sz="900" dirty="0"/>
          </a:p>
        </p:txBody>
      </p:sp>
      <p:pic>
        <p:nvPicPr>
          <p:cNvPr id="83" name="Image 10" descr="preencoded.png">
            <a:extLst>
              <a:ext uri="{FF2B5EF4-FFF2-40B4-BE49-F238E27FC236}">
                <a16:creationId xmlns:a16="http://schemas.microsoft.com/office/drawing/2014/main" id="{C76BD99D-B74A-AA51-03D8-641DFEF5F887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-1911" r="-1911"/>
          <a:stretch/>
        </p:blipFill>
        <p:spPr>
          <a:xfrm>
            <a:off x="10229393" y="6233545"/>
            <a:ext cx="133502" cy="114300"/>
          </a:xfrm>
          <a:prstGeom prst="rect">
            <a:avLst/>
          </a:prstGeom>
        </p:spPr>
      </p:pic>
      <p:sp>
        <p:nvSpPr>
          <p:cNvPr id="84" name="Shape 15">
            <a:extLst>
              <a:ext uri="{FF2B5EF4-FFF2-40B4-BE49-F238E27FC236}">
                <a16:creationId xmlns:a16="http://schemas.microsoft.com/office/drawing/2014/main" id="{2E4A9ED6-3589-896A-68D4-930268882CA5}"/>
              </a:ext>
            </a:extLst>
          </p:cNvPr>
          <p:cNvSpPr/>
          <p:nvPr/>
        </p:nvSpPr>
        <p:spPr>
          <a:xfrm>
            <a:off x="761695" y="1766701"/>
            <a:ext cx="5143500" cy="1600200"/>
          </a:xfrm>
          <a:prstGeom prst="roundRect">
            <a:avLst>
              <a:gd name="adj" fmla="val 6824"/>
            </a:avLst>
          </a:prstGeom>
          <a:solidFill>
            <a:srgbClr val="1B2A4A"/>
          </a:solidFill>
          <a:ln/>
          <a:effectLst>
            <a:outerShdw blurRad="139700" dist="38100" dir="162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5" name="Shape 16">
            <a:extLst>
              <a:ext uri="{FF2B5EF4-FFF2-40B4-BE49-F238E27FC236}">
                <a16:creationId xmlns:a16="http://schemas.microsoft.com/office/drawing/2014/main" id="{66E354DD-3BFA-7BC8-E8DC-17D232311758}"/>
              </a:ext>
            </a:extLst>
          </p:cNvPr>
          <p:cNvSpPr/>
          <p:nvPr/>
        </p:nvSpPr>
        <p:spPr>
          <a:xfrm>
            <a:off x="761695" y="1766701"/>
            <a:ext cx="38405" cy="1600200"/>
          </a:xfrm>
          <a:prstGeom prst="roundRect">
            <a:avLst>
              <a:gd name="adj" fmla="val 253967"/>
            </a:avLst>
          </a:prstGeom>
          <a:solidFill>
            <a:srgbClr val="00D4FF"/>
          </a:solidFill>
          <a:ln w="12700">
            <a:solidFill>
              <a:srgbClr val="00D4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86" name="Image 14" descr="preencoded.png">
            <a:extLst>
              <a:ext uri="{FF2B5EF4-FFF2-40B4-BE49-F238E27FC236}">
                <a16:creationId xmlns:a16="http://schemas.microsoft.com/office/drawing/2014/main" id="{E80B2486-52F3-F1CE-39E1-88E9FCD39AFE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1037844" y="2047422"/>
            <a:ext cx="171907" cy="171907"/>
          </a:xfrm>
          <a:prstGeom prst="rect">
            <a:avLst/>
          </a:prstGeom>
        </p:spPr>
      </p:pic>
      <p:sp>
        <p:nvSpPr>
          <p:cNvPr id="87" name="Text 17">
            <a:extLst>
              <a:ext uri="{FF2B5EF4-FFF2-40B4-BE49-F238E27FC236}">
                <a16:creationId xmlns:a16="http://schemas.microsoft.com/office/drawing/2014/main" id="{09C01405-7EDD-B699-9E70-81918AC48546}"/>
              </a:ext>
            </a:extLst>
          </p:cNvPr>
          <p:cNvSpPr txBox="1"/>
          <p:nvPr/>
        </p:nvSpPr>
        <p:spPr>
          <a:xfrm>
            <a:off x="1209751" y="2004445"/>
            <a:ext cx="120700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목표</a:t>
            </a:r>
            <a:endParaRPr lang="en-US" sz="1300" dirty="0"/>
          </a:p>
        </p:txBody>
      </p:sp>
      <p:sp>
        <p:nvSpPr>
          <p:cNvPr id="88" name="Text 18">
            <a:extLst>
              <a:ext uri="{FF2B5EF4-FFF2-40B4-BE49-F238E27FC236}">
                <a16:creationId xmlns:a16="http://schemas.microsoft.com/office/drawing/2014/main" id="{26010F35-706B-08A2-F8DF-98D6FADCB8AA}"/>
              </a:ext>
            </a:extLst>
          </p:cNvPr>
          <p:cNvSpPr txBox="1"/>
          <p:nvPr/>
        </p:nvSpPr>
        <p:spPr>
          <a:xfrm>
            <a:off x="1037844" y="2404953"/>
            <a:ext cx="47055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E0E0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기존 시스템의 속도 저하 문제를 해결하고, 대용량 카드 승인/청구 데이터를 실시간으로 검색할 수 있는 고성능 검색 엔진 구축</a:t>
            </a:r>
            <a:endParaRPr lang="en-US" sz="1100" dirty="0"/>
          </a:p>
        </p:txBody>
      </p:sp>
      <p:sp>
        <p:nvSpPr>
          <p:cNvPr id="89" name="Shape 19">
            <a:extLst>
              <a:ext uri="{FF2B5EF4-FFF2-40B4-BE49-F238E27FC236}">
                <a16:creationId xmlns:a16="http://schemas.microsoft.com/office/drawing/2014/main" id="{54940F00-7DAC-00CE-DAD3-52D625506D26}"/>
              </a:ext>
            </a:extLst>
          </p:cNvPr>
          <p:cNvSpPr/>
          <p:nvPr/>
        </p:nvSpPr>
        <p:spPr>
          <a:xfrm>
            <a:off x="761695" y="3568124"/>
            <a:ext cx="5143500" cy="2190902"/>
          </a:xfrm>
          <a:prstGeom prst="roundRect">
            <a:avLst>
              <a:gd name="adj" fmla="val 2903"/>
            </a:avLst>
          </a:prstGeom>
          <a:solidFill>
            <a:srgbClr val="1B2A4A"/>
          </a:solidFill>
          <a:ln/>
          <a:effectLst>
            <a:outerShdw blurRad="139700" dist="38100" dir="162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0" name="Shape 20">
            <a:extLst>
              <a:ext uri="{FF2B5EF4-FFF2-40B4-BE49-F238E27FC236}">
                <a16:creationId xmlns:a16="http://schemas.microsoft.com/office/drawing/2014/main" id="{2A418E2D-C243-BBED-B774-FC6FD023A8CE}"/>
              </a:ext>
            </a:extLst>
          </p:cNvPr>
          <p:cNvSpPr/>
          <p:nvPr/>
        </p:nvSpPr>
        <p:spPr>
          <a:xfrm>
            <a:off x="761695" y="3568124"/>
            <a:ext cx="38405" cy="2190902"/>
          </a:xfrm>
          <a:prstGeom prst="roundRect">
            <a:avLst>
              <a:gd name="adj" fmla="val 165631"/>
            </a:avLst>
          </a:prstGeom>
          <a:solidFill>
            <a:srgbClr val="00D4FF"/>
          </a:solidFill>
          <a:ln w="12700">
            <a:solidFill>
              <a:srgbClr val="00D4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91" name="Image 15" descr="preencoded.png">
            <a:extLst>
              <a:ext uri="{FF2B5EF4-FFF2-40B4-BE49-F238E27FC236}">
                <a16:creationId xmlns:a16="http://schemas.microsoft.com/office/drawing/2014/main" id="{DD9DE302-BC3A-07EF-58B3-8F698D14B0F6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-1064" r="-1064"/>
          <a:stretch/>
        </p:blipFill>
        <p:spPr>
          <a:xfrm>
            <a:off x="1037844" y="3848844"/>
            <a:ext cx="219456" cy="171907"/>
          </a:xfrm>
          <a:prstGeom prst="rect">
            <a:avLst/>
          </a:prstGeom>
        </p:spPr>
      </p:pic>
      <p:sp>
        <p:nvSpPr>
          <p:cNvPr id="92" name="Text 21">
            <a:extLst>
              <a:ext uri="{FF2B5EF4-FFF2-40B4-BE49-F238E27FC236}">
                <a16:creationId xmlns:a16="http://schemas.microsoft.com/office/drawing/2014/main" id="{526505BC-75FF-FF82-4D49-03B3247375A9}"/>
              </a:ext>
            </a:extLst>
          </p:cNvPr>
          <p:cNvSpPr txBox="1"/>
          <p:nvPr/>
        </p:nvSpPr>
        <p:spPr>
          <a:xfrm>
            <a:off x="1257300" y="3805868"/>
            <a:ext cx="161025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역할 및 기여</a:t>
            </a:r>
            <a:endParaRPr lang="en-US" sz="1300" dirty="0"/>
          </a:p>
        </p:txBody>
      </p:sp>
      <p:sp>
        <p:nvSpPr>
          <p:cNvPr id="93" name="Text 22">
            <a:extLst>
              <a:ext uri="{FF2B5EF4-FFF2-40B4-BE49-F238E27FC236}">
                <a16:creationId xmlns:a16="http://schemas.microsoft.com/office/drawing/2014/main" id="{A8AECD4D-646C-99B2-34DC-5068F1ADA6E4}"/>
              </a:ext>
            </a:extLst>
          </p:cNvPr>
          <p:cNvSpPr txBox="1"/>
          <p:nvPr/>
        </p:nvSpPr>
        <p:spPr>
          <a:xfrm>
            <a:off x="1037844" y="4206375"/>
            <a:ext cx="47439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0E0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검색 엔진 및 색인(Index) 구조 설계·구현</a:t>
            </a:r>
            <a:endParaRPr lang="en-US" sz="1100" dirty="0"/>
          </a:p>
        </p:txBody>
      </p:sp>
      <p:sp>
        <p:nvSpPr>
          <p:cNvPr id="94" name="Text 23">
            <a:extLst>
              <a:ext uri="{FF2B5EF4-FFF2-40B4-BE49-F238E27FC236}">
                <a16:creationId xmlns:a16="http://schemas.microsoft.com/office/drawing/2014/main" id="{A6D2ACA0-3E04-211B-9435-E676B0AAEFB9}"/>
              </a:ext>
            </a:extLst>
          </p:cNvPr>
          <p:cNvSpPr txBox="1"/>
          <p:nvPr/>
        </p:nvSpPr>
        <p:spPr>
          <a:xfrm>
            <a:off x="1228954" y="4530072"/>
            <a:ext cx="462960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0BEC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대용량 데이터 처리를 위한 파티셔닝 전략 수립</a:t>
            </a:r>
            <a:endParaRPr lang="en-US" sz="1000" dirty="0"/>
          </a:p>
        </p:txBody>
      </p:sp>
      <p:sp>
        <p:nvSpPr>
          <p:cNvPr id="95" name="Text 24">
            <a:extLst>
              <a:ext uri="{FF2B5EF4-FFF2-40B4-BE49-F238E27FC236}">
                <a16:creationId xmlns:a16="http://schemas.microsoft.com/office/drawing/2014/main" id="{6DED98E2-C96F-09A6-684F-0449B4D0E8F1}"/>
              </a:ext>
            </a:extLst>
          </p:cNvPr>
          <p:cNvSpPr txBox="1"/>
          <p:nvPr/>
        </p:nvSpPr>
        <p:spPr>
          <a:xfrm>
            <a:off x="1228954" y="4777875"/>
            <a:ext cx="462960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0BEC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검색 성능 최적화를 위한 인덱싱 구조 설계</a:t>
            </a:r>
            <a:endParaRPr lang="en-US" sz="1000" dirty="0"/>
          </a:p>
        </p:txBody>
      </p:sp>
      <p:sp>
        <p:nvSpPr>
          <p:cNvPr id="96" name="Text 25">
            <a:extLst>
              <a:ext uri="{FF2B5EF4-FFF2-40B4-BE49-F238E27FC236}">
                <a16:creationId xmlns:a16="http://schemas.microsoft.com/office/drawing/2014/main" id="{6142A387-F326-3D2F-C0D6-0FF602B38292}"/>
              </a:ext>
            </a:extLst>
          </p:cNvPr>
          <p:cNvSpPr txBox="1"/>
          <p:nvPr/>
        </p:nvSpPr>
        <p:spPr>
          <a:xfrm>
            <a:off x="1228954" y="5025677"/>
            <a:ext cx="462960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0BEC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Legacy 시스템과의 데이터 연동 인터페이스 개발</a:t>
            </a:r>
            <a:endParaRPr lang="en-US" sz="1000" dirty="0"/>
          </a:p>
        </p:txBody>
      </p:sp>
      <p:sp>
        <p:nvSpPr>
          <p:cNvPr id="97" name="Text 26">
            <a:extLst>
              <a:ext uri="{FF2B5EF4-FFF2-40B4-BE49-F238E27FC236}">
                <a16:creationId xmlns:a16="http://schemas.microsoft.com/office/drawing/2014/main" id="{0BA4DA2F-9590-2728-F9D0-36CBE2E4EC5B}"/>
              </a:ext>
            </a:extLst>
          </p:cNvPr>
          <p:cNvSpPr txBox="1"/>
          <p:nvPr/>
        </p:nvSpPr>
        <p:spPr>
          <a:xfrm>
            <a:off x="1228954" y="5272565"/>
            <a:ext cx="462960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0BEC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 검색 패턴 분석을 통한 쿼리 튜닝</a:t>
            </a:r>
            <a:endParaRPr lang="en-US" sz="1000" dirty="0"/>
          </a:p>
        </p:txBody>
      </p:sp>
      <p:sp>
        <p:nvSpPr>
          <p:cNvPr id="98" name="Shape 27">
            <a:extLst>
              <a:ext uri="{FF2B5EF4-FFF2-40B4-BE49-F238E27FC236}">
                <a16:creationId xmlns:a16="http://schemas.microsoft.com/office/drawing/2014/main" id="{374C4C76-CF2C-FB8F-0018-00C3849F8D99}"/>
              </a:ext>
            </a:extLst>
          </p:cNvPr>
          <p:cNvSpPr/>
          <p:nvPr/>
        </p:nvSpPr>
        <p:spPr>
          <a:xfrm>
            <a:off x="6286500" y="1766701"/>
            <a:ext cx="5143500" cy="1600200"/>
          </a:xfrm>
          <a:prstGeom prst="roundRect">
            <a:avLst>
              <a:gd name="adj" fmla="val 5442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9" name="Text 28">
            <a:extLst>
              <a:ext uri="{FF2B5EF4-FFF2-40B4-BE49-F238E27FC236}">
                <a16:creationId xmlns:a16="http://schemas.microsoft.com/office/drawing/2014/main" id="{71FF409E-163B-82A0-4A73-157EF72E56FF}"/>
              </a:ext>
            </a:extLst>
          </p:cNvPr>
          <p:cNvSpPr txBox="1"/>
          <p:nvPr/>
        </p:nvSpPr>
        <p:spPr>
          <a:xfrm>
            <a:off x="6534302" y="2014504"/>
            <a:ext cx="47631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75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Technology Stack</a:t>
            </a:r>
            <a:endParaRPr lang="en-US" sz="1200" dirty="0"/>
          </a:p>
        </p:txBody>
      </p:sp>
      <p:sp>
        <p:nvSpPr>
          <p:cNvPr id="100" name="Shape 29">
            <a:extLst>
              <a:ext uri="{FF2B5EF4-FFF2-40B4-BE49-F238E27FC236}">
                <a16:creationId xmlns:a16="http://schemas.microsoft.com/office/drawing/2014/main" id="{742BABE2-DF38-09B3-088F-E1E7ED4F48CC}"/>
              </a:ext>
            </a:extLst>
          </p:cNvPr>
          <p:cNvSpPr/>
          <p:nvPr/>
        </p:nvSpPr>
        <p:spPr>
          <a:xfrm>
            <a:off x="6534302" y="2385750"/>
            <a:ext cx="1399946" cy="323698"/>
          </a:xfrm>
          <a:prstGeom prst="roundRect">
            <a:avLst>
              <a:gd name="adj" fmla="val 66467"/>
            </a:avLst>
          </a:prstGeom>
          <a:solidFill>
            <a:srgbClr val="00D4FF">
              <a:alpha val="10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1" name="Text 30">
            <a:extLst>
              <a:ext uri="{FF2B5EF4-FFF2-40B4-BE49-F238E27FC236}">
                <a16:creationId xmlns:a16="http://schemas.microsoft.com/office/drawing/2014/main" id="{5B92D2CD-C4FC-31E6-9DF8-0F719569E851}"/>
              </a:ext>
            </a:extLst>
          </p:cNvPr>
          <p:cNvSpPr txBox="1"/>
          <p:nvPr/>
        </p:nvSpPr>
        <p:spPr>
          <a:xfrm>
            <a:off x="6570162" y="2421610"/>
            <a:ext cx="1457554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63500" rIns="114300" bIns="6350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00D4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Data Search Engine</a:t>
            </a:r>
            <a:endParaRPr lang="en-US" sz="900" dirty="0"/>
          </a:p>
        </p:txBody>
      </p:sp>
      <p:sp>
        <p:nvSpPr>
          <p:cNvPr id="102" name="Shape 31">
            <a:extLst>
              <a:ext uri="{FF2B5EF4-FFF2-40B4-BE49-F238E27FC236}">
                <a16:creationId xmlns:a16="http://schemas.microsoft.com/office/drawing/2014/main" id="{AADE8939-6399-8911-5955-C5CB7BD08370}"/>
              </a:ext>
            </a:extLst>
          </p:cNvPr>
          <p:cNvSpPr/>
          <p:nvPr/>
        </p:nvSpPr>
        <p:spPr>
          <a:xfrm>
            <a:off x="8028432" y="2385750"/>
            <a:ext cx="761695" cy="323698"/>
          </a:xfrm>
          <a:prstGeom prst="roundRect">
            <a:avLst>
              <a:gd name="adj" fmla="val 66467"/>
            </a:avLst>
          </a:prstGeom>
          <a:solidFill>
            <a:srgbClr val="00D4FF">
              <a:alpha val="10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3" name="Text 32">
            <a:extLst>
              <a:ext uri="{FF2B5EF4-FFF2-40B4-BE49-F238E27FC236}">
                <a16:creationId xmlns:a16="http://schemas.microsoft.com/office/drawing/2014/main" id="{DC3934A6-F0FC-0E2A-860A-175E91CD92F5}"/>
              </a:ext>
            </a:extLst>
          </p:cNvPr>
          <p:cNvSpPr txBox="1"/>
          <p:nvPr/>
        </p:nvSpPr>
        <p:spPr>
          <a:xfrm>
            <a:off x="8064292" y="2421610"/>
            <a:ext cx="81930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63500" rIns="114300" bIns="6350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00D4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Indexing</a:t>
            </a:r>
            <a:endParaRPr lang="en-US" sz="900" dirty="0"/>
          </a:p>
        </p:txBody>
      </p:sp>
      <p:sp>
        <p:nvSpPr>
          <p:cNvPr id="104" name="Shape 33">
            <a:extLst>
              <a:ext uri="{FF2B5EF4-FFF2-40B4-BE49-F238E27FC236}">
                <a16:creationId xmlns:a16="http://schemas.microsoft.com/office/drawing/2014/main" id="{2D9C7D91-B2D3-D1E3-E411-4697F792F579}"/>
              </a:ext>
            </a:extLst>
          </p:cNvPr>
          <p:cNvSpPr/>
          <p:nvPr/>
        </p:nvSpPr>
        <p:spPr>
          <a:xfrm>
            <a:off x="8882482" y="2385750"/>
            <a:ext cx="933602" cy="323698"/>
          </a:xfrm>
          <a:prstGeom prst="roundRect">
            <a:avLst>
              <a:gd name="adj" fmla="val 66467"/>
            </a:avLst>
          </a:prstGeom>
          <a:solidFill>
            <a:srgbClr val="00D4FF">
              <a:alpha val="10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5" name="Text 34">
            <a:extLst>
              <a:ext uri="{FF2B5EF4-FFF2-40B4-BE49-F238E27FC236}">
                <a16:creationId xmlns:a16="http://schemas.microsoft.com/office/drawing/2014/main" id="{7BF081DA-DFD9-5033-848D-847311108749}"/>
              </a:ext>
            </a:extLst>
          </p:cNvPr>
          <p:cNvSpPr txBox="1"/>
          <p:nvPr/>
        </p:nvSpPr>
        <p:spPr>
          <a:xfrm>
            <a:off x="8918342" y="2421610"/>
            <a:ext cx="991210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63500" rIns="114300" bIns="6350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00D4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SQL Tuning</a:t>
            </a:r>
            <a:endParaRPr lang="en-US" sz="900" dirty="0"/>
          </a:p>
        </p:txBody>
      </p:sp>
      <p:sp>
        <p:nvSpPr>
          <p:cNvPr id="106" name="Shape 35">
            <a:extLst>
              <a:ext uri="{FF2B5EF4-FFF2-40B4-BE49-F238E27FC236}">
                <a16:creationId xmlns:a16="http://schemas.microsoft.com/office/drawing/2014/main" id="{BCC71A88-5F11-1C9D-1600-0A4D8238F5F5}"/>
              </a:ext>
            </a:extLst>
          </p:cNvPr>
          <p:cNvSpPr/>
          <p:nvPr/>
        </p:nvSpPr>
        <p:spPr>
          <a:xfrm>
            <a:off x="9905695" y="2385750"/>
            <a:ext cx="838505" cy="323698"/>
          </a:xfrm>
          <a:prstGeom prst="roundRect">
            <a:avLst>
              <a:gd name="adj" fmla="val 66467"/>
            </a:avLst>
          </a:prstGeom>
          <a:solidFill>
            <a:srgbClr val="00D4FF">
              <a:alpha val="10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7" name="Text 36">
            <a:extLst>
              <a:ext uri="{FF2B5EF4-FFF2-40B4-BE49-F238E27FC236}">
                <a16:creationId xmlns:a16="http://schemas.microsoft.com/office/drawing/2014/main" id="{B6D1027F-3889-EF63-E81D-FD5E61D84193}"/>
              </a:ext>
            </a:extLst>
          </p:cNvPr>
          <p:cNvSpPr txBox="1"/>
          <p:nvPr/>
        </p:nvSpPr>
        <p:spPr>
          <a:xfrm>
            <a:off x="9941555" y="2421610"/>
            <a:ext cx="8961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63500" rIns="114300" bIns="6350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00D4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Oracle DB</a:t>
            </a:r>
            <a:endParaRPr lang="en-US" sz="900" dirty="0"/>
          </a:p>
        </p:txBody>
      </p:sp>
      <p:sp>
        <p:nvSpPr>
          <p:cNvPr id="108" name="Shape 37">
            <a:extLst>
              <a:ext uri="{FF2B5EF4-FFF2-40B4-BE49-F238E27FC236}">
                <a16:creationId xmlns:a16="http://schemas.microsoft.com/office/drawing/2014/main" id="{AF8DBD3E-8934-4640-11FE-9633ED7931CC}"/>
              </a:ext>
            </a:extLst>
          </p:cNvPr>
          <p:cNvSpPr/>
          <p:nvPr/>
        </p:nvSpPr>
        <p:spPr>
          <a:xfrm>
            <a:off x="6534302" y="2799973"/>
            <a:ext cx="961949" cy="323698"/>
          </a:xfrm>
          <a:prstGeom prst="roundRect">
            <a:avLst>
              <a:gd name="adj" fmla="val 66467"/>
            </a:avLst>
          </a:prstGeom>
          <a:solidFill>
            <a:srgbClr val="00D4FF">
              <a:alpha val="10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9" name="Text 38">
            <a:extLst>
              <a:ext uri="{FF2B5EF4-FFF2-40B4-BE49-F238E27FC236}">
                <a16:creationId xmlns:a16="http://schemas.microsoft.com/office/drawing/2014/main" id="{D907B844-4E20-3863-C5B7-F2F74C1B02DE}"/>
              </a:ext>
            </a:extLst>
          </p:cNvPr>
          <p:cNvSpPr txBox="1"/>
          <p:nvPr/>
        </p:nvSpPr>
        <p:spPr>
          <a:xfrm>
            <a:off x="6570162" y="2835833"/>
            <a:ext cx="1019556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63500" rIns="114300" bIns="6350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00D4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Java/Spring</a:t>
            </a:r>
            <a:endParaRPr lang="en-US" sz="900" dirty="0"/>
          </a:p>
        </p:txBody>
      </p:sp>
      <p:sp>
        <p:nvSpPr>
          <p:cNvPr id="110" name="Shape 39">
            <a:extLst>
              <a:ext uri="{FF2B5EF4-FFF2-40B4-BE49-F238E27FC236}">
                <a16:creationId xmlns:a16="http://schemas.microsoft.com/office/drawing/2014/main" id="{E536C6D9-74A6-465E-C5BE-352FCC05D9B6}"/>
              </a:ext>
            </a:extLst>
          </p:cNvPr>
          <p:cNvSpPr/>
          <p:nvPr/>
        </p:nvSpPr>
        <p:spPr>
          <a:xfrm>
            <a:off x="7588606" y="2799973"/>
            <a:ext cx="1143000" cy="323698"/>
          </a:xfrm>
          <a:prstGeom prst="roundRect">
            <a:avLst>
              <a:gd name="adj" fmla="val 66467"/>
            </a:avLst>
          </a:prstGeom>
          <a:solidFill>
            <a:srgbClr val="00D4FF">
              <a:alpha val="10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1" name="Text 40">
            <a:extLst>
              <a:ext uri="{FF2B5EF4-FFF2-40B4-BE49-F238E27FC236}">
                <a16:creationId xmlns:a16="http://schemas.microsoft.com/office/drawing/2014/main" id="{86A41713-B842-1D57-76B5-8745B33FBD39}"/>
              </a:ext>
            </a:extLst>
          </p:cNvPr>
          <p:cNvSpPr txBox="1"/>
          <p:nvPr/>
        </p:nvSpPr>
        <p:spPr>
          <a:xfrm>
            <a:off x="7624466" y="2835833"/>
            <a:ext cx="1200607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63500" rIns="114300" bIns="6350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00D4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ETL Processing</a:t>
            </a:r>
            <a:endParaRPr lang="en-US" sz="900" dirty="0"/>
          </a:p>
        </p:txBody>
      </p:sp>
      <p:sp>
        <p:nvSpPr>
          <p:cNvPr id="112" name="Shape 41">
            <a:extLst>
              <a:ext uri="{FF2B5EF4-FFF2-40B4-BE49-F238E27FC236}">
                <a16:creationId xmlns:a16="http://schemas.microsoft.com/office/drawing/2014/main" id="{133D2291-0C4D-A139-624A-35F96D14A360}"/>
              </a:ext>
            </a:extLst>
          </p:cNvPr>
          <p:cNvSpPr/>
          <p:nvPr/>
        </p:nvSpPr>
        <p:spPr>
          <a:xfrm>
            <a:off x="6286500" y="3604645"/>
            <a:ext cx="5143500" cy="2150868"/>
          </a:xfrm>
          <a:prstGeom prst="roundRect">
            <a:avLst>
              <a:gd name="adj" fmla="val 2400"/>
            </a:avLst>
          </a:prstGeom>
          <a:solidFill>
            <a:srgbClr val="1B2A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13" name="Image 16" descr="preencoded.png">
            <a:extLst>
              <a:ext uri="{FF2B5EF4-FFF2-40B4-BE49-F238E27FC236}">
                <a16:creationId xmlns:a16="http://schemas.microsoft.com/office/drawing/2014/main" id="{39E619AB-25C7-9790-2798-609487A3D6E5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t="-842" b="-842"/>
          <a:stretch/>
        </p:blipFill>
        <p:spPr>
          <a:xfrm>
            <a:off x="6524244" y="3886281"/>
            <a:ext cx="190195" cy="171907"/>
          </a:xfrm>
          <a:prstGeom prst="rect">
            <a:avLst/>
          </a:prstGeom>
        </p:spPr>
      </p:pic>
      <p:sp>
        <p:nvSpPr>
          <p:cNvPr id="114" name="Text 42">
            <a:extLst>
              <a:ext uri="{FF2B5EF4-FFF2-40B4-BE49-F238E27FC236}">
                <a16:creationId xmlns:a16="http://schemas.microsoft.com/office/drawing/2014/main" id="{C581780D-5012-B428-7494-E9AAB3AB6417}"/>
              </a:ext>
            </a:extLst>
          </p:cNvPr>
          <p:cNvSpPr txBox="1"/>
          <p:nvPr/>
        </p:nvSpPr>
        <p:spPr>
          <a:xfrm>
            <a:off x="6771916" y="3852731"/>
            <a:ext cx="245973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성과 (Key Outcomes)</a:t>
            </a:r>
            <a:endParaRPr lang="en-US" sz="1300" dirty="0"/>
          </a:p>
        </p:txBody>
      </p:sp>
      <p:sp>
        <p:nvSpPr>
          <p:cNvPr id="115" name="Shape 43">
            <a:extLst>
              <a:ext uri="{FF2B5EF4-FFF2-40B4-BE49-F238E27FC236}">
                <a16:creationId xmlns:a16="http://schemas.microsoft.com/office/drawing/2014/main" id="{496B2D0A-4EE9-60F0-3994-791AA3B75685}"/>
              </a:ext>
            </a:extLst>
          </p:cNvPr>
          <p:cNvSpPr/>
          <p:nvPr/>
        </p:nvSpPr>
        <p:spPr>
          <a:xfrm>
            <a:off x="6524244" y="4242897"/>
            <a:ext cx="381305" cy="381305"/>
          </a:xfrm>
          <a:prstGeom prst="ellipse">
            <a:avLst/>
          </a:prstGeom>
          <a:solidFill>
            <a:srgbClr val="00D4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16" name="Image 17" descr="preencoded.png">
            <a:extLst>
              <a:ext uri="{FF2B5EF4-FFF2-40B4-BE49-F238E27FC236}">
                <a16:creationId xmlns:a16="http://schemas.microsoft.com/office/drawing/2014/main" id="{88C1B37E-56E4-90B9-2707-37C136A4ACBE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6638544" y="4357197"/>
            <a:ext cx="152705" cy="152705"/>
          </a:xfrm>
          <a:prstGeom prst="rect">
            <a:avLst/>
          </a:prstGeom>
        </p:spPr>
      </p:pic>
      <p:sp>
        <p:nvSpPr>
          <p:cNvPr id="117" name="Text 44">
            <a:extLst>
              <a:ext uri="{FF2B5EF4-FFF2-40B4-BE49-F238E27FC236}">
                <a16:creationId xmlns:a16="http://schemas.microsoft.com/office/drawing/2014/main" id="{F67556BB-5CE1-846B-3D3E-CD242611D527}"/>
              </a:ext>
            </a:extLst>
          </p:cNvPr>
          <p:cNvSpPr txBox="1"/>
          <p:nvPr/>
        </p:nvSpPr>
        <p:spPr>
          <a:xfrm>
            <a:off x="7048195" y="4242897"/>
            <a:ext cx="4334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검색 응답 속도 획기적 개선</a:t>
            </a:r>
            <a:endParaRPr lang="en-US" sz="1200" dirty="0"/>
          </a:p>
        </p:txBody>
      </p:sp>
      <p:sp>
        <p:nvSpPr>
          <p:cNvPr id="118" name="Text 45">
            <a:extLst>
              <a:ext uri="{FF2B5EF4-FFF2-40B4-BE49-F238E27FC236}">
                <a16:creationId xmlns:a16="http://schemas.microsoft.com/office/drawing/2014/main" id="{B46B93CA-C337-12D1-C420-149A3718EDAF}"/>
              </a:ext>
            </a:extLst>
          </p:cNvPr>
          <p:cNvSpPr txBox="1"/>
          <p:nvPr/>
        </p:nvSpPr>
        <p:spPr>
          <a:xfrm>
            <a:off x="7048195" y="4519045"/>
            <a:ext cx="4219956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B0BEC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기존 수십 초 소요되던 복합 조회 쿼리를 초단위 이내로 단축하여 업무 효율성 극대화</a:t>
            </a:r>
            <a:endParaRPr lang="en-US" sz="1000" dirty="0"/>
          </a:p>
        </p:txBody>
      </p:sp>
      <p:sp>
        <p:nvSpPr>
          <p:cNvPr id="119" name="Shape 46">
            <a:extLst>
              <a:ext uri="{FF2B5EF4-FFF2-40B4-BE49-F238E27FC236}">
                <a16:creationId xmlns:a16="http://schemas.microsoft.com/office/drawing/2014/main" id="{6503817C-DED2-A670-7D3A-FDE74ED7204E}"/>
              </a:ext>
            </a:extLst>
          </p:cNvPr>
          <p:cNvSpPr/>
          <p:nvPr/>
        </p:nvSpPr>
        <p:spPr>
          <a:xfrm>
            <a:off x="6524244" y="5109748"/>
            <a:ext cx="381305" cy="381305"/>
          </a:xfrm>
          <a:prstGeom prst="ellipse">
            <a:avLst/>
          </a:prstGeom>
          <a:solidFill>
            <a:srgbClr val="00D4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20" name="Image 18" descr="preencoded.png">
            <a:extLst>
              <a:ext uri="{FF2B5EF4-FFF2-40B4-BE49-F238E27FC236}">
                <a16:creationId xmlns:a16="http://schemas.microsoft.com/office/drawing/2014/main" id="{6517D014-F148-3E36-EC3A-69D95DBCD010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6638544" y="5224048"/>
            <a:ext cx="152705" cy="152705"/>
          </a:xfrm>
          <a:prstGeom prst="rect">
            <a:avLst/>
          </a:prstGeom>
        </p:spPr>
      </p:pic>
      <p:sp>
        <p:nvSpPr>
          <p:cNvPr id="121" name="Text 47">
            <a:extLst>
              <a:ext uri="{FF2B5EF4-FFF2-40B4-BE49-F238E27FC236}">
                <a16:creationId xmlns:a16="http://schemas.microsoft.com/office/drawing/2014/main" id="{28796AD1-83C7-FF5B-8B71-D3E642B0CA61}"/>
              </a:ext>
            </a:extLst>
          </p:cNvPr>
          <p:cNvSpPr txBox="1"/>
          <p:nvPr/>
        </p:nvSpPr>
        <p:spPr>
          <a:xfrm>
            <a:off x="7048195" y="5109748"/>
            <a:ext cx="39438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안정적 대규모 운영 환경 제공</a:t>
            </a:r>
            <a:endParaRPr lang="en-US" sz="1200" dirty="0"/>
          </a:p>
        </p:txBody>
      </p:sp>
      <p:sp>
        <p:nvSpPr>
          <p:cNvPr id="122" name="Text 48">
            <a:extLst>
              <a:ext uri="{FF2B5EF4-FFF2-40B4-BE49-F238E27FC236}">
                <a16:creationId xmlns:a16="http://schemas.microsoft.com/office/drawing/2014/main" id="{04430F44-0582-F517-57CE-F4933CBFE985}"/>
              </a:ext>
            </a:extLst>
          </p:cNvPr>
          <p:cNvSpPr txBox="1"/>
          <p:nvPr/>
        </p:nvSpPr>
        <p:spPr>
          <a:xfrm>
            <a:off x="7048195" y="5385897"/>
            <a:ext cx="443118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0BEC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13,000명 임직원이 동시 접속하는 환경에서도 무중단/고가용성 확보</a:t>
            </a:r>
            <a:endParaRPr lang="en-US" sz="1000" dirty="0"/>
          </a:p>
        </p:txBody>
      </p:sp>
      <p:sp>
        <p:nvSpPr>
          <p:cNvPr id="124" name="Text 11">
            <a:extLst>
              <a:ext uri="{FF2B5EF4-FFF2-40B4-BE49-F238E27FC236}">
                <a16:creationId xmlns:a16="http://schemas.microsoft.com/office/drawing/2014/main" id="{4D50C244-203F-E15C-243D-45CFD1A3F0F5}"/>
              </a:ext>
            </a:extLst>
          </p:cNvPr>
          <p:cNvSpPr txBox="1"/>
          <p:nvPr/>
        </p:nvSpPr>
        <p:spPr>
          <a:xfrm>
            <a:off x="761695" y="914400"/>
            <a:ext cx="8639251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IBK기업은행 카드 데이터 검색 솔루션</a:t>
            </a:r>
            <a:endParaRPr lang="en-US" sz="3100" dirty="0"/>
          </a:p>
        </p:txBody>
      </p:sp>
      <p:pic>
        <p:nvPicPr>
          <p:cNvPr id="125" name="Image 11" descr="preencoded.png">
            <a:extLst>
              <a:ext uri="{FF2B5EF4-FFF2-40B4-BE49-F238E27FC236}">
                <a16:creationId xmlns:a16="http://schemas.microsoft.com/office/drawing/2014/main" id="{3749D2F9-34BA-E7D1-6B27-EA8A81D6CCCD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 l="-31409" r="-31409"/>
          <a:stretch/>
        </p:blipFill>
        <p:spPr>
          <a:xfrm>
            <a:off x="9882835" y="899770"/>
            <a:ext cx="190195" cy="133502"/>
          </a:xfrm>
          <a:prstGeom prst="rect">
            <a:avLst/>
          </a:prstGeom>
        </p:spPr>
      </p:pic>
      <p:sp>
        <p:nvSpPr>
          <p:cNvPr id="126" name="Text 12">
            <a:extLst>
              <a:ext uri="{FF2B5EF4-FFF2-40B4-BE49-F238E27FC236}">
                <a16:creationId xmlns:a16="http://schemas.microsoft.com/office/drawing/2014/main" id="{BC80163B-932E-783A-EDC3-E1FD21573473}"/>
              </a:ext>
            </a:extLst>
          </p:cNvPr>
          <p:cNvSpPr txBox="1"/>
          <p:nvPr/>
        </p:nvSpPr>
        <p:spPr>
          <a:xfrm>
            <a:off x="9814255" y="866851"/>
            <a:ext cx="162123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0BEC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2015년 (구축 및 안정화)</a:t>
            </a:r>
            <a:endParaRPr lang="en-US" sz="1000" dirty="0"/>
          </a:p>
        </p:txBody>
      </p:sp>
      <p:pic>
        <p:nvPicPr>
          <p:cNvPr id="127" name="Image 12" descr="preencoded.png">
            <a:extLst>
              <a:ext uri="{FF2B5EF4-FFF2-40B4-BE49-F238E27FC236}">
                <a16:creationId xmlns:a16="http://schemas.microsoft.com/office/drawing/2014/main" id="{8A174475-71AE-07B1-B3EC-5A14A36D5ED7}"/>
              </a:ext>
            </a:extLst>
          </p:cNvPr>
          <p:cNvPicPr>
            <a:picLocks noChangeAspect="1"/>
          </p:cNvPicPr>
          <p:nvPr/>
        </p:nvPicPr>
        <p:blipFill>
          <a:blip r:embed="rId15"/>
          <a:srcRect l="-6986" r="-6986"/>
          <a:stretch/>
        </p:blipFill>
        <p:spPr>
          <a:xfrm>
            <a:off x="9366199" y="1147572"/>
            <a:ext cx="190195" cy="133502"/>
          </a:xfrm>
          <a:prstGeom prst="rect">
            <a:avLst/>
          </a:prstGeom>
        </p:spPr>
      </p:pic>
      <p:sp>
        <p:nvSpPr>
          <p:cNvPr id="128" name="Text 13">
            <a:extLst>
              <a:ext uri="{FF2B5EF4-FFF2-40B4-BE49-F238E27FC236}">
                <a16:creationId xmlns:a16="http://schemas.microsoft.com/office/drawing/2014/main" id="{8F6907F8-A0F2-2376-5F14-5A25D686F18D}"/>
              </a:ext>
            </a:extLst>
          </p:cNvPr>
          <p:cNvSpPr txBox="1"/>
          <p:nvPr/>
        </p:nvSpPr>
        <p:spPr>
          <a:xfrm>
            <a:off x="9199778" y="1114654"/>
            <a:ext cx="223296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0BEC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사용자: 13,000명 (그룹사 임직원)</a:t>
            </a:r>
            <a:endParaRPr lang="en-US" sz="1000" dirty="0"/>
          </a:p>
        </p:txBody>
      </p:sp>
      <p:pic>
        <p:nvPicPr>
          <p:cNvPr id="129" name="Image 13" descr="preencoded.png">
            <a:extLst>
              <a:ext uri="{FF2B5EF4-FFF2-40B4-BE49-F238E27FC236}">
                <a16:creationId xmlns:a16="http://schemas.microsoft.com/office/drawing/2014/main" id="{584829E5-0BD5-BAFB-EC56-76AA8365C8B2}"/>
              </a:ext>
            </a:extLst>
          </p:cNvPr>
          <p:cNvPicPr>
            <a:picLocks noChangeAspect="1"/>
          </p:cNvPicPr>
          <p:nvPr/>
        </p:nvPicPr>
        <p:blipFill>
          <a:blip r:embed="rId16"/>
          <a:srcRect l="-44978" r="-44978"/>
          <a:stretch/>
        </p:blipFill>
        <p:spPr>
          <a:xfrm>
            <a:off x="10093147" y="1395374"/>
            <a:ext cx="190195" cy="133502"/>
          </a:xfrm>
          <a:prstGeom prst="rect">
            <a:avLst/>
          </a:prstGeom>
        </p:spPr>
      </p:pic>
      <p:sp>
        <p:nvSpPr>
          <p:cNvPr id="130" name="Text 14">
            <a:extLst>
              <a:ext uri="{FF2B5EF4-FFF2-40B4-BE49-F238E27FC236}">
                <a16:creationId xmlns:a16="http://schemas.microsoft.com/office/drawing/2014/main" id="{458FF5D2-AF04-A771-3D54-8D7084A7A58C}"/>
              </a:ext>
            </a:extLst>
          </p:cNvPr>
          <p:cNvSpPr txBox="1"/>
          <p:nvPr/>
        </p:nvSpPr>
        <p:spPr>
          <a:xfrm>
            <a:off x="10048342" y="1362456"/>
            <a:ext cx="138897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0BEC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고객사: IBK기업은행</a:t>
            </a:r>
            <a:endParaRPr lang="en-US" sz="1000" dirty="0"/>
          </a:p>
        </p:txBody>
      </p:sp>
      <p:sp>
        <p:nvSpPr>
          <p:cNvPr id="131" name="Text 40">
            <a:extLst>
              <a:ext uri="{FF2B5EF4-FFF2-40B4-BE49-F238E27FC236}">
                <a16:creationId xmlns:a16="http://schemas.microsoft.com/office/drawing/2014/main" id="{929A9219-F32B-A5DF-E398-02407125F334}"/>
              </a:ext>
            </a:extLst>
          </p:cNvPr>
          <p:cNvSpPr txBox="1"/>
          <p:nvPr/>
        </p:nvSpPr>
        <p:spPr>
          <a:xfrm>
            <a:off x="780897" y="1387593"/>
            <a:ext cx="184891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다임벨리 재직 기간 중 수행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l="-200" r="-200"/>
          <a:stretch/>
        </p:blipFill>
        <p:spPr>
          <a:xfrm>
            <a:off x="0" y="0"/>
            <a:ext cx="12191695" cy="7589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205972" y="6467551"/>
            <a:ext cx="2286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0C4D8">
                    <a:alpha val="5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07</a:t>
            </a:r>
            <a:endParaRPr lang="en-US" sz="1000" dirty="0"/>
          </a:p>
        </p:txBody>
      </p:sp>
      <p:sp>
        <p:nvSpPr>
          <p:cNvPr id="71" name="Shape 0">
            <a:extLst>
              <a:ext uri="{FF2B5EF4-FFF2-40B4-BE49-F238E27FC236}">
                <a16:creationId xmlns:a16="http://schemas.microsoft.com/office/drawing/2014/main" id="{B276FE5E-8475-4D2E-7650-EB22938779E2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2" name="Shape 1">
            <a:extLst>
              <a:ext uri="{FF2B5EF4-FFF2-40B4-BE49-F238E27FC236}">
                <a16:creationId xmlns:a16="http://schemas.microsoft.com/office/drawing/2014/main" id="{D53E69C9-06BA-1F36-3C18-69F525C7CB4E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73" name="Image 0" descr="preencoded.png">
            <a:extLst>
              <a:ext uri="{FF2B5EF4-FFF2-40B4-BE49-F238E27FC236}">
                <a16:creationId xmlns:a16="http://schemas.microsoft.com/office/drawing/2014/main" id="{C50D83A2-F128-CEE7-FEC7-3445FEC287D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201" b="-201"/>
          <a:stretch/>
        </p:blipFill>
        <p:spPr>
          <a:xfrm>
            <a:off x="0" y="571500"/>
            <a:ext cx="75895" cy="571500"/>
          </a:xfrm>
          <a:prstGeom prst="rect">
            <a:avLst/>
          </a:prstGeom>
        </p:spPr>
      </p:pic>
      <p:sp>
        <p:nvSpPr>
          <p:cNvPr id="74" name="Shape 3">
            <a:extLst>
              <a:ext uri="{FF2B5EF4-FFF2-40B4-BE49-F238E27FC236}">
                <a16:creationId xmlns:a16="http://schemas.microsoft.com/office/drawing/2014/main" id="{43463788-C574-CF95-1B57-740EB740B03F}"/>
              </a:ext>
            </a:extLst>
          </p:cNvPr>
          <p:cNvSpPr/>
          <p:nvPr/>
        </p:nvSpPr>
        <p:spPr>
          <a:xfrm>
            <a:off x="761695" y="5785409"/>
            <a:ext cx="10668305" cy="981151"/>
          </a:xfrm>
          <a:prstGeom prst="roundRect">
            <a:avLst>
              <a:gd name="adj" fmla="val 14477"/>
            </a:avLst>
          </a:prstGeom>
          <a:solidFill>
            <a:srgbClr val="000000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5" name="Text 4">
            <a:extLst>
              <a:ext uri="{FF2B5EF4-FFF2-40B4-BE49-F238E27FC236}">
                <a16:creationId xmlns:a16="http://schemas.microsoft.com/office/drawing/2014/main" id="{9EA1135A-FE0F-EF47-5388-E18C786EF3B1}"/>
              </a:ext>
            </a:extLst>
          </p:cNvPr>
          <p:cNvSpPr txBox="1"/>
          <p:nvPr/>
        </p:nvSpPr>
        <p:spPr>
          <a:xfrm>
            <a:off x="1181405" y="5928055"/>
            <a:ext cx="102495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0A4A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RAG 파이프라인 아키텍처 </a:t>
            </a:r>
            <a:endParaRPr lang="en-US" sz="1000" dirty="0"/>
          </a:p>
        </p:txBody>
      </p:sp>
      <p:pic>
        <p:nvPicPr>
          <p:cNvPr id="76" name="Image 1" descr="preencoded.png">
            <a:extLst>
              <a:ext uri="{FF2B5EF4-FFF2-40B4-BE49-F238E27FC236}">
                <a16:creationId xmlns:a16="http://schemas.microsoft.com/office/drawing/2014/main" id="{20F334DA-6281-C341-E693-D18AEC74CBC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-837" r="-837"/>
          <a:stretch/>
        </p:blipFill>
        <p:spPr>
          <a:xfrm>
            <a:off x="952805" y="5961888"/>
            <a:ext cx="152705" cy="133502"/>
          </a:xfrm>
          <a:prstGeom prst="rect">
            <a:avLst/>
          </a:prstGeom>
        </p:spPr>
      </p:pic>
      <p:pic>
        <p:nvPicPr>
          <p:cNvPr id="77" name="Image 2" descr="preencoded.png">
            <a:extLst>
              <a:ext uri="{FF2B5EF4-FFF2-40B4-BE49-F238E27FC236}">
                <a16:creationId xmlns:a16="http://schemas.microsoft.com/office/drawing/2014/main" id="{6B497F93-419A-BDB6-027D-026E422D957B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-380" b="-380"/>
          <a:stretch/>
        </p:blipFill>
        <p:spPr>
          <a:xfrm>
            <a:off x="952805" y="6223406"/>
            <a:ext cx="972007" cy="400507"/>
          </a:xfrm>
          <a:prstGeom prst="rect">
            <a:avLst/>
          </a:prstGeom>
        </p:spPr>
      </p:pic>
      <p:sp>
        <p:nvSpPr>
          <p:cNvPr id="78" name="Text 5">
            <a:extLst>
              <a:ext uri="{FF2B5EF4-FFF2-40B4-BE49-F238E27FC236}">
                <a16:creationId xmlns:a16="http://schemas.microsoft.com/office/drawing/2014/main" id="{8031EB77-E4DF-BA55-F2DB-BF30D78261C5}"/>
              </a:ext>
            </a:extLst>
          </p:cNvPr>
          <p:cNvSpPr txBox="1"/>
          <p:nvPr/>
        </p:nvSpPr>
        <p:spPr>
          <a:xfrm>
            <a:off x="1276502" y="6223406"/>
            <a:ext cx="70500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문서 입력 </a:t>
            </a:r>
            <a:endParaRPr lang="en-US" sz="900" dirty="0"/>
          </a:p>
        </p:txBody>
      </p:sp>
      <p:pic>
        <p:nvPicPr>
          <p:cNvPr id="79" name="Image 3" descr="preencoded.png">
            <a:extLst>
              <a:ext uri="{FF2B5EF4-FFF2-40B4-BE49-F238E27FC236}">
                <a16:creationId xmlns:a16="http://schemas.microsoft.com/office/drawing/2014/main" id="{ED948037-6379-438D-ADEF-8B82181C7EAC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-1358" r="-1358"/>
          <a:stretch/>
        </p:blipFill>
        <p:spPr>
          <a:xfrm>
            <a:off x="1104595" y="6359652"/>
            <a:ext cx="95098" cy="123444"/>
          </a:xfrm>
          <a:prstGeom prst="rect">
            <a:avLst/>
          </a:prstGeom>
        </p:spPr>
      </p:pic>
      <p:pic>
        <p:nvPicPr>
          <p:cNvPr id="80" name="Image 4" descr="preencoded.png">
            <a:extLst>
              <a:ext uri="{FF2B5EF4-FFF2-40B4-BE49-F238E27FC236}">
                <a16:creationId xmlns:a16="http://schemas.microsoft.com/office/drawing/2014/main" id="{9ECEA617-8E64-CCF0-0A62-17C7D4B539EC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-43" b="-43"/>
          <a:stretch/>
        </p:blipFill>
        <p:spPr>
          <a:xfrm>
            <a:off x="2488997" y="6345022"/>
            <a:ext cx="133502" cy="152705"/>
          </a:xfrm>
          <a:prstGeom prst="rect">
            <a:avLst/>
          </a:prstGeom>
        </p:spPr>
      </p:pic>
      <p:pic>
        <p:nvPicPr>
          <p:cNvPr id="81" name="Image 5" descr="preencoded.png">
            <a:extLst>
              <a:ext uri="{FF2B5EF4-FFF2-40B4-BE49-F238E27FC236}">
                <a16:creationId xmlns:a16="http://schemas.microsoft.com/office/drawing/2014/main" id="{2A730EBF-9F8A-8E82-8CDC-A55A28071C3B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t="-627" b="-627"/>
          <a:stretch/>
        </p:blipFill>
        <p:spPr>
          <a:xfrm>
            <a:off x="3191256" y="6223406"/>
            <a:ext cx="1123798" cy="400507"/>
          </a:xfrm>
          <a:prstGeom prst="rect">
            <a:avLst/>
          </a:prstGeom>
        </p:spPr>
      </p:pic>
      <p:sp>
        <p:nvSpPr>
          <p:cNvPr id="82" name="Text 6">
            <a:extLst>
              <a:ext uri="{FF2B5EF4-FFF2-40B4-BE49-F238E27FC236}">
                <a16:creationId xmlns:a16="http://schemas.microsoft.com/office/drawing/2014/main" id="{5D6FEAC9-213E-F0E1-976D-C6E9A1886830}"/>
              </a:ext>
            </a:extLst>
          </p:cNvPr>
          <p:cNvSpPr txBox="1"/>
          <p:nvPr/>
        </p:nvSpPr>
        <p:spPr>
          <a:xfrm>
            <a:off x="3543300" y="6223406"/>
            <a:ext cx="829361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전처리/청킹 </a:t>
            </a:r>
            <a:endParaRPr lang="en-US" sz="900" dirty="0"/>
          </a:p>
        </p:txBody>
      </p:sp>
      <p:pic>
        <p:nvPicPr>
          <p:cNvPr id="83" name="Image 6" descr="preencoded.png">
            <a:extLst>
              <a:ext uri="{FF2B5EF4-FFF2-40B4-BE49-F238E27FC236}">
                <a16:creationId xmlns:a16="http://schemas.microsoft.com/office/drawing/2014/main" id="{D9711BC3-B0A3-E98D-7E2E-006A61DDDC6D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3343961" y="6359652"/>
            <a:ext cx="123444" cy="123444"/>
          </a:xfrm>
          <a:prstGeom prst="rect">
            <a:avLst/>
          </a:prstGeom>
        </p:spPr>
      </p:pic>
      <p:pic>
        <p:nvPicPr>
          <p:cNvPr id="84" name="Image 7" descr="preencoded.png">
            <a:extLst>
              <a:ext uri="{FF2B5EF4-FFF2-40B4-BE49-F238E27FC236}">
                <a16:creationId xmlns:a16="http://schemas.microsoft.com/office/drawing/2014/main" id="{E3F88F79-52BE-DBC6-FD57-1DB66050F155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-43" b="-43"/>
          <a:stretch/>
        </p:blipFill>
        <p:spPr>
          <a:xfrm>
            <a:off x="4883810" y="6345022"/>
            <a:ext cx="133502" cy="152705"/>
          </a:xfrm>
          <a:prstGeom prst="rect">
            <a:avLst/>
          </a:prstGeom>
        </p:spPr>
      </p:pic>
      <p:pic>
        <p:nvPicPr>
          <p:cNvPr id="85" name="Image 8" descr="preencoded.png">
            <a:extLst>
              <a:ext uri="{FF2B5EF4-FFF2-40B4-BE49-F238E27FC236}">
                <a16:creationId xmlns:a16="http://schemas.microsoft.com/office/drawing/2014/main" id="{ABA2CF95-225A-65F0-CFCF-D536F98991EF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t="-416" b="-416"/>
          <a:stretch/>
        </p:blipFill>
        <p:spPr>
          <a:xfrm>
            <a:off x="5586984" y="6223406"/>
            <a:ext cx="1095451" cy="400507"/>
          </a:xfrm>
          <a:prstGeom prst="rect">
            <a:avLst/>
          </a:prstGeom>
        </p:spPr>
      </p:pic>
      <p:sp>
        <p:nvSpPr>
          <p:cNvPr id="86" name="Text 7">
            <a:extLst>
              <a:ext uri="{FF2B5EF4-FFF2-40B4-BE49-F238E27FC236}">
                <a16:creationId xmlns:a16="http://schemas.microsoft.com/office/drawing/2014/main" id="{DCE693EE-4F0D-596D-0B9E-4B5BB49990CA}"/>
              </a:ext>
            </a:extLst>
          </p:cNvPr>
          <p:cNvSpPr txBox="1"/>
          <p:nvPr/>
        </p:nvSpPr>
        <p:spPr>
          <a:xfrm>
            <a:off x="5920740" y="6223406"/>
            <a:ext cx="81930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벡터 임베딩 </a:t>
            </a:r>
            <a:endParaRPr lang="en-US" sz="900" dirty="0"/>
          </a:p>
        </p:txBody>
      </p:sp>
      <p:pic>
        <p:nvPicPr>
          <p:cNvPr id="87" name="Image 9" descr="preencoded.png">
            <a:extLst>
              <a:ext uri="{FF2B5EF4-FFF2-40B4-BE49-F238E27FC236}">
                <a16:creationId xmlns:a16="http://schemas.microsoft.com/office/drawing/2014/main" id="{EBCA301C-6DF8-70B4-FEB3-286B196A682E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t="-1359" b="-1359"/>
          <a:stretch/>
        </p:blipFill>
        <p:spPr>
          <a:xfrm>
            <a:off x="5739689" y="6359652"/>
            <a:ext cx="105156" cy="123444"/>
          </a:xfrm>
          <a:prstGeom prst="rect">
            <a:avLst/>
          </a:prstGeom>
        </p:spPr>
      </p:pic>
      <p:pic>
        <p:nvPicPr>
          <p:cNvPr id="88" name="Image 10" descr="preencoded.png">
            <a:extLst>
              <a:ext uri="{FF2B5EF4-FFF2-40B4-BE49-F238E27FC236}">
                <a16:creationId xmlns:a16="http://schemas.microsoft.com/office/drawing/2014/main" id="{01188393-8710-BB06-91F3-4FA9431BF657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-43" b="-43"/>
          <a:stretch/>
        </p:blipFill>
        <p:spPr>
          <a:xfrm>
            <a:off x="7246620" y="6345022"/>
            <a:ext cx="133502" cy="152705"/>
          </a:xfrm>
          <a:prstGeom prst="rect">
            <a:avLst/>
          </a:prstGeom>
        </p:spPr>
      </p:pic>
      <p:pic>
        <p:nvPicPr>
          <p:cNvPr id="89" name="Image 11" descr="preencoded.png">
            <a:extLst>
              <a:ext uri="{FF2B5EF4-FFF2-40B4-BE49-F238E27FC236}">
                <a16:creationId xmlns:a16="http://schemas.microsoft.com/office/drawing/2014/main" id="{652332C9-07B7-CEDD-1C92-C9177837680B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t="-653" b="-653"/>
          <a:stretch/>
        </p:blipFill>
        <p:spPr>
          <a:xfrm>
            <a:off x="7949794" y="6223406"/>
            <a:ext cx="1009498" cy="400507"/>
          </a:xfrm>
          <a:prstGeom prst="rect">
            <a:avLst/>
          </a:prstGeom>
        </p:spPr>
      </p:pic>
      <p:sp>
        <p:nvSpPr>
          <p:cNvPr id="90" name="Text 8">
            <a:extLst>
              <a:ext uri="{FF2B5EF4-FFF2-40B4-BE49-F238E27FC236}">
                <a16:creationId xmlns:a16="http://schemas.microsoft.com/office/drawing/2014/main" id="{0282A2FC-DC1C-A4DA-B4E1-23635DBD0C20}"/>
              </a:ext>
            </a:extLst>
          </p:cNvPr>
          <p:cNvSpPr txBox="1"/>
          <p:nvPr/>
        </p:nvSpPr>
        <p:spPr>
          <a:xfrm>
            <a:off x="8301838" y="6223406"/>
            <a:ext cx="715061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RAG 검색 </a:t>
            </a:r>
            <a:endParaRPr lang="en-US" sz="900" dirty="0"/>
          </a:p>
        </p:txBody>
      </p:sp>
      <p:pic>
        <p:nvPicPr>
          <p:cNvPr id="91" name="Image 12" descr="preencoded.png">
            <a:extLst>
              <a:ext uri="{FF2B5EF4-FFF2-40B4-BE49-F238E27FC236}">
                <a16:creationId xmlns:a16="http://schemas.microsoft.com/office/drawing/2014/main" id="{453C622C-68EE-FDF4-327B-FF6678F9CFB5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8101584" y="6359652"/>
            <a:ext cx="123444" cy="123444"/>
          </a:xfrm>
          <a:prstGeom prst="rect">
            <a:avLst/>
          </a:prstGeom>
        </p:spPr>
      </p:pic>
      <p:pic>
        <p:nvPicPr>
          <p:cNvPr id="92" name="Image 13" descr="preencoded.png">
            <a:extLst>
              <a:ext uri="{FF2B5EF4-FFF2-40B4-BE49-F238E27FC236}">
                <a16:creationId xmlns:a16="http://schemas.microsoft.com/office/drawing/2014/main" id="{B47025D6-892F-0309-7E37-04D980FB682E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-43" b="-43"/>
          <a:stretch/>
        </p:blipFill>
        <p:spPr>
          <a:xfrm>
            <a:off x="9528048" y="6345022"/>
            <a:ext cx="133502" cy="152705"/>
          </a:xfrm>
          <a:prstGeom prst="rect">
            <a:avLst/>
          </a:prstGeom>
        </p:spPr>
      </p:pic>
      <p:pic>
        <p:nvPicPr>
          <p:cNvPr id="93" name="Image 14" descr="preencoded.png">
            <a:extLst>
              <a:ext uri="{FF2B5EF4-FFF2-40B4-BE49-F238E27FC236}">
                <a16:creationId xmlns:a16="http://schemas.microsoft.com/office/drawing/2014/main" id="{CA6D757D-FB14-AD3A-9D72-05C17580B630}"/>
              </a:ext>
            </a:extLst>
          </p:cNvPr>
          <p:cNvPicPr>
            <a:picLocks noChangeAspect="1"/>
          </p:cNvPicPr>
          <p:nvPr/>
        </p:nvPicPr>
        <p:blipFill>
          <a:blip r:embed="rId15"/>
          <a:srcRect t="-601" b="-601"/>
          <a:stretch/>
        </p:blipFill>
        <p:spPr>
          <a:xfrm>
            <a:off x="10231222" y="6223406"/>
            <a:ext cx="1009498" cy="400507"/>
          </a:xfrm>
          <a:prstGeom prst="rect">
            <a:avLst/>
          </a:prstGeom>
        </p:spPr>
      </p:pic>
      <p:sp>
        <p:nvSpPr>
          <p:cNvPr id="94" name="Text 9">
            <a:extLst>
              <a:ext uri="{FF2B5EF4-FFF2-40B4-BE49-F238E27FC236}">
                <a16:creationId xmlns:a16="http://schemas.microsoft.com/office/drawing/2014/main" id="{B5EB2F6B-08E0-3D0E-304B-84B71BC0E967}"/>
              </a:ext>
            </a:extLst>
          </p:cNvPr>
          <p:cNvSpPr txBox="1"/>
          <p:nvPr/>
        </p:nvSpPr>
        <p:spPr>
          <a:xfrm>
            <a:off x="10583266" y="6223406"/>
            <a:ext cx="715061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LLM 응답 </a:t>
            </a:r>
            <a:endParaRPr lang="en-US" sz="900" dirty="0"/>
          </a:p>
        </p:txBody>
      </p:sp>
      <p:pic>
        <p:nvPicPr>
          <p:cNvPr id="95" name="Image 15" descr="preencoded.png">
            <a:extLst>
              <a:ext uri="{FF2B5EF4-FFF2-40B4-BE49-F238E27FC236}">
                <a16:creationId xmlns:a16="http://schemas.microsoft.com/office/drawing/2014/main" id="{48520DF8-F4BA-E6FF-9670-6E178FDBE132}"/>
              </a:ext>
            </a:extLst>
          </p:cNvPr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10383926" y="6359652"/>
            <a:ext cx="123444" cy="123444"/>
          </a:xfrm>
          <a:prstGeom prst="rect">
            <a:avLst/>
          </a:prstGeom>
        </p:spPr>
      </p:pic>
      <p:sp>
        <p:nvSpPr>
          <p:cNvPr id="96" name="Shape 10">
            <a:extLst>
              <a:ext uri="{FF2B5EF4-FFF2-40B4-BE49-F238E27FC236}">
                <a16:creationId xmlns:a16="http://schemas.microsoft.com/office/drawing/2014/main" id="{A51B4B54-C6A0-D7E7-A224-5D21D125AB38}"/>
              </a:ext>
            </a:extLst>
          </p:cNvPr>
          <p:cNvSpPr/>
          <p:nvPr/>
        </p:nvSpPr>
        <p:spPr>
          <a:xfrm>
            <a:off x="761695" y="1800454"/>
            <a:ext cx="1066830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8" name="Text 12">
            <a:extLst>
              <a:ext uri="{FF2B5EF4-FFF2-40B4-BE49-F238E27FC236}">
                <a16:creationId xmlns:a16="http://schemas.microsoft.com/office/drawing/2014/main" id="{654DF7A6-BB02-B926-85ED-FCD4AAE7C91A}"/>
              </a:ext>
            </a:extLst>
          </p:cNvPr>
          <p:cNvSpPr txBox="1"/>
          <p:nvPr/>
        </p:nvSpPr>
        <p:spPr>
          <a:xfrm>
            <a:off x="761695" y="914400"/>
            <a:ext cx="9879178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기반 문서 지식화 및 RAG 자동화 시스템</a:t>
            </a:r>
            <a:endParaRPr lang="en-US" sz="3100" dirty="0"/>
          </a:p>
        </p:txBody>
      </p:sp>
      <p:pic>
        <p:nvPicPr>
          <p:cNvPr id="99" name="Image 16" descr="preencoded.png">
            <a:extLst>
              <a:ext uri="{FF2B5EF4-FFF2-40B4-BE49-F238E27FC236}">
                <a16:creationId xmlns:a16="http://schemas.microsoft.com/office/drawing/2014/main" id="{BE408E35-6E5E-7448-B679-0B18F88E6049}"/>
              </a:ext>
            </a:extLst>
          </p:cNvPr>
          <p:cNvPicPr>
            <a:picLocks noChangeAspect="1"/>
          </p:cNvPicPr>
          <p:nvPr/>
        </p:nvPicPr>
        <p:blipFill>
          <a:blip r:embed="rId17"/>
          <a:srcRect l="-31409" r="-31409"/>
          <a:stretch/>
        </p:blipFill>
        <p:spPr>
          <a:xfrm>
            <a:off x="10426903" y="899770"/>
            <a:ext cx="190195" cy="133502"/>
          </a:xfrm>
          <a:prstGeom prst="rect">
            <a:avLst/>
          </a:prstGeom>
        </p:spPr>
      </p:pic>
      <p:sp>
        <p:nvSpPr>
          <p:cNvPr id="100" name="Text 13">
            <a:extLst>
              <a:ext uri="{FF2B5EF4-FFF2-40B4-BE49-F238E27FC236}">
                <a16:creationId xmlns:a16="http://schemas.microsoft.com/office/drawing/2014/main" id="{3E369877-3490-C15F-7D28-75ED158D0255}"/>
              </a:ext>
            </a:extLst>
          </p:cNvPr>
          <p:cNvSpPr txBox="1"/>
          <p:nvPr/>
        </p:nvSpPr>
        <p:spPr>
          <a:xfrm>
            <a:off x="10461650" y="866851"/>
            <a:ext cx="97566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0BEC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2025년 ~ 현재</a:t>
            </a:r>
            <a:endParaRPr lang="en-US" sz="1000" dirty="0"/>
          </a:p>
        </p:txBody>
      </p:sp>
      <p:pic>
        <p:nvPicPr>
          <p:cNvPr id="101" name="Image 17" descr="preencoded.png">
            <a:extLst>
              <a:ext uri="{FF2B5EF4-FFF2-40B4-BE49-F238E27FC236}">
                <a16:creationId xmlns:a16="http://schemas.microsoft.com/office/drawing/2014/main" id="{2535CEDD-C815-BA3A-0670-40A4D990FBAF}"/>
              </a:ext>
            </a:extLst>
          </p:cNvPr>
          <p:cNvPicPr>
            <a:picLocks noChangeAspect="1"/>
          </p:cNvPicPr>
          <p:nvPr/>
        </p:nvPicPr>
        <p:blipFill>
          <a:blip r:embed="rId18"/>
          <a:srcRect l="-44978" r="-44978"/>
          <a:stretch/>
        </p:blipFill>
        <p:spPr>
          <a:xfrm>
            <a:off x="10008108" y="1147572"/>
            <a:ext cx="190195" cy="133502"/>
          </a:xfrm>
          <a:prstGeom prst="rect">
            <a:avLst/>
          </a:prstGeom>
        </p:spPr>
      </p:pic>
      <p:sp>
        <p:nvSpPr>
          <p:cNvPr id="102" name="Text 14">
            <a:extLst>
              <a:ext uri="{FF2B5EF4-FFF2-40B4-BE49-F238E27FC236}">
                <a16:creationId xmlns:a16="http://schemas.microsoft.com/office/drawing/2014/main" id="{42ECDAC5-91AE-3A2F-8E2A-F1EF1042B89F}"/>
              </a:ext>
            </a:extLst>
          </p:cNvPr>
          <p:cNvSpPr txBox="1"/>
          <p:nvPr/>
        </p:nvSpPr>
        <p:spPr>
          <a:xfrm>
            <a:off x="9945014" y="1114654"/>
            <a:ext cx="149138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0BEC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대양씨아이에스 (부장)</a:t>
            </a:r>
            <a:endParaRPr lang="en-US" sz="1000" dirty="0"/>
          </a:p>
        </p:txBody>
      </p:sp>
      <p:pic>
        <p:nvPicPr>
          <p:cNvPr id="103" name="Image 18" descr="preencoded.png">
            <a:extLst>
              <a:ext uri="{FF2B5EF4-FFF2-40B4-BE49-F238E27FC236}">
                <a16:creationId xmlns:a16="http://schemas.microsoft.com/office/drawing/2014/main" id="{0AC45C3C-E07E-5A21-2A74-2BCF8BE3AE3A}"/>
              </a:ext>
            </a:extLst>
          </p:cNvPr>
          <p:cNvPicPr>
            <a:picLocks noChangeAspect="1"/>
          </p:cNvPicPr>
          <p:nvPr/>
        </p:nvPicPr>
        <p:blipFill>
          <a:blip r:embed="rId19"/>
          <a:srcRect l="-6986" r="-6986"/>
          <a:stretch/>
        </p:blipFill>
        <p:spPr>
          <a:xfrm>
            <a:off x="9966960" y="1395374"/>
            <a:ext cx="190195" cy="133502"/>
          </a:xfrm>
          <a:prstGeom prst="rect">
            <a:avLst/>
          </a:prstGeom>
        </p:spPr>
      </p:pic>
      <p:sp>
        <p:nvSpPr>
          <p:cNvPr id="104" name="Text 15">
            <a:extLst>
              <a:ext uri="{FF2B5EF4-FFF2-40B4-BE49-F238E27FC236}">
                <a16:creationId xmlns:a16="http://schemas.microsoft.com/office/drawing/2014/main" id="{B98F9CC2-7E4A-A0F2-E92F-7A016E593C97}"/>
              </a:ext>
            </a:extLst>
          </p:cNvPr>
          <p:cNvSpPr txBox="1"/>
          <p:nvPr/>
        </p:nvSpPr>
        <p:spPr>
          <a:xfrm>
            <a:off x="9914839" y="1362456"/>
            <a:ext cx="151973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0BEC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Automation / LLM</a:t>
            </a:r>
            <a:endParaRPr lang="en-US" sz="1000" dirty="0"/>
          </a:p>
        </p:txBody>
      </p:sp>
      <p:sp>
        <p:nvSpPr>
          <p:cNvPr id="105" name="Shape 16">
            <a:extLst>
              <a:ext uri="{FF2B5EF4-FFF2-40B4-BE49-F238E27FC236}">
                <a16:creationId xmlns:a16="http://schemas.microsoft.com/office/drawing/2014/main" id="{CA11A1E3-6ABD-B422-920D-FA394409F5A7}"/>
              </a:ext>
            </a:extLst>
          </p:cNvPr>
          <p:cNvSpPr/>
          <p:nvPr/>
        </p:nvSpPr>
        <p:spPr>
          <a:xfrm>
            <a:off x="761695" y="2095805"/>
            <a:ext cx="5143500" cy="1457554"/>
          </a:xfrm>
          <a:prstGeom prst="roundRect">
            <a:avLst>
              <a:gd name="adj" fmla="val 8429"/>
            </a:avLst>
          </a:prstGeom>
          <a:solidFill>
            <a:srgbClr val="1B2A4A"/>
          </a:solidFill>
          <a:ln/>
          <a:effectLst>
            <a:outerShdw blurRad="139700" dist="38100" dir="162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6" name="Shape 17">
            <a:extLst>
              <a:ext uri="{FF2B5EF4-FFF2-40B4-BE49-F238E27FC236}">
                <a16:creationId xmlns:a16="http://schemas.microsoft.com/office/drawing/2014/main" id="{2A1A7644-9C0C-82DA-BC57-4833FC778AAD}"/>
              </a:ext>
            </a:extLst>
          </p:cNvPr>
          <p:cNvSpPr/>
          <p:nvPr/>
        </p:nvSpPr>
        <p:spPr>
          <a:xfrm>
            <a:off x="761695" y="2095805"/>
            <a:ext cx="38405" cy="1285646"/>
          </a:xfrm>
          <a:prstGeom prst="roundRect">
            <a:avLst>
              <a:gd name="adj" fmla="val 282185"/>
            </a:avLst>
          </a:prstGeom>
          <a:solidFill>
            <a:srgbClr val="00D4FF"/>
          </a:solidFill>
          <a:ln w="12700">
            <a:solidFill>
              <a:srgbClr val="00D4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07" name="Image 19" descr="preencoded.png">
            <a:extLst>
              <a:ext uri="{FF2B5EF4-FFF2-40B4-BE49-F238E27FC236}">
                <a16:creationId xmlns:a16="http://schemas.microsoft.com/office/drawing/2014/main" id="{F05F1013-9E90-424E-6C1D-2DE101243E10}"/>
              </a:ext>
            </a:extLst>
          </p:cNvPr>
          <p:cNvPicPr>
            <a:picLocks noChangeAspect="1"/>
          </p:cNvPicPr>
          <p:nvPr/>
        </p:nvPicPr>
        <p:blipFill>
          <a:blip r:embed="rId20"/>
          <a:srcRect/>
          <a:stretch/>
        </p:blipFill>
        <p:spPr>
          <a:xfrm>
            <a:off x="990295" y="2328977"/>
            <a:ext cx="171907" cy="171907"/>
          </a:xfrm>
          <a:prstGeom prst="rect">
            <a:avLst/>
          </a:prstGeom>
        </p:spPr>
      </p:pic>
      <p:sp>
        <p:nvSpPr>
          <p:cNvPr id="108" name="Text 18">
            <a:extLst>
              <a:ext uri="{FF2B5EF4-FFF2-40B4-BE49-F238E27FC236}">
                <a16:creationId xmlns:a16="http://schemas.microsoft.com/office/drawing/2014/main" id="{8D51E508-A726-864C-2672-D767332C7DC3}"/>
              </a:ext>
            </a:extLst>
          </p:cNvPr>
          <p:cNvSpPr txBox="1"/>
          <p:nvPr/>
        </p:nvSpPr>
        <p:spPr>
          <a:xfrm>
            <a:off x="1162202" y="2286000"/>
            <a:ext cx="120700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목표</a:t>
            </a:r>
            <a:endParaRPr lang="en-US" sz="1300" dirty="0"/>
          </a:p>
        </p:txBody>
      </p:sp>
      <p:sp>
        <p:nvSpPr>
          <p:cNvPr id="109" name="Text 19">
            <a:extLst>
              <a:ext uri="{FF2B5EF4-FFF2-40B4-BE49-F238E27FC236}">
                <a16:creationId xmlns:a16="http://schemas.microsoft.com/office/drawing/2014/main" id="{6C92A3B9-5849-B6B2-5F84-5E3385885A50}"/>
              </a:ext>
            </a:extLst>
          </p:cNvPr>
          <p:cNvSpPr txBox="1"/>
          <p:nvPr/>
        </p:nvSpPr>
        <p:spPr>
          <a:xfrm>
            <a:off x="990295" y="2638044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E0E0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비정형 문서 데이터를 지식화하고 LLM(대규모 언어 모델)을 활용하여 수작업 업무 프로세스를 자동화하는 RAG 시스템 구축</a:t>
            </a:r>
            <a:endParaRPr lang="en-US" sz="1100" dirty="0"/>
          </a:p>
        </p:txBody>
      </p:sp>
      <p:sp>
        <p:nvSpPr>
          <p:cNvPr id="110" name="Shape 20">
            <a:extLst>
              <a:ext uri="{FF2B5EF4-FFF2-40B4-BE49-F238E27FC236}">
                <a16:creationId xmlns:a16="http://schemas.microsoft.com/office/drawing/2014/main" id="{3A33032E-89D6-75E7-9412-32CEA920647B}"/>
              </a:ext>
            </a:extLst>
          </p:cNvPr>
          <p:cNvSpPr/>
          <p:nvPr/>
        </p:nvSpPr>
        <p:spPr>
          <a:xfrm>
            <a:off x="761695" y="3727592"/>
            <a:ext cx="5143500" cy="1841103"/>
          </a:xfrm>
          <a:prstGeom prst="roundRect">
            <a:avLst>
              <a:gd name="adj" fmla="val 4690"/>
            </a:avLst>
          </a:prstGeom>
          <a:solidFill>
            <a:srgbClr val="1B2A4A"/>
          </a:solidFill>
          <a:ln/>
          <a:effectLst>
            <a:outerShdw blurRad="139700" dist="38100" dir="162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1" name="Shape 21">
            <a:extLst>
              <a:ext uri="{FF2B5EF4-FFF2-40B4-BE49-F238E27FC236}">
                <a16:creationId xmlns:a16="http://schemas.microsoft.com/office/drawing/2014/main" id="{E6BA25DD-2967-D1A4-189F-10DDFFAAC090}"/>
              </a:ext>
            </a:extLst>
          </p:cNvPr>
          <p:cNvSpPr/>
          <p:nvPr/>
        </p:nvSpPr>
        <p:spPr>
          <a:xfrm>
            <a:off x="761695" y="3727592"/>
            <a:ext cx="38405" cy="1841103"/>
          </a:xfrm>
          <a:prstGeom prst="roundRect">
            <a:avLst>
              <a:gd name="adj" fmla="val 210470"/>
            </a:avLst>
          </a:prstGeom>
          <a:solidFill>
            <a:srgbClr val="00D4FF"/>
          </a:solidFill>
          <a:ln w="12700">
            <a:solidFill>
              <a:srgbClr val="00D4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12" name="Image 20" descr="preencoded.png">
            <a:extLst>
              <a:ext uri="{FF2B5EF4-FFF2-40B4-BE49-F238E27FC236}">
                <a16:creationId xmlns:a16="http://schemas.microsoft.com/office/drawing/2014/main" id="{7B8318EA-17D8-F66E-BFA1-6003F0A65F54}"/>
              </a:ext>
            </a:extLst>
          </p:cNvPr>
          <p:cNvPicPr>
            <a:picLocks noChangeAspect="1"/>
          </p:cNvPicPr>
          <p:nvPr/>
        </p:nvPicPr>
        <p:blipFill>
          <a:blip r:embed="rId21"/>
          <a:srcRect l="-1064" r="-1064"/>
          <a:stretch/>
        </p:blipFill>
        <p:spPr>
          <a:xfrm>
            <a:off x="990295" y="3960765"/>
            <a:ext cx="219456" cy="171907"/>
          </a:xfrm>
          <a:prstGeom prst="rect">
            <a:avLst/>
          </a:prstGeom>
        </p:spPr>
      </p:pic>
      <p:sp>
        <p:nvSpPr>
          <p:cNvPr id="113" name="Text 22">
            <a:extLst>
              <a:ext uri="{FF2B5EF4-FFF2-40B4-BE49-F238E27FC236}">
                <a16:creationId xmlns:a16="http://schemas.microsoft.com/office/drawing/2014/main" id="{AA8C7938-6385-60CD-1158-F344907B4152}"/>
              </a:ext>
            </a:extLst>
          </p:cNvPr>
          <p:cNvSpPr txBox="1"/>
          <p:nvPr/>
        </p:nvSpPr>
        <p:spPr>
          <a:xfrm>
            <a:off x="1209751" y="3918703"/>
            <a:ext cx="161025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역할 및 기여</a:t>
            </a:r>
            <a:endParaRPr lang="en-US" sz="1300" dirty="0"/>
          </a:p>
        </p:txBody>
      </p:sp>
      <p:sp>
        <p:nvSpPr>
          <p:cNvPr id="114" name="Text 23">
            <a:extLst>
              <a:ext uri="{FF2B5EF4-FFF2-40B4-BE49-F238E27FC236}">
                <a16:creationId xmlns:a16="http://schemas.microsoft.com/office/drawing/2014/main" id="{23F33A2D-C8F2-E155-AF19-11DE31D70A8B}"/>
              </a:ext>
            </a:extLst>
          </p:cNvPr>
          <p:cNvSpPr txBox="1"/>
          <p:nvPr/>
        </p:nvSpPr>
        <p:spPr>
          <a:xfrm>
            <a:off x="1181405" y="4114800"/>
            <a:ext cx="519927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B0BEC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RAG(검색 증강 생성) 구조 설계:</a:t>
            </a:r>
            <a:r>
              <a:rPr lang="en-US" sz="1000" dirty="0">
                <a:solidFill>
                  <a:srgbClr val="B0BEC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문서 청킹 전략 수립 및 벡터 DB 스키마 설계</a:t>
            </a:r>
            <a:endParaRPr lang="en-US" sz="1000" dirty="0"/>
          </a:p>
        </p:txBody>
      </p:sp>
      <p:sp>
        <p:nvSpPr>
          <p:cNvPr id="115" name="Text 24">
            <a:extLst>
              <a:ext uri="{FF2B5EF4-FFF2-40B4-BE49-F238E27FC236}">
                <a16:creationId xmlns:a16="http://schemas.microsoft.com/office/drawing/2014/main" id="{8E890453-262B-793A-601C-A5CDF4243E94}"/>
              </a:ext>
            </a:extLst>
          </p:cNvPr>
          <p:cNvSpPr txBox="1"/>
          <p:nvPr/>
        </p:nvSpPr>
        <p:spPr>
          <a:xfrm>
            <a:off x="1181405" y="4362602"/>
            <a:ext cx="527974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B0BEC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LLM 파이프라인 구현:</a:t>
            </a:r>
            <a:r>
              <a:rPr lang="en-US" sz="1000" dirty="0">
                <a:solidFill>
                  <a:srgbClr val="B0BEC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프롬프트 엔지니어링 및 에이전트 설계로 답변 정확도 향상</a:t>
            </a:r>
            <a:endParaRPr lang="en-US" sz="1000" dirty="0"/>
          </a:p>
        </p:txBody>
      </p:sp>
      <p:sp>
        <p:nvSpPr>
          <p:cNvPr id="116" name="Text 25">
            <a:extLst>
              <a:ext uri="{FF2B5EF4-FFF2-40B4-BE49-F238E27FC236}">
                <a16:creationId xmlns:a16="http://schemas.microsoft.com/office/drawing/2014/main" id="{BB31FCA3-6591-7BAE-06EB-430CE4050991}"/>
              </a:ext>
            </a:extLst>
          </p:cNvPr>
          <p:cNvSpPr txBox="1"/>
          <p:nvPr/>
        </p:nvSpPr>
        <p:spPr>
          <a:xfrm>
            <a:off x="1181405" y="4766352"/>
            <a:ext cx="47247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B0BEC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n8n 워크플로우 구축:</a:t>
            </a:r>
            <a:r>
              <a:rPr lang="en-US" sz="1000" dirty="0">
                <a:solidFill>
                  <a:srgbClr val="B0BEC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복잡한 업무 로직을 시각적 워크플로우로 자동화</a:t>
            </a:r>
            <a:endParaRPr lang="en-US" sz="1000" dirty="0"/>
          </a:p>
        </p:txBody>
      </p:sp>
      <p:sp>
        <p:nvSpPr>
          <p:cNvPr id="117" name="Text 26">
            <a:extLst>
              <a:ext uri="{FF2B5EF4-FFF2-40B4-BE49-F238E27FC236}">
                <a16:creationId xmlns:a16="http://schemas.microsoft.com/office/drawing/2014/main" id="{5187F75C-0D9E-B011-DD28-7562A7886E18}"/>
              </a:ext>
            </a:extLst>
          </p:cNvPr>
          <p:cNvSpPr txBox="1"/>
          <p:nvPr/>
        </p:nvSpPr>
        <p:spPr>
          <a:xfrm>
            <a:off x="1181405" y="5014154"/>
            <a:ext cx="46488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B0BEC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로컬 LLM 서버 운영:</a:t>
            </a:r>
            <a:r>
              <a:rPr lang="en-US" sz="1000" dirty="0">
                <a:solidFill>
                  <a:srgbClr val="B0BEC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데이터 보안을 위한 On-premise LLM 환경 구축</a:t>
            </a:r>
            <a:endParaRPr lang="en-US" sz="1000" dirty="0"/>
          </a:p>
        </p:txBody>
      </p:sp>
      <p:sp>
        <p:nvSpPr>
          <p:cNvPr id="118" name="Shape 27">
            <a:extLst>
              <a:ext uri="{FF2B5EF4-FFF2-40B4-BE49-F238E27FC236}">
                <a16:creationId xmlns:a16="http://schemas.microsoft.com/office/drawing/2014/main" id="{26AFDE30-BFBB-ACF3-9115-D9E3B70FBE6D}"/>
              </a:ext>
            </a:extLst>
          </p:cNvPr>
          <p:cNvSpPr/>
          <p:nvPr/>
        </p:nvSpPr>
        <p:spPr>
          <a:xfrm>
            <a:off x="6286500" y="2095805"/>
            <a:ext cx="5143500" cy="1457554"/>
          </a:xfrm>
          <a:prstGeom prst="roundRect">
            <a:avLst>
              <a:gd name="adj" fmla="val 6561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9" name="Text 28">
            <a:extLst>
              <a:ext uri="{FF2B5EF4-FFF2-40B4-BE49-F238E27FC236}">
                <a16:creationId xmlns:a16="http://schemas.microsoft.com/office/drawing/2014/main" id="{D9A123A3-2B41-E554-10BA-54AFD23307FA}"/>
              </a:ext>
            </a:extLst>
          </p:cNvPr>
          <p:cNvSpPr txBox="1"/>
          <p:nvPr/>
        </p:nvSpPr>
        <p:spPr>
          <a:xfrm>
            <a:off x="6486754" y="2295144"/>
            <a:ext cx="48582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75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Technology Stack</a:t>
            </a:r>
            <a:endParaRPr lang="en-US" sz="1200" dirty="0"/>
          </a:p>
        </p:txBody>
      </p:sp>
      <p:sp>
        <p:nvSpPr>
          <p:cNvPr id="120" name="Shape 29">
            <a:extLst>
              <a:ext uri="{FF2B5EF4-FFF2-40B4-BE49-F238E27FC236}">
                <a16:creationId xmlns:a16="http://schemas.microsoft.com/office/drawing/2014/main" id="{9D42A33B-76EF-4F1C-BE24-63FE50F3C9D0}"/>
              </a:ext>
            </a:extLst>
          </p:cNvPr>
          <p:cNvSpPr/>
          <p:nvPr/>
        </p:nvSpPr>
        <p:spPr>
          <a:xfrm>
            <a:off x="6486754" y="2619756"/>
            <a:ext cx="676656" cy="323698"/>
          </a:xfrm>
          <a:prstGeom prst="roundRect">
            <a:avLst>
              <a:gd name="adj" fmla="val 66467"/>
            </a:avLst>
          </a:prstGeom>
          <a:solidFill>
            <a:srgbClr val="00D4FF">
              <a:alpha val="10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1" name="Text 30">
            <a:extLst>
              <a:ext uri="{FF2B5EF4-FFF2-40B4-BE49-F238E27FC236}">
                <a16:creationId xmlns:a16="http://schemas.microsoft.com/office/drawing/2014/main" id="{1A0B4FFE-48C8-062B-6C87-F3AC1C599A80}"/>
              </a:ext>
            </a:extLst>
          </p:cNvPr>
          <p:cNvSpPr txBox="1"/>
          <p:nvPr/>
        </p:nvSpPr>
        <p:spPr>
          <a:xfrm>
            <a:off x="6515035" y="2666891"/>
            <a:ext cx="734263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63500" rIns="114300" bIns="6350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00D4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Python</a:t>
            </a:r>
            <a:endParaRPr lang="en-US" sz="900" dirty="0"/>
          </a:p>
        </p:txBody>
      </p:sp>
      <p:sp>
        <p:nvSpPr>
          <p:cNvPr id="122" name="Shape 31">
            <a:extLst>
              <a:ext uri="{FF2B5EF4-FFF2-40B4-BE49-F238E27FC236}">
                <a16:creationId xmlns:a16="http://schemas.microsoft.com/office/drawing/2014/main" id="{BF7AF03F-DCBE-153D-490A-20E1FC06C0B5}"/>
              </a:ext>
            </a:extLst>
          </p:cNvPr>
          <p:cNvSpPr/>
          <p:nvPr/>
        </p:nvSpPr>
        <p:spPr>
          <a:xfrm>
            <a:off x="7256678" y="2619756"/>
            <a:ext cx="685800" cy="323698"/>
          </a:xfrm>
          <a:prstGeom prst="roundRect">
            <a:avLst>
              <a:gd name="adj" fmla="val 66467"/>
            </a:avLst>
          </a:prstGeom>
          <a:solidFill>
            <a:srgbClr val="00D4FF">
              <a:alpha val="10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3" name="Text 32">
            <a:extLst>
              <a:ext uri="{FF2B5EF4-FFF2-40B4-BE49-F238E27FC236}">
                <a16:creationId xmlns:a16="http://schemas.microsoft.com/office/drawing/2014/main" id="{91439BF0-9F17-9DF2-F245-318046F43068}"/>
              </a:ext>
            </a:extLst>
          </p:cNvPr>
          <p:cNvSpPr txBox="1"/>
          <p:nvPr/>
        </p:nvSpPr>
        <p:spPr>
          <a:xfrm>
            <a:off x="7284959" y="2666891"/>
            <a:ext cx="743407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63500" rIns="114300" bIns="6350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00D4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FastAPI</a:t>
            </a:r>
            <a:endParaRPr lang="en-US" sz="900" dirty="0"/>
          </a:p>
        </p:txBody>
      </p:sp>
      <p:sp>
        <p:nvSpPr>
          <p:cNvPr id="124" name="Shape 33">
            <a:extLst>
              <a:ext uri="{FF2B5EF4-FFF2-40B4-BE49-F238E27FC236}">
                <a16:creationId xmlns:a16="http://schemas.microsoft.com/office/drawing/2014/main" id="{5CB15669-1250-A989-5E19-66049FB5FB34}"/>
              </a:ext>
            </a:extLst>
          </p:cNvPr>
          <p:cNvSpPr/>
          <p:nvPr/>
        </p:nvSpPr>
        <p:spPr>
          <a:xfrm>
            <a:off x="8035747" y="2619756"/>
            <a:ext cx="1238098" cy="323698"/>
          </a:xfrm>
          <a:prstGeom prst="roundRect">
            <a:avLst>
              <a:gd name="adj" fmla="val 66467"/>
            </a:avLst>
          </a:prstGeom>
          <a:solidFill>
            <a:srgbClr val="00D4FF">
              <a:alpha val="10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5" name="Text 34">
            <a:extLst>
              <a:ext uri="{FF2B5EF4-FFF2-40B4-BE49-F238E27FC236}">
                <a16:creationId xmlns:a16="http://schemas.microsoft.com/office/drawing/2014/main" id="{9E5E7B52-4406-D5BF-1109-1CFFCDF1F67F}"/>
              </a:ext>
            </a:extLst>
          </p:cNvPr>
          <p:cNvSpPr txBox="1"/>
          <p:nvPr/>
        </p:nvSpPr>
        <p:spPr>
          <a:xfrm>
            <a:off x="8120590" y="2666891"/>
            <a:ext cx="1295705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63500" rIns="114300" bIns="6350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00D4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RAG / LangChain</a:t>
            </a:r>
            <a:endParaRPr lang="en-US" sz="900" dirty="0"/>
          </a:p>
        </p:txBody>
      </p:sp>
      <p:sp>
        <p:nvSpPr>
          <p:cNvPr id="126" name="Shape 35">
            <a:extLst>
              <a:ext uri="{FF2B5EF4-FFF2-40B4-BE49-F238E27FC236}">
                <a16:creationId xmlns:a16="http://schemas.microsoft.com/office/drawing/2014/main" id="{FD838916-32AB-5843-6E6F-9DCF23CAFD5A}"/>
              </a:ext>
            </a:extLst>
          </p:cNvPr>
          <p:cNvSpPr/>
          <p:nvPr/>
        </p:nvSpPr>
        <p:spPr>
          <a:xfrm>
            <a:off x="9368942" y="2619756"/>
            <a:ext cx="1571854" cy="323698"/>
          </a:xfrm>
          <a:prstGeom prst="roundRect">
            <a:avLst>
              <a:gd name="adj" fmla="val 66467"/>
            </a:avLst>
          </a:prstGeom>
          <a:solidFill>
            <a:srgbClr val="00D4FF">
              <a:alpha val="10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7" name="Text 36">
            <a:extLst>
              <a:ext uri="{FF2B5EF4-FFF2-40B4-BE49-F238E27FC236}">
                <a16:creationId xmlns:a16="http://schemas.microsoft.com/office/drawing/2014/main" id="{DEA4652A-B7AC-0F72-872F-8AB54C487607}"/>
              </a:ext>
            </a:extLst>
          </p:cNvPr>
          <p:cNvSpPr txBox="1"/>
          <p:nvPr/>
        </p:nvSpPr>
        <p:spPr>
          <a:xfrm>
            <a:off x="9453785" y="2666891"/>
            <a:ext cx="1634947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63500" rIns="114300" bIns="6350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00D4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PostgreSQL (pgvector)</a:t>
            </a:r>
            <a:endParaRPr lang="en-US" sz="900" dirty="0"/>
          </a:p>
        </p:txBody>
      </p:sp>
      <p:sp>
        <p:nvSpPr>
          <p:cNvPr id="128" name="Shape 37">
            <a:extLst>
              <a:ext uri="{FF2B5EF4-FFF2-40B4-BE49-F238E27FC236}">
                <a16:creationId xmlns:a16="http://schemas.microsoft.com/office/drawing/2014/main" id="{46766398-E77F-E2C3-5D1D-3947F8232816}"/>
              </a:ext>
            </a:extLst>
          </p:cNvPr>
          <p:cNvSpPr/>
          <p:nvPr/>
        </p:nvSpPr>
        <p:spPr>
          <a:xfrm>
            <a:off x="6486754" y="3033979"/>
            <a:ext cx="1209751" cy="323698"/>
          </a:xfrm>
          <a:prstGeom prst="roundRect">
            <a:avLst>
              <a:gd name="adj" fmla="val 66467"/>
            </a:avLst>
          </a:prstGeom>
          <a:solidFill>
            <a:srgbClr val="00D4FF">
              <a:alpha val="10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9" name="Text 38">
            <a:extLst>
              <a:ext uri="{FF2B5EF4-FFF2-40B4-BE49-F238E27FC236}">
                <a16:creationId xmlns:a16="http://schemas.microsoft.com/office/drawing/2014/main" id="{533E5D8E-C70A-8DD3-ED1D-BCBBBEB68A30}"/>
              </a:ext>
            </a:extLst>
          </p:cNvPr>
          <p:cNvSpPr txBox="1"/>
          <p:nvPr/>
        </p:nvSpPr>
        <p:spPr>
          <a:xfrm>
            <a:off x="6571597" y="3081114"/>
            <a:ext cx="1267358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63500" rIns="114300" bIns="6350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00D4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n8n Automation</a:t>
            </a:r>
            <a:endParaRPr lang="en-US" sz="900" dirty="0"/>
          </a:p>
        </p:txBody>
      </p:sp>
      <p:sp>
        <p:nvSpPr>
          <p:cNvPr id="130" name="Shape 39">
            <a:extLst>
              <a:ext uri="{FF2B5EF4-FFF2-40B4-BE49-F238E27FC236}">
                <a16:creationId xmlns:a16="http://schemas.microsoft.com/office/drawing/2014/main" id="{8D7663B7-8715-12A4-D238-EC5C02A8311A}"/>
              </a:ext>
            </a:extLst>
          </p:cNvPr>
          <p:cNvSpPr/>
          <p:nvPr/>
        </p:nvSpPr>
        <p:spPr>
          <a:xfrm>
            <a:off x="7787945" y="3033979"/>
            <a:ext cx="1390802" cy="323698"/>
          </a:xfrm>
          <a:prstGeom prst="roundRect">
            <a:avLst>
              <a:gd name="adj" fmla="val 66467"/>
            </a:avLst>
          </a:prstGeom>
          <a:solidFill>
            <a:srgbClr val="00D4FF">
              <a:alpha val="10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1" name="Text 40">
            <a:extLst>
              <a:ext uri="{FF2B5EF4-FFF2-40B4-BE49-F238E27FC236}">
                <a16:creationId xmlns:a16="http://schemas.microsoft.com/office/drawing/2014/main" id="{FE1D6D5E-F60D-6906-F6AC-D79C3E9F5583}"/>
              </a:ext>
            </a:extLst>
          </p:cNvPr>
          <p:cNvSpPr txBox="1"/>
          <p:nvPr/>
        </p:nvSpPr>
        <p:spPr>
          <a:xfrm>
            <a:off x="7872788" y="3081114"/>
            <a:ext cx="1448410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63500" rIns="114300" bIns="6350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00D4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Local LLM (Ollama)</a:t>
            </a:r>
            <a:endParaRPr lang="en-US" sz="900" dirty="0"/>
          </a:p>
        </p:txBody>
      </p:sp>
      <p:sp>
        <p:nvSpPr>
          <p:cNvPr id="132" name="Shape 41">
            <a:extLst>
              <a:ext uri="{FF2B5EF4-FFF2-40B4-BE49-F238E27FC236}">
                <a16:creationId xmlns:a16="http://schemas.microsoft.com/office/drawing/2014/main" id="{32820D6C-CEB3-6506-8C51-8F886A8A40F3}"/>
              </a:ext>
            </a:extLst>
          </p:cNvPr>
          <p:cNvSpPr/>
          <p:nvPr/>
        </p:nvSpPr>
        <p:spPr>
          <a:xfrm>
            <a:off x="6286500" y="3743554"/>
            <a:ext cx="5143500" cy="1857146"/>
          </a:xfrm>
          <a:prstGeom prst="roundRect">
            <a:avLst>
              <a:gd name="adj" fmla="val 4040"/>
            </a:avLst>
          </a:prstGeom>
          <a:solidFill>
            <a:srgbClr val="1B2A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33" name="Image 21" descr="preencoded.png">
            <a:extLst>
              <a:ext uri="{FF2B5EF4-FFF2-40B4-BE49-F238E27FC236}">
                <a16:creationId xmlns:a16="http://schemas.microsoft.com/office/drawing/2014/main" id="{02B7D171-F6B2-0339-9932-D6FC8FE238F6}"/>
              </a:ext>
            </a:extLst>
          </p:cNvPr>
          <p:cNvPicPr>
            <a:picLocks noChangeAspect="1"/>
          </p:cNvPicPr>
          <p:nvPr/>
        </p:nvPicPr>
        <p:blipFill>
          <a:blip r:embed="rId22"/>
          <a:srcRect t="-842" b="-842"/>
          <a:stretch/>
        </p:blipFill>
        <p:spPr>
          <a:xfrm>
            <a:off x="6476695" y="3976726"/>
            <a:ext cx="190195" cy="171907"/>
          </a:xfrm>
          <a:prstGeom prst="rect">
            <a:avLst/>
          </a:prstGeom>
        </p:spPr>
      </p:pic>
      <p:sp>
        <p:nvSpPr>
          <p:cNvPr id="134" name="Text 42">
            <a:extLst>
              <a:ext uri="{FF2B5EF4-FFF2-40B4-BE49-F238E27FC236}">
                <a16:creationId xmlns:a16="http://schemas.microsoft.com/office/drawing/2014/main" id="{82B63779-D7FD-4399-FA60-D1F08784BF5A}"/>
              </a:ext>
            </a:extLst>
          </p:cNvPr>
          <p:cNvSpPr txBox="1"/>
          <p:nvPr/>
        </p:nvSpPr>
        <p:spPr>
          <a:xfrm>
            <a:off x="6667805" y="3933749"/>
            <a:ext cx="245973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성과 (Key Outcomes)</a:t>
            </a:r>
            <a:endParaRPr lang="en-US" sz="1300" dirty="0"/>
          </a:p>
        </p:txBody>
      </p:sp>
      <p:sp>
        <p:nvSpPr>
          <p:cNvPr id="135" name="Shape 43">
            <a:extLst>
              <a:ext uri="{FF2B5EF4-FFF2-40B4-BE49-F238E27FC236}">
                <a16:creationId xmlns:a16="http://schemas.microsoft.com/office/drawing/2014/main" id="{A061ED2A-48CB-8C92-4EE4-0B8BD9923AF1}"/>
              </a:ext>
            </a:extLst>
          </p:cNvPr>
          <p:cNvSpPr/>
          <p:nvPr/>
        </p:nvSpPr>
        <p:spPr>
          <a:xfrm>
            <a:off x="6476695" y="4286707"/>
            <a:ext cx="342900" cy="342900"/>
          </a:xfrm>
          <a:prstGeom prst="ellipse">
            <a:avLst/>
          </a:prstGeom>
          <a:solidFill>
            <a:srgbClr val="00D4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36" name="Image 22" descr="preencoded.png">
            <a:extLst>
              <a:ext uri="{FF2B5EF4-FFF2-40B4-BE49-F238E27FC236}">
                <a16:creationId xmlns:a16="http://schemas.microsoft.com/office/drawing/2014/main" id="{725C378A-F37E-CD63-A268-DDA5CFB375F8}"/>
              </a:ext>
            </a:extLst>
          </p:cNvPr>
          <p:cNvPicPr>
            <a:picLocks noChangeAspect="1"/>
          </p:cNvPicPr>
          <p:nvPr/>
        </p:nvPicPr>
        <p:blipFill>
          <a:blip r:embed="rId23"/>
          <a:srcRect t="-180" b="-180"/>
          <a:stretch/>
        </p:blipFill>
        <p:spPr>
          <a:xfrm>
            <a:off x="6553505" y="4381805"/>
            <a:ext cx="190195" cy="152705"/>
          </a:xfrm>
          <a:prstGeom prst="rect">
            <a:avLst/>
          </a:prstGeom>
        </p:spPr>
      </p:pic>
      <p:sp>
        <p:nvSpPr>
          <p:cNvPr id="137" name="Text 44">
            <a:extLst>
              <a:ext uri="{FF2B5EF4-FFF2-40B4-BE49-F238E27FC236}">
                <a16:creationId xmlns:a16="http://schemas.microsoft.com/office/drawing/2014/main" id="{262EF93F-CAF8-B7E3-96EF-141EFF292EB7}"/>
              </a:ext>
            </a:extLst>
          </p:cNvPr>
          <p:cNvSpPr txBox="1"/>
          <p:nvPr/>
        </p:nvSpPr>
        <p:spPr>
          <a:xfrm>
            <a:off x="6963156" y="4286707"/>
            <a:ext cx="427756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수작업 프로세스 자동화</a:t>
            </a:r>
            <a:endParaRPr lang="en-US" sz="1100" dirty="0"/>
          </a:p>
        </p:txBody>
      </p:sp>
      <p:sp>
        <p:nvSpPr>
          <p:cNvPr id="138" name="Text 45">
            <a:extLst>
              <a:ext uri="{FF2B5EF4-FFF2-40B4-BE49-F238E27FC236}">
                <a16:creationId xmlns:a16="http://schemas.microsoft.com/office/drawing/2014/main" id="{DC30B376-E856-0D16-C643-34176DE6AEF7}"/>
              </a:ext>
            </a:extLst>
          </p:cNvPr>
          <p:cNvSpPr txBox="1"/>
          <p:nvPr/>
        </p:nvSpPr>
        <p:spPr>
          <a:xfrm>
            <a:off x="6963156" y="4529023"/>
            <a:ext cx="487192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0BEC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반복적인 문서 분석 및 데이터 입력 업무를 자동화하여 업무 처리 시간 70% 단축</a:t>
            </a:r>
            <a:endParaRPr lang="en-US" sz="900" dirty="0"/>
          </a:p>
        </p:txBody>
      </p:sp>
      <p:sp>
        <p:nvSpPr>
          <p:cNvPr id="139" name="Shape 46">
            <a:extLst>
              <a:ext uri="{FF2B5EF4-FFF2-40B4-BE49-F238E27FC236}">
                <a16:creationId xmlns:a16="http://schemas.microsoft.com/office/drawing/2014/main" id="{F7D0E18B-525D-06E8-BFC9-C1D752974C5A}"/>
              </a:ext>
            </a:extLst>
          </p:cNvPr>
          <p:cNvSpPr/>
          <p:nvPr/>
        </p:nvSpPr>
        <p:spPr>
          <a:xfrm>
            <a:off x="6476695" y="4845406"/>
            <a:ext cx="342900" cy="342900"/>
          </a:xfrm>
          <a:prstGeom prst="ellipse">
            <a:avLst/>
          </a:prstGeom>
          <a:solidFill>
            <a:srgbClr val="00D4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40" name="Image 23" descr="preencoded.png">
            <a:extLst>
              <a:ext uri="{FF2B5EF4-FFF2-40B4-BE49-F238E27FC236}">
                <a16:creationId xmlns:a16="http://schemas.microsoft.com/office/drawing/2014/main" id="{8C7E8754-4FFF-DA7B-8985-91B92EA6FD79}"/>
              </a:ext>
            </a:extLst>
          </p:cNvPr>
          <p:cNvPicPr>
            <a:picLocks noChangeAspect="1"/>
          </p:cNvPicPr>
          <p:nvPr/>
        </p:nvPicPr>
        <p:blipFill>
          <a:blip r:embed="rId24"/>
          <a:srcRect/>
          <a:stretch/>
        </p:blipFill>
        <p:spPr>
          <a:xfrm>
            <a:off x="6572707" y="4940503"/>
            <a:ext cx="152705" cy="152705"/>
          </a:xfrm>
          <a:prstGeom prst="rect">
            <a:avLst/>
          </a:prstGeom>
        </p:spPr>
      </p:pic>
      <p:sp>
        <p:nvSpPr>
          <p:cNvPr id="141" name="Text 47">
            <a:extLst>
              <a:ext uri="{FF2B5EF4-FFF2-40B4-BE49-F238E27FC236}">
                <a16:creationId xmlns:a16="http://schemas.microsoft.com/office/drawing/2014/main" id="{AC80F8E5-5332-5BF1-42CE-CBC232D9D01D}"/>
              </a:ext>
            </a:extLst>
          </p:cNvPr>
          <p:cNvSpPr txBox="1"/>
          <p:nvPr/>
        </p:nvSpPr>
        <p:spPr>
          <a:xfrm>
            <a:off x="6963156" y="4845406"/>
            <a:ext cx="412485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서비스 신뢰성 향상</a:t>
            </a:r>
            <a:endParaRPr lang="en-US" sz="1100" dirty="0"/>
          </a:p>
        </p:txBody>
      </p:sp>
      <p:sp>
        <p:nvSpPr>
          <p:cNvPr id="142" name="Text 48">
            <a:extLst>
              <a:ext uri="{FF2B5EF4-FFF2-40B4-BE49-F238E27FC236}">
                <a16:creationId xmlns:a16="http://schemas.microsoft.com/office/drawing/2014/main" id="{F0C9C8E3-D59C-09F8-FE3D-9BA722BF85CB}"/>
              </a:ext>
            </a:extLst>
          </p:cNvPr>
          <p:cNvSpPr txBox="1"/>
          <p:nvPr/>
        </p:nvSpPr>
        <p:spPr>
          <a:xfrm>
            <a:off x="6963156" y="5088636"/>
            <a:ext cx="472287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0BEC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할루시네이션(환각) 최소화를 위한 검증 로직 도입으로 AI 답변의 신뢰도 확보</a:t>
            </a:r>
            <a:endParaRPr lang="en-US" sz="900" dirty="0"/>
          </a:p>
        </p:txBody>
      </p:sp>
      <p:sp>
        <p:nvSpPr>
          <p:cNvPr id="188" name="Text 3">
            <a:extLst>
              <a:ext uri="{FF2B5EF4-FFF2-40B4-BE49-F238E27FC236}">
                <a16:creationId xmlns:a16="http://schemas.microsoft.com/office/drawing/2014/main" id="{44E5C8D4-94E9-4785-7993-121274FE934F}"/>
              </a:ext>
            </a:extLst>
          </p:cNvPr>
          <p:cNvSpPr txBox="1"/>
          <p:nvPr/>
        </p:nvSpPr>
        <p:spPr>
          <a:xfrm>
            <a:off x="381305" y="381305"/>
            <a:ext cx="2875788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상세</a:t>
            </a:r>
            <a:endParaRPr lang="en-US" sz="2700" dirty="0"/>
          </a:p>
        </p:txBody>
      </p:sp>
      <p:sp>
        <p:nvSpPr>
          <p:cNvPr id="189" name="Text 4">
            <a:extLst>
              <a:ext uri="{FF2B5EF4-FFF2-40B4-BE49-F238E27FC236}">
                <a16:creationId xmlns:a16="http://schemas.microsoft.com/office/drawing/2014/main" id="{BAAFACA6-3000-7D4E-8875-4BC2E003E691}"/>
              </a:ext>
            </a:extLst>
          </p:cNvPr>
          <p:cNvSpPr txBox="1"/>
          <p:nvPr/>
        </p:nvSpPr>
        <p:spPr>
          <a:xfrm>
            <a:off x="2560320" y="509321"/>
            <a:ext cx="3477463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00D4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(2025~현재)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381305" y="905256"/>
            <a:ext cx="11430000" cy="1920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381305" y="333756"/>
            <a:ext cx="41596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다임벨리 주요 SI 프로젝트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3922776" y="448056"/>
            <a:ext cx="39483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D4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2013 ~ 2018 재직 기간 중 핵심 수행 프로젝트 (5건)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81305" y="1114654"/>
            <a:ext cx="5648249" cy="1758391"/>
          </a:xfrm>
          <a:prstGeom prst="roundRect">
            <a:avLst>
              <a:gd name="adj" fmla="val 4481"/>
            </a:avLst>
          </a:prstGeom>
          <a:solidFill>
            <a:srgbClr val="1B2A4A"/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381305" y="1114654"/>
            <a:ext cx="5648249" cy="28346"/>
          </a:xfrm>
          <a:prstGeom prst="roundRect">
            <a:avLst>
              <a:gd name="adj" fmla="val 311677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562356" y="1868119"/>
            <a:ext cx="5286146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562356" y="1314907"/>
            <a:ext cx="267005" cy="267005"/>
          </a:xfrm>
          <a:prstGeom prst="roundRect">
            <a:avLst>
              <a:gd name="adj" fmla="val 146771"/>
            </a:avLst>
          </a:prstGeom>
          <a:solidFill>
            <a:srgbClr val="3B82F6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9049" y="1371600"/>
            <a:ext cx="152705" cy="152705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923544" y="1350569"/>
            <a:ext cx="191658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조이렌터카 차세대 ERP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1018642" y="1619402"/>
            <a:ext cx="494416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2015.09 ~ 2016.08 (12개월)</a:t>
            </a:r>
            <a:endParaRPr lang="en-US" sz="9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rcRect l="-1677" r="-1677"/>
          <a:stretch/>
        </p:blipFill>
        <p:spPr>
          <a:xfrm>
            <a:off x="923544" y="1652321"/>
            <a:ext cx="95098" cy="105156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562356" y="1952784"/>
            <a:ext cx="547725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렌터카 통합 업무 시스템 구축, 레거시 시스템 전면 재구축 및 전국 지점 통합 운영</a:t>
            </a:r>
            <a:endParaRPr lang="en-US" sz="900" dirty="0"/>
          </a:p>
        </p:txBody>
      </p:sp>
      <p:sp>
        <p:nvSpPr>
          <p:cNvPr id="16" name="Text 12"/>
          <p:cNvSpPr txBox="1"/>
          <p:nvPr/>
        </p:nvSpPr>
        <p:spPr>
          <a:xfrm>
            <a:off x="562356" y="2202416"/>
            <a:ext cx="547725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구매·계약·정산·정비 등 렌터카 생애주기 통합 관리</a:t>
            </a:r>
            <a:endParaRPr lang="en-US" sz="900" dirty="0"/>
          </a:p>
        </p:txBody>
      </p:sp>
      <p:sp>
        <p:nvSpPr>
          <p:cNvPr id="17" name="Text 13"/>
          <p:cNvSpPr txBox="1"/>
          <p:nvPr/>
        </p:nvSpPr>
        <p:spPr>
          <a:xfrm>
            <a:off x="562356" y="2393525"/>
            <a:ext cx="547725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전국 지점 실시간 차량 현황 및 배차 관리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562356" y="2613501"/>
            <a:ext cx="352044" cy="200254"/>
          </a:xfrm>
          <a:prstGeom prst="roundRect">
            <a:avLst>
              <a:gd name="adj" fmla="val 130463"/>
            </a:avLst>
          </a:prstGeom>
          <a:solidFill>
            <a:srgbClr val="3B82F6">
              <a:alpha val="10000"/>
            </a:srgbClr>
          </a:solidFill>
          <a:ln w="12700">
            <a:solidFill>
              <a:srgbClr val="3B82F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5"/>
          <p:cNvSpPr txBox="1"/>
          <p:nvPr/>
        </p:nvSpPr>
        <p:spPr>
          <a:xfrm>
            <a:off x="562356" y="2613501"/>
            <a:ext cx="409651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00" tIns="25400" rIns="63500" bIns="2540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Java</a:t>
            </a:r>
            <a:endParaRPr lang="en-US" sz="800" dirty="0"/>
          </a:p>
        </p:txBody>
      </p:sp>
      <p:sp>
        <p:nvSpPr>
          <p:cNvPr id="20" name="Shape 16"/>
          <p:cNvSpPr/>
          <p:nvPr/>
        </p:nvSpPr>
        <p:spPr>
          <a:xfrm>
            <a:off x="958291" y="2613501"/>
            <a:ext cx="437998" cy="200254"/>
          </a:xfrm>
          <a:prstGeom prst="roundRect">
            <a:avLst>
              <a:gd name="adj" fmla="val 130463"/>
            </a:avLst>
          </a:prstGeom>
          <a:solidFill>
            <a:srgbClr val="3B82F6">
              <a:alpha val="10000"/>
            </a:srgbClr>
          </a:solidFill>
          <a:ln w="12700">
            <a:solidFill>
              <a:srgbClr val="3B82F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7"/>
          <p:cNvSpPr txBox="1"/>
          <p:nvPr/>
        </p:nvSpPr>
        <p:spPr>
          <a:xfrm>
            <a:off x="958291" y="2613501"/>
            <a:ext cx="495605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00" tIns="25400" rIns="63500" bIns="2540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Spring</a:t>
            </a:r>
            <a:endParaRPr lang="en-US" sz="800" dirty="0"/>
          </a:p>
        </p:txBody>
      </p:sp>
      <p:sp>
        <p:nvSpPr>
          <p:cNvPr id="22" name="Shape 18"/>
          <p:cNvSpPr/>
          <p:nvPr/>
        </p:nvSpPr>
        <p:spPr>
          <a:xfrm>
            <a:off x="1442923" y="2613501"/>
            <a:ext cx="590702" cy="200254"/>
          </a:xfrm>
          <a:prstGeom prst="roundRect">
            <a:avLst>
              <a:gd name="adj" fmla="val 130463"/>
            </a:avLst>
          </a:prstGeom>
          <a:solidFill>
            <a:srgbClr val="3B82F6">
              <a:alpha val="10000"/>
            </a:srgbClr>
          </a:solidFill>
          <a:ln w="12700">
            <a:solidFill>
              <a:srgbClr val="3B82F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19"/>
          <p:cNvSpPr txBox="1"/>
          <p:nvPr/>
        </p:nvSpPr>
        <p:spPr>
          <a:xfrm>
            <a:off x="1442923" y="2613501"/>
            <a:ext cx="648310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00" tIns="25400" rIns="63500" bIns="2540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Oracle DB</a:t>
            </a:r>
            <a:endParaRPr lang="en-US" sz="800" dirty="0"/>
          </a:p>
        </p:txBody>
      </p:sp>
      <p:sp>
        <p:nvSpPr>
          <p:cNvPr id="24" name="Shape 20"/>
          <p:cNvSpPr/>
          <p:nvPr/>
        </p:nvSpPr>
        <p:spPr>
          <a:xfrm>
            <a:off x="2081174" y="2613501"/>
            <a:ext cx="657454" cy="200254"/>
          </a:xfrm>
          <a:prstGeom prst="roundRect">
            <a:avLst>
              <a:gd name="adj" fmla="val 130463"/>
            </a:avLst>
          </a:prstGeom>
          <a:solidFill>
            <a:srgbClr val="3B82F6">
              <a:alpha val="10000"/>
            </a:srgbClr>
          </a:solidFill>
          <a:ln w="12700">
            <a:solidFill>
              <a:srgbClr val="3B82F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1"/>
          <p:cNvSpPr txBox="1"/>
          <p:nvPr/>
        </p:nvSpPr>
        <p:spPr>
          <a:xfrm>
            <a:off x="2081174" y="2613501"/>
            <a:ext cx="715061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00" tIns="25400" rIns="63500" bIns="2540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MiPlatform</a:t>
            </a:r>
            <a:endParaRPr lang="en-US" sz="800" dirty="0"/>
          </a:p>
        </p:txBody>
      </p:sp>
      <p:sp>
        <p:nvSpPr>
          <p:cNvPr id="26" name="Shape 22"/>
          <p:cNvSpPr/>
          <p:nvPr/>
        </p:nvSpPr>
        <p:spPr>
          <a:xfrm>
            <a:off x="381305" y="2997497"/>
            <a:ext cx="5648249" cy="1758391"/>
          </a:xfrm>
          <a:prstGeom prst="roundRect">
            <a:avLst>
              <a:gd name="adj" fmla="val 4481"/>
            </a:avLst>
          </a:prstGeom>
          <a:solidFill>
            <a:srgbClr val="1B2A4A"/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3"/>
          <p:cNvSpPr/>
          <p:nvPr/>
        </p:nvSpPr>
        <p:spPr>
          <a:xfrm>
            <a:off x="381305" y="2997497"/>
            <a:ext cx="5648249" cy="28346"/>
          </a:xfrm>
          <a:prstGeom prst="roundRect">
            <a:avLst>
              <a:gd name="adj" fmla="val 311677"/>
            </a:avLst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4"/>
          <p:cNvSpPr/>
          <p:nvPr/>
        </p:nvSpPr>
        <p:spPr>
          <a:xfrm>
            <a:off x="562356" y="3750963"/>
            <a:ext cx="5286146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5"/>
          <p:cNvSpPr/>
          <p:nvPr/>
        </p:nvSpPr>
        <p:spPr>
          <a:xfrm>
            <a:off x="562356" y="3197751"/>
            <a:ext cx="267005" cy="267005"/>
          </a:xfrm>
          <a:prstGeom prst="roundRect">
            <a:avLst>
              <a:gd name="adj" fmla="val 146771"/>
            </a:avLst>
          </a:prstGeom>
          <a:solidFill>
            <a:srgbClr val="10B981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0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19049" y="3254444"/>
            <a:ext cx="152705" cy="152705"/>
          </a:xfrm>
          <a:prstGeom prst="rect">
            <a:avLst/>
          </a:prstGeom>
        </p:spPr>
      </p:pic>
      <p:sp>
        <p:nvSpPr>
          <p:cNvPr id="31" name="Text 26"/>
          <p:cNvSpPr txBox="1"/>
          <p:nvPr/>
        </p:nvSpPr>
        <p:spPr>
          <a:xfrm>
            <a:off x="923544" y="3233412"/>
            <a:ext cx="286115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농업기술실용화재단 통합정보시스템</a:t>
            </a:r>
            <a:endParaRPr lang="en-US" sz="1200" dirty="0"/>
          </a:p>
        </p:txBody>
      </p:sp>
      <p:sp>
        <p:nvSpPr>
          <p:cNvPr id="32" name="Text 27"/>
          <p:cNvSpPr txBox="1"/>
          <p:nvPr/>
        </p:nvSpPr>
        <p:spPr>
          <a:xfrm>
            <a:off x="1018642" y="3502246"/>
            <a:ext cx="494416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2016.07 ~ 2017.03 (9개월)</a:t>
            </a:r>
            <a:endParaRPr lang="en-US" sz="900" dirty="0"/>
          </a:p>
        </p:txBody>
      </p:sp>
      <p:pic>
        <p:nvPicPr>
          <p:cNvPr id="33" name="Image 3" descr="preencoded.png"/>
          <p:cNvPicPr>
            <a:picLocks noChangeAspect="1"/>
          </p:cNvPicPr>
          <p:nvPr/>
        </p:nvPicPr>
        <p:blipFill>
          <a:blip r:embed="rId4"/>
          <a:srcRect l="-1677" r="-1677"/>
          <a:stretch/>
        </p:blipFill>
        <p:spPr>
          <a:xfrm>
            <a:off x="923544" y="3535164"/>
            <a:ext cx="95098" cy="105156"/>
          </a:xfrm>
          <a:prstGeom prst="rect">
            <a:avLst/>
          </a:prstGeom>
        </p:spPr>
      </p:pic>
      <p:sp>
        <p:nvSpPr>
          <p:cNvPr id="34" name="Text 28"/>
          <p:cNvSpPr txBox="1"/>
          <p:nvPr/>
        </p:nvSpPr>
        <p:spPr>
          <a:xfrm>
            <a:off x="562356" y="3854290"/>
            <a:ext cx="547725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전자정부 프레임워크 기반 공공기관 통합 정보 시스템 구축으로 업무 효율성 증대</a:t>
            </a:r>
            <a:endParaRPr lang="en-US" sz="900" dirty="0"/>
          </a:p>
        </p:txBody>
      </p:sp>
      <p:sp>
        <p:nvSpPr>
          <p:cNvPr id="35" name="Text 29"/>
          <p:cNvSpPr txBox="1"/>
          <p:nvPr/>
        </p:nvSpPr>
        <p:spPr>
          <a:xfrm>
            <a:off x="562356" y="4103921"/>
            <a:ext cx="547725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연구·사업·성과 데이터 통합 관리 시스템</a:t>
            </a:r>
            <a:endParaRPr lang="en-US" sz="900" dirty="0"/>
          </a:p>
        </p:txBody>
      </p:sp>
      <p:sp>
        <p:nvSpPr>
          <p:cNvPr id="36" name="Text 30"/>
          <p:cNvSpPr txBox="1"/>
          <p:nvPr/>
        </p:nvSpPr>
        <p:spPr>
          <a:xfrm>
            <a:off x="562356" y="4295031"/>
            <a:ext cx="547725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기술이전 및 사업화 지원 프로세스 전산화</a:t>
            </a:r>
            <a:endParaRPr lang="en-US" sz="900" dirty="0"/>
          </a:p>
        </p:txBody>
      </p:sp>
      <p:sp>
        <p:nvSpPr>
          <p:cNvPr id="37" name="Shape 31"/>
          <p:cNvSpPr/>
          <p:nvPr/>
        </p:nvSpPr>
        <p:spPr>
          <a:xfrm>
            <a:off x="562356" y="4515007"/>
            <a:ext cx="657454" cy="200254"/>
          </a:xfrm>
          <a:prstGeom prst="roundRect">
            <a:avLst>
              <a:gd name="adj" fmla="val 130463"/>
            </a:avLst>
          </a:prstGeom>
          <a:solidFill>
            <a:srgbClr val="10B981">
              <a:alpha val="10000"/>
            </a:srgbClr>
          </a:solidFill>
          <a:ln w="12700">
            <a:solidFill>
              <a:srgbClr val="10B981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2"/>
          <p:cNvSpPr txBox="1"/>
          <p:nvPr/>
        </p:nvSpPr>
        <p:spPr>
          <a:xfrm>
            <a:off x="562356" y="4515007"/>
            <a:ext cx="715061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00" tIns="25400" rIns="63500" bIns="2540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34D3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eGovFrame</a:t>
            </a:r>
            <a:endParaRPr lang="en-US" sz="800" dirty="0"/>
          </a:p>
        </p:txBody>
      </p:sp>
      <p:sp>
        <p:nvSpPr>
          <p:cNvPr id="39" name="Shape 33"/>
          <p:cNvSpPr/>
          <p:nvPr/>
        </p:nvSpPr>
        <p:spPr>
          <a:xfrm>
            <a:off x="1266444" y="4515007"/>
            <a:ext cx="352044" cy="200254"/>
          </a:xfrm>
          <a:prstGeom prst="roundRect">
            <a:avLst>
              <a:gd name="adj" fmla="val 130463"/>
            </a:avLst>
          </a:prstGeom>
          <a:solidFill>
            <a:srgbClr val="10B981">
              <a:alpha val="10000"/>
            </a:srgbClr>
          </a:solidFill>
          <a:ln w="12700">
            <a:solidFill>
              <a:srgbClr val="10B981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4"/>
          <p:cNvSpPr txBox="1"/>
          <p:nvPr/>
        </p:nvSpPr>
        <p:spPr>
          <a:xfrm>
            <a:off x="1266444" y="4515007"/>
            <a:ext cx="409651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00" tIns="25400" rIns="63500" bIns="2540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34D3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Java</a:t>
            </a:r>
            <a:endParaRPr lang="en-US" sz="800" dirty="0"/>
          </a:p>
        </p:txBody>
      </p:sp>
      <p:sp>
        <p:nvSpPr>
          <p:cNvPr id="41" name="Shape 35"/>
          <p:cNvSpPr/>
          <p:nvPr/>
        </p:nvSpPr>
        <p:spPr>
          <a:xfrm>
            <a:off x="1662379" y="4515007"/>
            <a:ext cx="437998" cy="200254"/>
          </a:xfrm>
          <a:prstGeom prst="roundRect">
            <a:avLst>
              <a:gd name="adj" fmla="val 130463"/>
            </a:avLst>
          </a:prstGeom>
          <a:solidFill>
            <a:srgbClr val="10B981">
              <a:alpha val="10000"/>
            </a:srgbClr>
          </a:solidFill>
          <a:ln w="12700">
            <a:solidFill>
              <a:srgbClr val="10B981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36"/>
          <p:cNvSpPr txBox="1"/>
          <p:nvPr/>
        </p:nvSpPr>
        <p:spPr>
          <a:xfrm>
            <a:off x="1662379" y="4515007"/>
            <a:ext cx="495605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00" tIns="25400" rIns="63500" bIns="2540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34D3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Tibero</a:t>
            </a:r>
            <a:endParaRPr lang="en-US" sz="800" dirty="0"/>
          </a:p>
        </p:txBody>
      </p:sp>
      <p:sp>
        <p:nvSpPr>
          <p:cNvPr id="43" name="Shape 37"/>
          <p:cNvSpPr/>
          <p:nvPr/>
        </p:nvSpPr>
        <p:spPr>
          <a:xfrm>
            <a:off x="2143354" y="4515007"/>
            <a:ext cx="666598" cy="200254"/>
          </a:xfrm>
          <a:prstGeom prst="roundRect">
            <a:avLst>
              <a:gd name="adj" fmla="val 130463"/>
            </a:avLst>
          </a:prstGeom>
          <a:solidFill>
            <a:srgbClr val="10B981">
              <a:alpha val="10000"/>
            </a:srgbClr>
          </a:solidFill>
          <a:ln w="12700">
            <a:solidFill>
              <a:srgbClr val="10B981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38"/>
          <p:cNvSpPr txBox="1"/>
          <p:nvPr/>
        </p:nvSpPr>
        <p:spPr>
          <a:xfrm>
            <a:off x="2143354" y="4515007"/>
            <a:ext cx="724205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00" tIns="25400" rIns="63500" bIns="2540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34D3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WebSquare</a:t>
            </a:r>
            <a:endParaRPr lang="en-US" sz="800" dirty="0"/>
          </a:p>
        </p:txBody>
      </p:sp>
      <p:sp>
        <p:nvSpPr>
          <p:cNvPr id="45" name="Shape 39"/>
          <p:cNvSpPr/>
          <p:nvPr/>
        </p:nvSpPr>
        <p:spPr>
          <a:xfrm>
            <a:off x="381305" y="4889670"/>
            <a:ext cx="5648249" cy="1758391"/>
          </a:xfrm>
          <a:prstGeom prst="roundRect">
            <a:avLst>
              <a:gd name="adj" fmla="val 4481"/>
            </a:avLst>
          </a:prstGeom>
          <a:solidFill>
            <a:srgbClr val="1B2A4A"/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40"/>
          <p:cNvSpPr/>
          <p:nvPr/>
        </p:nvSpPr>
        <p:spPr>
          <a:xfrm>
            <a:off x="381305" y="4889670"/>
            <a:ext cx="5648249" cy="28346"/>
          </a:xfrm>
          <a:prstGeom prst="roundRect">
            <a:avLst>
              <a:gd name="adj" fmla="val 311677"/>
            </a:avLst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Shape 41"/>
          <p:cNvSpPr/>
          <p:nvPr/>
        </p:nvSpPr>
        <p:spPr>
          <a:xfrm>
            <a:off x="562356" y="5643135"/>
            <a:ext cx="5286146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Shape 42"/>
          <p:cNvSpPr/>
          <p:nvPr/>
        </p:nvSpPr>
        <p:spPr>
          <a:xfrm>
            <a:off x="562356" y="5089923"/>
            <a:ext cx="267005" cy="267005"/>
          </a:xfrm>
          <a:prstGeom prst="roundRect">
            <a:avLst>
              <a:gd name="adj" fmla="val 146771"/>
            </a:avLst>
          </a:prstGeom>
          <a:solidFill>
            <a:srgbClr val="EF4444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9" name="Image 4" descr="preencoded.png"/>
          <p:cNvPicPr>
            <a:picLocks noChangeAspect="1"/>
          </p:cNvPicPr>
          <p:nvPr/>
        </p:nvPicPr>
        <p:blipFill>
          <a:blip r:embed="rId6"/>
          <a:srcRect t="-180" b="-180"/>
          <a:stretch/>
        </p:blipFill>
        <p:spPr>
          <a:xfrm>
            <a:off x="599846" y="5146616"/>
            <a:ext cx="190195" cy="152705"/>
          </a:xfrm>
          <a:prstGeom prst="rect">
            <a:avLst/>
          </a:prstGeom>
        </p:spPr>
      </p:pic>
      <p:sp>
        <p:nvSpPr>
          <p:cNvPr id="50" name="Text 43"/>
          <p:cNvSpPr txBox="1"/>
          <p:nvPr/>
        </p:nvSpPr>
        <p:spPr>
          <a:xfrm>
            <a:off x="923544" y="5125585"/>
            <a:ext cx="310255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범죄 피해자 지원 연합회 포털 고도화</a:t>
            </a:r>
            <a:endParaRPr lang="en-US" sz="1200" dirty="0"/>
          </a:p>
        </p:txBody>
      </p:sp>
      <p:sp>
        <p:nvSpPr>
          <p:cNvPr id="51" name="Text 44"/>
          <p:cNvSpPr txBox="1"/>
          <p:nvPr/>
        </p:nvSpPr>
        <p:spPr>
          <a:xfrm>
            <a:off x="1018642" y="5394419"/>
            <a:ext cx="494416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2013.11 ~ 2014.06 (8개월)</a:t>
            </a:r>
            <a:endParaRPr lang="en-US" sz="900" dirty="0"/>
          </a:p>
        </p:txBody>
      </p:sp>
      <p:pic>
        <p:nvPicPr>
          <p:cNvPr id="52" name="Image 5" descr="preencoded.png"/>
          <p:cNvPicPr>
            <a:picLocks noChangeAspect="1"/>
          </p:cNvPicPr>
          <p:nvPr/>
        </p:nvPicPr>
        <p:blipFill>
          <a:blip r:embed="rId4"/>
          <a:srcRect l="-1677" r="-1677"/>
          <a:stretch/>
        </p:blipFill>
        <p:spPr>
          <a:xfrm>
            <a:off x="923544" y="5428251"/>
            <a:ext cx="95098" cy="105156"/>
          </a:xfrm>
          <a:prstGeom prst="rect">
            <a:avLst/>
          </a:prstGeom>
        </p:spPr>
      </p:pic>
      <p:sp>
        <p:nvSpPr>
          <p:cNvPr id="53" name="Text 45"/>
          <p:cNvSpPr txBox="1"/>
          <p:nvPr/>
        </p:nvSpPr>
        <p:spPr>
          <a:xfrm>
            <a:off x="562356" y="5719382"/>
            <a:ext cx="547725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기존 포털 시스템 기능 추가 및 고도화를 통한 공공 서비스 품질 향상</a:t>
            </a:r>
            <a:endParaRPr lang="en-US" sz="900" dirty="0"/>
          </a:p>
        </p:txBody>
      </p:sp>
      <p:sp>
        <p:nvSpPr>
          <p:cNvPr id="54" name="Text 46"/>
          <p:cNvSpPr txBox="1"/>
          <p:nvPr/>
        </p:nvSpPr>
        <p:spPr>
          <a:xfrm>
            <a:off x="562356" y="5969013"/>
            <a:ext cx="547725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대국민 지원 서비스 신청 프로세스 개선</a:t>
            </a:r>
            <a:endParaRPr lang="en-US" sz="900" dirty="0"/>
          </a:p>
        </p:txBody>
      </p:sp>
      <p:sp>
        <p:nvSpPr>
          <p:cNvPr id="55" name="Text 47"/>
          <p:cNvSpPr txBox="1"/>
          <p:nvPr/>
        </p:nvSpPr>
        <p:spPr>
          <a:xfrm>
            <a:off x="562356" y="6159208"/>
            <a:ext cx="547725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내부 관리자 기능 고도화 및 통계 시스템 구축</a:t>
            </a:r>
            <a:endParaRPr lang="en-US" sz="900" dirty="0"/>
          </a:p>
        </p:txBody>
      </p:sp>
      <p:sp>
        <p:nvSpPr>
          <p:cNvPr id="56" name="Shape 48"/>
          <p:cNvSpPr/>
          <p:nvPr/>
        </p:nvSpPr>
        <p:spPr>
          <a:xfrm>
            <a:off x="562356" y="6384521"/>
            <a:ext cx="352044" cy="200254"/>
          </a:xfrm>
          <a:prstGeom prst="roundRect">
            <a:avLst>
              <a:gd name="adj" fmla="val 130463"/>
            </a:avLst>
          </a:prstGeom>
          <a:solidFill>
            <a:srgbClr val="EF4444">
              <a:alpha val="10000"/>
            </a:srgbClr>
          </a:solidFill>
          <a:ln w="12700">
            <a:solidFill>
              <a:srgbClr val="EF444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Text 49"/>
          <p:cNvSpPr txBox="1"/>
          <p:nvPr/>
        </p:nvSpPr>
        <p:spPr>
          <a:xfrm>
            <a:off x="562356" y="6379176"/>
            <a:ext cx="409651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00" tIns="25400" rIns="63500" bIns="2540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8717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Java</a:t>
            </a:r>
            <a:endParaRPr lang="en-US" sz="800" dirty="0"/>
          </a:p>
        </p:txBody>
      </p:sp>
      <p:sp>
        <p:nvSpPr>
          <p:cNvPr id="58" name="Shape 50"/>
          <p:cNvSpPr/>
          <p:nvPr/>
        </p:nvSpPr>
        <p:spPr>
          <a:xfrm>
            <a:off x="958291" y="6384521"/>
            <a:ext cx="314554" cy="200254"/>
          </a:xfrm>
          <a:prstGeom prst="roundRect">
            <a:avLst>
              <a:gd name="adj" fmla="val 130463"/>
            </a:avLst>
          </a:prstGeom>
          <a:solidFill>
            <a:srgbClr val="EF4444">
              <a:alpha val="10000"/>
            </a:srgbClr>
          </a:solidFill>
          <a:ln w="12700">
            <a:solidFill>
              <a:srgbClr val="EF444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Text 51"/>
          <p:cNvSpPr txBox="1"/>
          <p:nvPr/>
        </p:nvSpPr>
        <p:spPr>
          <a:xfrm>
            <a:off x="958291" y="6379176"/>
            <a:ext cx="372161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00" tIns="25400" rIns="63500" bIns="2540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8717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JSP</a:t>
            </a:r>
            <a:endParaRPr lang="en-US" sz="800" dirty="0"/>
          </a:p>
        </p:txBody>
      </p:sp>
      <p:sp>
        <p:nvSpPr>
          <p:cNvPr id="60" name="Shape 52"/>
          <p:cNvSpPr/>
          <p:nvPr/>
        </p:nvSpPr>
        <p:spPr>
          <a:xfrm>
            <a:off x="1313993" y="6384521"/>
            <a:ext cx="437998" cy="200254"/>
          </a:xfrm>
          <a:prstGeom prst="roundRect">
            <a:avLst>
              <a:gd name="adj" fmla="val 130463"/>
            </a:avLst>
          </a:prstGeom>
          <a:solidFill>
            <a:srgbClr val="EF4444">
              <a:alpha val="10000"/>
            </a:srgbClr>
          </a:solidFill>
          <a:ln w="12700">
            <a:solidFill>
              <a:srgbClr val="EF444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" name="Text 53"/>
          <p:cNvSpPr txBox="1"/>
          <p:nvPr/>
        </p:nvSpPr>
        <p:spPr>
          <a:xfrm>
            <a:off x="1313993" y="6379176"/>
            <a:ext cx="495605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00" tIns="25400" rIns="63500" bIns="2540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8717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Oracle</a:t>
            </a:r>
            <a:endParaRPr lang="en-US" sz="800" dirty="0"/>
          </a:p>
        </p:txBody>
      </p:sp>
      <p:sp>
        <p:nvSpPr>
          <p:cNvPr id="62" name="Shape 54"/>
          <p:cNvSpPr/>
          <p:nvPr/>
        </p:nvSpPr>
        <p:spPr>
          <a:xfrm>
            <a:off x="1793138" y="6384521"/>
            <a:ext cx="448056" cy="200254"/>
          </a:xfrm>
          <a:prstGeom prst="roundRect">
            <a:avLst>
              <a:gd name="adj" fmla="val 130463"/>
            </a:avLst>
          </a:prstGeom>
          <a:solidFill>
            <a:srgbClr val="EF4444">
              <a:alpha val="10000"/>
            </a:srgbClr>
          </a:solidFill>
          <a:ln w="12700">
            <a:solidFill>
              <a:srgbClr val="EF444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3" name="Text 55"/>
          <p:cNvSpPr txBox="1"/>
          <p:nvPr/>
        </p:nvSpPr>
        <p:spPr>
          <a:xfrm>
            <a:off x="1793138" y="6379176"/>
            <a:ext cx="505663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00" tIns="25400" rIns="63500" bIns="2540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8717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jQuery</a:t>
            </a:r>
            <a:endParaRPr lang="en-US" sz="800" dirty="0"/>
          </a:p>
        </p:txBody>
      </p:sp>
      <p:sp>
        <p:nvSpPr>
          <p:cNvPr id="64" name="Shape 56"/>
          <p:cNvSpPr/>
          <p:nvPr/>
        </p:nvSpPr>
        <p:spPr>
          <a:xfrm>
            <a:off x="6167628" y="1114654"/>
            <a:ext cx="5648249" cy="2708024"/>
          </a:xfrm>
          <a:prstGeom prst="roundRect">
            <a:avLst>
              <a:gd name="adj" fmla="val 1911"/>
            </a:avLst>
          </a:prstGeom>
          <a:solidFill>
            <a:srgbClr val="1B2A4A"/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5" name="Shape 57"/>
          <p:cNvSpPr/>
          <p:nvPr/>
        </p:nvSpPr>
        <p:spPr>
          <a:xfrm>
            <a:off x="6167628" y="1114654"/>
            <a:ext cx="5648249" cy="28346"/>
          </a:xfrm>
          <a:prstGeom prst="roundRect">
            <a:avLst>
              <a:gd name="adj" fmla="val 203524"/>
            </a:avLst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6" name="Shape 58"/>
          <p:cNvSpPr/>
          <p:nvPr/>
        </p:nvSpPr>
        <p:spPr>
          <a:xfrm>
            <a:off x="6348679" y="1868119"/>
            <a:ext cx="5286146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7" name="Shape 59"/>
          <p:cNvSpPr/>
          <p:nvPr/>
        </p:nvSpPr>
        <p:spPr>
          <a:xfrm>
            <a:off x="6348679" y="1314907"/>
            <a:ext cx="267005" cy="267005"/>
          </a:xfrm>
          <a:prstGeom prst="roundRect">
            <a:avLst>
              <a:gd name="adj" fmla="val 146771"/>
            </a:avLst>
          </a:prstGeom>
          <a:solidFill>
            <a:srgbClr val="F59E0B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8" name="Image 6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405372" y="1371600"/>
            <a:ext cx="152705" cy="152705"/>
          </a:xfrm>
          <a:prstGeom prst="rect">
            <a:avLst/>
          </a:prstGeom>
        </p:spPr>
      </p:pic>
      <p:sp>
        <p:nvSpPr>
          <p:cNvPr id="69" name="Text 60"/>
          <p:cNvSpPr txBox="1"/>
          <p:nvPr/>
        </p:nvSpPr>
        <p:spPr>
          <a:xfrm>
            <a:off x="6710782" y="1350569"/>
            <a:ext cx="269839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CJ &amp; E-Mart 포인트 적립 시스템</a:t>
            </a:r>
            <a:endParaRPr lang="en-US" sz="1200" dirty="0"/>
          </a:p>
        </p:txBody>
      </p:sp>
      <p:sp>
        <p:nvSpPr>
          <p:cNvPr id="70" name="Text 61"/>
          <p:cNvSpPr txBox="1"/>
          <p:nvPr/>
        </p:nvSpPr>
        <p:spPr>
          <a:xfrm>
            <a:off x="6805879" y="1619402"/>
            <a:ext cx="494416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2014.06 ~ 2014.10 (5개월)</a:t>
            </a:r>
            <a:endParaRPr lang="en-US" sz="900" dirty="0"/>
          </a:p>
        </p:txBody>
      </p:sp>
      <p:pic>
        <p:nvPicPr>
          <p:cNvPr id="71" name="Image 7" descr="preencoded.png"/>
          <p:cNvPicPr>
            <a:picLocks noChangeAspect="1"/>
          </p:cNvPicPr>
          <p:nvPr/>
        </p:nvPicPr>
        <p:blipFill>
          <a:blip r:embed="rId4"/>
          <a:srcRect l="-1677" r="-1677"/>
          <a:stretch/>
        </p:blipFill>
        <p:spPr>
          <a:xfrm>
            <a:off x="6710782" y="1652321"/>
            <a:ext cx="95098" cy="105156"/>
          </a:xfrm>
          <a:prstGeom prst="rect">
            <a:avLst/>
          </a:prstGeom>
        </p:spPr>
      </p:pic>
      <p:sp>
        <p:nvSpPr>
          <p:cNvPr id="72" name="Text 62"/>
          <p:cNvSpPr txBox="1"/>
          <p:nvPr/>
        </p:nvSpPr>
        <p:spPr>
          <a:xfrm>
            <a:off x="6348679" y="1971446"/>
            <a:ext cx="547725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대기업 멤버십 포인트 연동 시스템 구축, 실시간 적립 및 정산 처리 구현</a:t>
            </a:r>
            <a:endParaRPr lang="en-US" sz="900" dirty="0"/>
          </a:p>
        </p:txBody>
      </p:sp>
      <p:sp>
        <p:nvSpPr>
          <p:cNvPr id="73" name="Text 63"/>
          <p:cNvSpPr txBox="1"/>
          <p:nvPr/>
        </p:nvSpPr>
        <p:spPr>
          <a:xfrm>
            <a:off x="6348679" y="2221078"/>
            <a:ext cx="547725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CJ ONE 포인트 및 신세계 포인트 실시간 연동</a:t>
            </a:r>
            <a:endParaRPr lang="en-US" sz="900" dirty="0"/>
          </a:p>
        </p:txBody>
      </p:sp>
      <p:sp>
        <p:nvSpPr>
          <p:cNvPr id="74" name="Text 64"/>
          <p:cNvSpPr txBox="1"/>
          <p:nvPr/>
        </p:nvSpPr>
        <p:spPr>
          <a:xfrm>
            <a:off x="6348679" y="2412187"/>
            <a:ext cx="547725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대용량 트랜잭션 처리 및 정합성 보장 로직 구현</a:t>
            </a:r>
            <a:endParaRPr lang="en-US" sz="900" dirty="0"/>
          </a:p>
        </p:txBody>
      </p:sp>
      <p:sp>
        <p:nvSpPr>
          <p:cNvPr id="75" name="Text 65"/>
          <p:cNvSpPr txBox="1"/>
          <p:nvPr/>
        </p:nvSpPr>
        <p:spPr>
          <a:xfrm>
            <a:off x="6348679" y="2602382"/>
            <a:ext cx="547725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일별/월별 정산 및 대사 자동화 시스템</a:t>
            </a:r>
            <a:endParaRPr lang="en-US" sz="900" dirty="0"/>
          </a:p>
        </p:txBody>
      </p:sp>
      <p:sp>
        <p:nvSpPr>
          <p:cNvPr id="76" name="Shape 66"/>
          <p:cNvSpPr/>
          <p:nvPr/>
        </p:nvSpPr>
        <p:spPr>
          <a:xfrm>
            <a:off x="6348679" y="3545597"/>
            <a:ext cx="352044" cy="200254"/>
          </a:xfrm>
          <a:prstGeom prst="roundRect">
            <a:avLst>
              <a:gd name="adj" fmla="val 130463"/>
            </a:avLst>
          </a:prstGeom>
          <a:solidFill>
            <a:srgbClr val="F59E0B">
              <a:alpha val="10000"/>
            </a:srgbClr>
          </a:solidFill>
          <a:ln w="12700">
            <a:solidFill>
              <a:srgbClr val="F59E0B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7" name="Text 67"/>
          <p:cNvSpPr txBox="1"/>
          <p:nvPr/>
        </p:nvSpPr>
        <p:spPr>
          <a:xfrm>
            <a:off x="6348679" y="3545597"/>
            <a:ext cx="409651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00" tIns="25400" rIns="63500" bIns="2540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BBF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Java</a:t>
            </a:r>
            <a:endParaRPr lang="en-US" sz="800" dirty="0"/>
          </a:p>
        </p:txBody>
      </p:sp>
      <p:sp>
        <p:nvSpPr>
          <p:cNvPr id="78" name="Shape 68"/>
          <p:cNvSpPr/>
          <p:nvPr/>
        </p:nvSpPr>
        <p:spPr>
          <a:xfrm>
            <a:off x="6744614" y="3545597"/>
            <a:ext cx="733349" cy="200254"/>
          </a:xfrm>
          <a:prstGeom prst="roundRect">
            <a:avLst>
              <a:gd name="adj" fmla="val 130463"/>
            </a:avLst>
          </a:prstGeom>
          <a:solidFill>
            <a:srgbClr val="F59E0B">
              <a:alpha val="10000"/>
            </a:srgbClr>
          </a:solidFill>
          <a:ln w="12700">
            <a:solidFill>
              <a:srgbClr val="F59E0B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9" name="Text 69"/>
          <p:cNvSpPr txBox="1"/>
          <p:nvPr/>
        </p:nvSpPr>
        <p:spPr>
          <a:xfrm>
            <a:off x="6744614" y="3545597"/>
            <a:ext cx="790956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00" tIns="25400" rIns="63500" bIns="2540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BBF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Spring Batch</a:t>
            </a:r>
            <a:endParaRPr lang="en-US" sz="800" dirty="0"/>
          </a:p>
        </p:txBody>
      </p:sp>
      <p:sp>
        <p:nvSpPr>
          <p:cNvPr id="80" name="Shape 70"/>
          <p:cNvSpPr/>
          <p:nvPr/>
        </p:nvSpPr>
        <p:spPr>
          <a:xfrm>
            <a:off x="7520026" y="3545597"/>
            <a:ext cx="437998" cy="200254"/>
          </a:xfrm>
          <a:prstGeom prst="roundRect">
            <a:avLst>
              <a:gd name="adj" fmla="val 130463"/>
            </a:avLst>
          </a:prstGeom>
          <a:solidFill>
            <a:srgbClr val="F59E0B">
              <a:alpha val="10000"/>
            </a:srgbClr>
          </a:solidFill>
          <a:ln w="12700">
            <a:solidFill>
              <a:srgbClr val="F59E0B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1" name="Text 71"/>
          <p:cNvSpPr txBox="1"/>
          <p:nvPr/>
        </p:nvSpPr>
        <p:spPr>
          <a:xfrm>
            <a:off x="7520026" y="3545597"/>
            <a:ext cx="495605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00" tIns="25400" rIns="63500" bIns="2540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BBF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Oracle</a:t>
            </a:r>
            <a:endParaRPr lang="en-US" sz="800" dirty="0"/>
          </a:p>
        </p:txBody>
      </p:sp>
      <p:sp>
        <p:nvSpPr>
          <p:cNvPr id="82" name="Shape 72"/>
          <p:cNvSpPr/>
          <p:nvPr/>
        </p:nvSpPr>
        <p:spPr>
          <a:xfrm>
            <a:off x="8000086" y="3545597"/>
            <a:ext cx="552298" cy="200254"/>
          </a:xfrm>
          <a:prstGeom prst="roundRect">
            <a:avLst>
              <a:gd name="adj" fmla="val 130463"/>
            </a:avLst>
          </a:prstGeom>
          <a:solidFill>
            <a:srgbClr val="F59E0B">
              <a:alpha val="10000"/>
            </a:srgbClr>
          </a:solidFill>
          <a:ln w="12700">
            <a:solidFill>
              <a:srgbClr val="F59E0B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3" name="Text 73"/>
          <p:cNvSpPr txBox="1"/>
          <p:nvPr/>
        </p:nvSpPr>
        <p:spPr>
          <a:xfrm>
            <a:off x="8000086" y="3545597"/>
            <a:ext cx="609905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00" tIns="25400" rIns="63500" bIns="2540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BBF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Interface</a:t>
            </a:r>
            <a:endParaRPr lang="en-US" sz="800" dirty="0"/>
          </a:p>
        </p:txBody>
      </p:sp>
      <p:sp>
        <p:nvSpPr>
          <p:cNvPr id="84" name="Shape 74"/>
          <p:cNvSpPr/>
          <p:nvPr/>
        </p:nvSpPr>
        <p:spPr>
          <a:xfrm>
            <a:off x="6167628" y="3944365"/>
            <a:ext cx="5648249" cy="2708024"/>
          </a:xfrm>
          <a:prstGeom prst="roundRect">
            <a:avLst>
              <a:gd name="adj" fmla="val 1911"/>
            </a:avLst>
          </a:prstGeom>
          <a:solidFill>
            <a:srgbClr val="1B2A4A"/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5" name="Shape 75"/>
          <p:cNvSpPr/>
          <p:nvPr/>
        </p:nvSpPr>
        <p:spPr>
          <a:xfrm>
            <a:off x="6167628" y="3944365"/>
            <a:ext cx="5648249" cy="28346"/>
          </a:xfrm>
          <a:prstGeom prst="roundRect">
            <a:avLst>
              <a:gd name="adj" fmla="val 203524"/>
            </a:avLst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6" name="Shape 76"/>
          <p:cNvSpPr/>
          <p:nvPr/>
        </p:nvSpPr>
        <p:spPr>
          <a:xfrm>
            <a:off x="6348679" y="4697831"/>
            <a:ext cx="5286146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7" name="Shape 77"/>
          <p:cNvSpPr/>
          <p:nvPr/>
        </p:nvSpPr>
        <p:spPr>
          <a:xfrm>
            <a:off x="6348679" y="4144619"/>
            <a:ext cx="267005" cy="267005"/>
          </a:xfrm>
          <a:prstGeom prst="roundRect">
            <a:avLst>
              <a:gd name="adj" fmla="val 146771"/>
            </a:avLst>
          </a:prstGeom>
          <a:solidFill>
            <a:srgbClr val="8B5CF6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88" name="Image 8" descr="preencoded.png"/>
          <p:cNvPicPr>
            <a:picLocks noChangeAspect="1"/>
          </p:cNvPicPr>
          <p:nvPr/>
        </p:nvPicPr>
        <p:blipFill>
          <a:blip r:embed="rId8"/>
          <a:srcRect t="-180" b="-180"/>
          <a:stretch/>
        </p:blipFill>
        <p:spPr>
          <a:xfrm>
            <a:off x="6386170" y="4201311"/>
            <a:ext cx="190195" cy="152705"/>
          </a:xfrm>
          <a:prstGeom prst="rect">
            <a:avLst/>
          </a:prstGeom>
        </p:spPr>
      </p:pic>
      <p:sp>
        <p:nvSpPr>
          <p:cNvPr id="89" name="Text 78"/>
          <p:cNvSpPr txBox="1"/>
          <p:nvPr/>
        </p:nvSpPr>
        <p:spPr>
          <a:xfrm>
            <a:off x="6710782" y="4180280"/>
            <a:ext cx="296174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동작구시설관리공단 교육관리 시스템</a:t>
            </a:r>
            <a:endParaRPr lang="en-US" sz="1200" dirty="0"/>
          </a:p>
        </p:txBody>
      </p:sp>
      <p:sp>
        <p:nvSpPr>
          <p:cNvPr id="90" name="Text 79"/>
          <p:cNvSpPr txBox="1"/>
          <p:nvPr/>
        </p:nvSpPr>
        <p:spPr>
          <a:xfrm>
            <a:off x="6805879" y="4449114"/>
            <a:ext cx="494416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2017.04 ~ 2017.06 (3개월)</a:t>
            </a:r>
            <a:endParaRPr lang="en-US" sz="900" dirty="0"/>
          </a:p>
        </p:txBody>
      </p:sp>
      <p:pic>
        <p:nvPicPr>
          <p:cNvPr id="91" name="Image 9" descr="preencoded.png"/>
          <p:cNvPicPr>
            <a:picLocks noChangeAspect="1"/>
          </p:cNvPicPr>
          <p:nvPr/>
        </p:nvPicPr>
        <p:blipFill>
          <a:blip r:embed="rId4"/>
          <a:srcRect l="-1677" r="-1677"/>
          <a:stretch/>
        </p:blipFill>
        <p:spPr>
          <a:xfrm>
            <a:off x="6710782" y="4482947"/>
            <a:ext cx="95098" cy="105156"/>
          </a:xfrm>
          <a:prstGeom prst="rect">
            <a:avLst/>
          </a:prstGeom>
        </p:spPr>
      </p:pic>
      <p:sp>
        <p:nvSpPr>
          <p:cNvPr id="92" name="Text 80"/>
          <p:cNvSpPr txBox="1"/>
          <p:nvPr/>
        </p:nvSpPr>
        <p:spPr>
          <a:xfrm>
            <a:off x="6348679" y="4801158"/>
            <a:ext cx="547725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공공기관 문화/체육 시설 교육 프로그램 운영을 위한 통합 관리 시스템 구축</a:t>
            </a:r>
            <a:endParaRPr lang="en-US" sz="900" dirty="0"/>
          </a:p>
        </p:txBody>
      </p:sp>
      <p:sp>
        <p:nvSpPr>
          <p:cNvPr id="93" name="Text 81"/>
          <p:cNvSpPr txBox="1"/>
          <p:nvPr/>
        </p:nvSpPr>
        <p:spPr>
          <a:xfrm>
            <a:off x="6348679" y="5050789"/>
            <a:ext cx="547725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온라인 수강 신청 및 결제 시스템</a:t>
            </a:r>
            <a:endParaRPr lang="en-US" sz="900" dirty="0"/>
          </a:p>
        </p:txBody>
      </p:sp>
      <p:sp>
        <p:nvSpPr>
          <p:cNvPr id="94" name="Text 82"/>
          <p:cNvSpPr txBox="1"/>
          <p:nvPr/>
        </p:nvSpPr>
        <p:spPr>
          <a:xfrm>
            <a:off x="6348679" y="5241899"/>
            <a:ext cx="547725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강사 배정 및 강의실 예약 관리 기능</a:t>
            </a:r>
            <a:endParaRPr lang="en-US" sz="900" dirty="0"/>
          </a:p>
        </p:txBody>
      </p:sp>
      <p:sp>
        <p:nvSpPr>
          <p:cNvPr id="95" name="Text 83"/>
          <p:cNvSpPr txBox="1"/>
          <p:nvPr/>
        </p:nvSpPr>
        <p:spPr>
          <a:xfrm>
            <a:off x="6348679" y="5432094"/>
            <a:ext cx="547725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회원 출석 관리 및 수료증 발급 자동화</a:t>
            </a:r>
            <a:endParaRPr lang="en-US" sz="900" dirty="0"/>
          </a:p>
        </p:txBody>
      </p:sp>
      <p:sp>
        <p:nvSpPr>
          <p:cNvPr id="96" name="Shape 84"/>
          <p:cNvSpPr/>
          <p:nvPr/>
        </p:nvSpPr>
        <p:spPr>
          <a:xfrm>
            <a:off x="6348679" y="5815474"/>
            <a:ext cx="352044" cy="200254"/>
          </a:xfrm>
          <a:prstGeom prst="roundRect">
            <a:avLst>
              <a:gd name="adj" fmla="val 130463"/>
            </a:avLst>
          </a:prstGeom>
          <a:solidFill>
            <a:srgbClr val="8B5CF6">
              <a:alpha val="10000"/>
            </a:srgbClr>
          </a:solidFill>
          <a:ln w="12700">
            <a:solidFill>
              <a:srgbClr val="8B5CF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7" name="Text 85"/>
          <p:cNvSpPr txBox="1"/>
          <p:nvPr/>
        </p:nvSpPr>
        <p:spPr>
          <a:xfrm>
            <a:off x="6348679" y="6337993"/>
            <a:ext cx="409651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00" tIns="25400" rIns="63500" bIns="2540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A78B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Java</a:t>
            </a:r>
            <a:endParaRPr lang="en-US" sz="800" dirty="0"/>
          </a:p>
        </p:txBody>
      </p:sp>
      <p:sp>
        <p:nvSpPr>
          <p:cNvPr id="98" name="Shape 86"/>
          <p:cNvSpPr/>
          <p:nvPr/>
        </p:nvSpPr>
        <p:spPr>
          <a:xfrm>
            <a:off x="6744614" y="6337993"/>
            <a:ext cx="314554" cy="200254"/>
          </a:xfrm>
          <a:prstGeom prst="roundRect">
            <a:avLst>
              <a:gd name="adj" fmla="val 130463"/>
            </a:avLst>
          </a:prstGeom>
          <a:solidFill>
            <a:srgbClr val="8B5CF6">
              <a:alpha val="10000"/>
            </a:srgbClr>
          </a:solidFill>
          <a:ln w="12700">
            <a:solidFill>
              <a:srgbClr val="8B5CF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9" name="Text 87"/>
          <p:cNvSpPr txBox="1"/>
          <p:nvPr/>
        </p:nvSpPr>
        <p:spPr>
          <a:xfrm>
            <a:off x="6744614" y="6337993"/>
            <a:ext cx="372161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00" tIns="25400" rIns="63500" bIns="2540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A78B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JSP</a:t>
            </a:r>
            <a:endParaRPr lang="en-US" sz="800" dirty="0"/>
          </a:p>
        </p:txBody>
      </p:sp>
      <p:sp>
        <p:nvSpPr>
          <p:cNvPr id="100" name="Shape 88"/>
          <p:cNvSpPr/>
          <p:nvPr/>
        </p:nvSpPr>
        <p:spPr>
          <a:xfrm>
            <a:off x="7100316" y="6337993"/>
            <a:ext cx="533095" cy="200254"/>
          </a:xfrm>
          <a:prstGeom prst="roundRect">
            <a:avLst>
              <a:gd name="adj" fmla="val 130463"/>
            </a:avLst>
          </a:prstGeom>
          <a:solidFill>
            <a:srgbClr val="8B5CF6">
              <a:alpha val="10000"/>
            </a:srgbClr>
          </a:solidFill>
          <a:ln w="12700">
            <a:solidFill>
              <a:srgbClr val="8B5CF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1" name="Text 89"/>
          <p:cNvSpPr txBox="1"/>
          <p:nvPr/>
        </p:nvSpPr>
        <p:spPr>
          <a:xfrm>
            <a:off x="7100316" y="6337993"/>
            <a:ext cx="590702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00" tIns="25400" rIns="63500" bIns="2540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A78B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MariaDB</a:t>
            </a:r>
            <a:endParaRPr lang="en-US" sz="800" dirty="0"/>
          </a:p>
        </p:txBody>
      </p:sp>
      <p:sp>
        <p:nvSpPr>
          <p:cNvPr id="102" name="Shape 90"/>
          <p:cNvSpPr/>
          <p:nvPr/>
        </p:nvSpPr>
        <p:spPr>
          <a:xfrm>
            <a:off x="7672730" y="6337993"/>
            <a:ext cx="466344" cy="200254"/>
          </a:xfrm>
          <a:prstGeom prst="roundRect">
            <a:avLst>
              <a:gd name="adj" fmla="val 130463"/>
            </a:avLst>
          </a:prstGeom>
          <a:solidFill>
            <a:srgbClr val="8B5CF6">
              <a:alpha val="10000"/>
            </a:srgbClr>
          </a:solidFill>
          <a:ln w="12700">
            <a:solidFill>
              <a:srgbClr val="8B5CF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3" name="Text 91"/>
          <p:cNvSpPr txBox="1"/>
          <p:nvPr/>
        </p:nvSpPr>
        <p:spPr>
          <a:xfrm>
            <a:off x="7672730" y="6337993"/>
            <a:ext cx="523951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00" tIns="25400" rIns="63500" bIns="2540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A78B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PG 연동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8000"/>
          </a:blip>
          <a:srcRect l="-9" r="-9"/>
          <a:stretch/>
        </p:blipFill>
        <p:spPr>
          <a:xfrm>
            <a:off x="4190695" y="2085746"/>
            <a:ext cx="3810305" cy="3047695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790895" y="1135685"/>
            <a:ext cx="609905" cy="609905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1367028" y="2087575"/>
            <a:ext cx="9463126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kern="0" spc="-126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PART 2 – Zadara 기술 분석 보고서</a:t>
            </a:r>
            <a:endParaRPr lang="en-US" sz="4200" dirty="0"/>
          </a:p>
        </p:txBody>
      </p:sp>
      <p:sp>
        <p:nvSpPr>
          <p:cNvPr id="6" name="Text 2"/>
          <p:cNvSpPr txBox="1"/>
          <p:nvPr/>
        </p:nvSpPr>
        <p:spPr>
          <a:xfrm>
            <a:off x="2071116" y="3040380"/>
            <a:ext cx="8058607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dirty="0" err="1">
                <a:solidFill>
                  <a:srgbClr val="00D4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Zadara</a:t>
            </a:r>
            <a:r>
              <a:rPr lang="en-US" sz="2100" dirty="0">
                <a:solidFill>
                  <a:srgbClr val="00D4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Cloud 포털 구현 가능성 및 기술 이해</a:t>
            </a:r>
            <a:endParaRPr lang="en-US" sz="2100" dirty="0"/>
          </a:p>
        </p:txBody>
      </p:sp>
      <p:sp>
        <p:nvSpPr>
          <p:cNvPr id="7" name="Shape 3"/>
          <p:cNvSpPr/>
          <p:nvPr/>
        </p:nvSpPr>
        <p:spPr>
          <a:xfrm>
            <a:off x="1809598" y="4202582"/>
            <a:ext cx="8572500" cy="1181405"/>
          </a:xfrm>
          <a:prstGeom prst="roundRect">
            <a:avLst>
              <a:gd name="adj" fmla="val 14981"/>
            </a:avLst>
          </a:prstGeom>
          <a:solidFill>
            <a:srgbClr val="1B2A4A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4"/>
          <p:cNvSpPr txBox="1"/>
          <p:nvPr/>
        </p:nvSpPr>
        <p:spPr>
          <a:xfrm>
            <a:off x="2085746" y="4517136"/>
            <a:ext cx="8020202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D4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목표:</a:t>
            </a:r>
            <a:r>
              <a:rPr lang="en-US" sz="13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한국형 포털 UI/백엔드 구현 가능성을 명확히 검증하고, </a:t>
            </a:r>
            <a:r>
              <a:rPr lang="en-US" sz="1300" b="1" dirty="0">
                <a:solidFill>
                  <a:srgbClr val="00D4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기술 분기점(CSAP 인증 협조 여부)</a:t>
            </a:r>
            <a:r>
              <a:rPr lang="en-US" sz="13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 따른 실현 가능한 전략 로드맵을 제시합니다. 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3877970" y="5684825"/>
            <a:ext cx="550377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A9C1D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API 문서 · 인증 흐름 · 난이도 매트릭스 · 시나리오 기반 로드맵 분석 포함 </a:t>
            </a:r>
            <a:endParaRPr lang="en-US" sz="12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649370" y="5732374"/>
            <a:ext cx="152705" cy="15270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761695" y="571500"/>
            <a:ext cx="1078260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135" dirty="0">
                <a:solidFill>
                  <a:srgbClr val="00D4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PLATFORM OVERVIEW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61695" y="905256"/>
            <a:ext cx="1085850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Zadara Cloud 플랫폼 개요</a:t>
            </a:r>
            <a:endParaRPr lang="en-US" sz="3600" dirty="0"/>
          </a:p>
        </p:txBody>
      </p:sp>
      <p:sp>
        <p:nvSpPr>
          <p:cNvPr id="56" name="Shape 4">
            <a:extLst>
              <a:ext uri="{FF2B5EF4-FFF2-40B4-BE49-F238E27FC236}">
                <a16:creationId xmlns:a16="http://schemas.microsoft.com/office/drawing/2014/main" id="{860A97AE-3663-5064-C90C-EB4B7913DA80}"/>
              </a:ext>
            </a:extLst>
          </p:cNvPr>
          <p:cNvSpPr/>
          <p:nvPr/>
        </p:nvSpPr>
        <p:spPr>
          <a:xfrm>
            <a:off x="1333195" y="1587982"/>
            <a:ext cx="4647895" cy="2090601"/>
          </a:xfrm>
          <a:prstGeom prst="roundRect">
            <a:avLst>
              <a:gd name="adj" fmla="val 4137"/>
            </a:avLst>
          </a:prstGeom>
          <a:solidFill>
            <a:srgbClr val="1B2A4A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7" name="Image 1" descr="preencoded.png">
            <a:extLst>
              <a:ext uri="{FF2B5EF4-FFF2-40B4-BE49-F238E27FC236}">
                <a16:creationId xmlns:a16="http://schemas.microsoft.com/office/drawing/2014/main" id="{D4B085AD-5124-DF74-3A07-2C8DA603A9C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50" r="-50"/>
          <a:stretch/>
        </p:blipFill>
        <p:spPr>
          <a:xfrm>
            <a:off x="3486607" y="1980259"/>
            <a:ext cx="342900" cy="304495"/>
          </a:xfrm>
          <a:prstGeom prst="rect">
            <a:avLst/>
          </a:prstGeom>
        </p:spPr>
      </p:pic>
      <p:sp>
        <p:nvSpPr>
          <p:cNvPr id="58" name="Text 5">
            <a:extLst>
              <a:ext uri="{FF2B5EF4-FFF2-40B4-BE49-F238E27FC236}">
                <a16:creationId xmlns:a16="http://schemas.microsoft.com/office/drawing/2014/main" id="{C663CBA6-0DC1-2385-6E0B-E10C4B46FDF3}"/>
              </a:ext>
            </a:extLst>
          </p:cNvPr>
          <p:cNvSpPr txBox="1"/>
          <p:nvPr/>
        </p:nvSpPr>
        <p:spPr>
          <a:xfrm>
            <a:off x="2592324" y="2532557"/>
            <a:ext cx="2136038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OpenStack 기반 IaaS</a:t>
            </a:r>
            <a:endParaRPr lang="en-US" sz="1400" dirty="0"/>
          </a:p>
        </p:txBody>
      </p:sp>
      <p:sp>
        <p:nvSpPr>
          <p:cNvPr id="59" name="Text 6">
            <a:extLst>
              <a:ext uri="{FF2B5EF4-FFF2-40B4-BE49-F238E27FC236}">
                <a16:creationId xmlns:a16="http://schemas.microsoft.com/office/drawing/2014/main" id="{49597F8F-49D6-BCDF-0175-F5D748065929}"/>
              </a:ext>
            </a:extLst>
          </p:cNvPr>
          <p:cNvSpPr txBox="1"/>
          <p:nvPr/>
        </p:nvSpPr>
        <p:spPr>
          <a:xfrm>
            <a:off x="2255825" y="2959581"/>
            <a:ext cx="2809037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OpenStack 기반 인프라스트럭처 서비스</a:t>
            </a:r>
            <a:endParaRPr lang="en-US" sz="1100" dirty="0"/>
          </a:p>
        </p:txBody>
      </p:sp>
      <p:sp>
        <p:nvSpPr>
          <p:cNvPr id="60" name="Text 7">
            <a:extLst>
              <a:ext uri="{FF2B5EF4-FFF2-40B4-BE49-F238E27FC236}">
                <a16:creationId xmlns:a16="http://schemas.microsoft.com/office/drawing/2014/main" id="{4EC20295-E26B-B1EE-9932-3A71F6B6030D}"/>
              </a:ext>
            </a:extLst>
          </p:cNvPr>
          <p:cNvSpPr txBox="1"/>
          <p:nvPr/>
        </p:nvSpPr>
        <p:spPr>
          <a:xfrm>
            <a:off x="2336292" y="3190925"/>
            <a:ext cx="264810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표준 인터페이스 제공</a:t>
            </a:r>
            <a:endParaRPr lang="en-US" sz="1100" dirty="0"/>
          </a:p>
        </p:txBody>
      </p:sp>
      <p:sp>
        <p:nvSpPr>
          <p:cNvPr id="61" name="Shape 8">
            <a:extLst>
              <a:ext uri="{FF2B5EF4-FFF2-40B4-BE49-F238E27FC236}">
                <a16:creationId xmlns:a16="http://schemas.microsoft.com/office/drawing/2014/main" id="{06ABA332-445C-2038-C498-AB6958375ECB}"/>
              </a:ext>
            </a:extLst>
          </p:cNvPr>
          <p:cNvSpPr/>
          <p:nvPr/>
        </p:nvSpPr>
        <p:spPr>
          <a:xfrm>
            <a:off x="6210605" y="1587982"/>
            <a:ext cx="4647895" cy="2090601"/>
          </a:xfrm>
          <a:prstGeom prst="roundRect">
            <a:avLst>
              <a:gd name="adj" fmla="val 4137"/>
            </a:avLst>
          </a:prstGeom>
          <a:solidFill>
            <a:srgbClr val="1B2A4A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2" name="Image 2" descr="preencoded.png">
            <a:extLst>
              <a:ext uri="{FF2B5EF4-FFF2-40B4-BE49-F238E27FC236}">
                <a16:creationId xmlns:a16="http://schemas.microsoft.com/office/drawing/2014/main" id="{27859208-CF96-093A-38B2-EC8995983AA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382305" y="1980259"/>
            <a:ext cx="304495" cy="304495"/>
          </a:xfrm>
          <a:prstGeom prst="rect">
            <a:avLst/>
          </a:prstGeom>
        </p:spPr>
      </p:pic>
      <p:sp>
        <p:nvSpPr>
          <p:cNvPr id="63" name="Text 9">
            <a:extLst>
              <a:ext uri="{FF2B5EF4-FFF2-40B4-BE49-F238E27FC236}">
                <a16:creationId xmlns:a16="http://schemas.microsoft.com/office/drawing/2014/main" id="{E752793F-3DBC-7756-0599-82F5A2020455}"/>
              </a:ext>
            </a:extLst>
          </p:cNvPr>
          <p:cNvSpPr txBox="1"/>
          <p:nvPr/>
        </p:nvSpPr>
        <p:spPr>
          <a:xfrm>
            <a:off x="8114386" y="2532557"/>
            <a:ext cx="84673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KR1 리전</a:t>
            </a:r>
            <a:endParaRPr lang="en-US" sz="1400" dirty="0"/>
          </a:p>
        </p:txBody>
      </p:sp>
      <p:sp>
        <p:nvSpPr>
          <p:cNvPr id="64" name="Text 10">
            <a:extLst>
              <a:ext uri="{FF2B5EF4-FFF2-40B4-BE49-F238E27FC236}">
                <a16:creationId xmlns:a16="http://schemas.microsoft.com/office/drawing/2014/main" id="{AE755846-BF98-79C7-376E-6CA95F3BB995}"/>
              </a:ext>
            </a:extLst>
          </p:cNvPr>
          <p:cNvSpPr txBox="1"/>
          <p:nvPr/>
        </p:nvSpPr>
        <p:spPr>
          <a:xfrm>
            <a:off x="7334402" y="2959581"/>
            <a:ext cx="240761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한국 데이터 센터 위치</a:t>
            </a:r>
            <a:endParaRPr lang="en-US" sz="1100" dirty="0"/>
          </a:p>
        </p:txBody>
      </p:sp>
      <p:sp>
        <p:nvSpPr>
          <p:cNvPr id="65" name="Text 11">
            <a:extLst>
              <a:ext uri="{FF2B5EF4-FFF2-40B4-BE49-F238E27FC236}">
                <a16:creationId xmlns:a16="http://schemas.microsoft.com/office/drawing/2014/main" id="{CC37B9A3-E668-2254-6F67-E51BFD186D3E}"/>
              </a:ext>
            </a:extLst>
          </p:cNvPr>
          <p:cNvSpPr txBox="1"/>
          <p:nvPr/>
        </p:nvSpPr>
        <p:spPr>
          <a:xfrm>
            <a:off x="7211873" y="3190925"/>
            <a:ext cx="2652674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compute-iaas-kr1-01.zadara.com</a:t>
            </a:r>
            <a:endParaRPr lang="en-US" sz="1100" dirty="0"/>
          </a:p>
        </p:txBody>
      </p:sp>
      <p:sp>
        <p:nvSpPr>
          <p:cNvPr id="66" name="Shape 12">
            <a:extLst>
              <a:ext uri="{FF2B5EF4-FFF2-40B4-BE49-F238E27FC236}">
                <a16:creationId xmlns:a16="http://schemas.microsoft.com/office/drawing/2014/main" id="{4E538AD9-1746-40BB-FCAD-878D2F5C6D8A}"/>
              </a:ext>
            </a:extLst>
          </p:cNvPr>
          <p:cNvSpPr/>
          <p:nvPr/>
        </p:nvSpPr>
        <p:spPr>
          <a:xfrm>
            <a:off x="1333195" y="3885589"/>
            <a:ext cx="4647895" cy="2090601"/>
          </a:xfrm>
          <a:prstGeom prst="roundRect">
            <a:avLst>
              <a:gd name="adj" fmla="val 4137"/>
            </a:avLst>
          </a:prstGeom>
          <a:solidFill>
            <a:srgbClr val="1B2A4A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7" name="Image 3" descr="preencoded.png">
            <a:extLst>
              <a:ext uri="{FF2B5EF4-FFF2-40B4-BE49-F238E27FC236}">
                <a16:creationId xmlns:a16="http://schemas.microsoft.com/office/drawing/2014/main" id="{DCF2FA5C-A90E-0707-B74D-B922D2D4166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-50" r="-50"/>
          <a:stretch/>
        </p:blipFill>
        <p:spPr>
          <a:xfrm>
            <a:off x="3486607" y="4162652"/>
            <a:ext cx="342900" cy="304495"/>
          </a:xfrm>
          <a:prstGeom prst="rect">
            <a:avLst/>
          </a:prstGeom>
        </p:spPr>
      </p:pic>
      <p:sp>
        <p:nvSpPr>
          <p:cNvPr id="68" name="Text 13">
            <a:extLst>
              <a:ext uri="{FF2B5EF4-FFF2-40B4-BE49-F238E27FC236}">
                <a16:creationId xmlns:a16="http://schemas.microsoft.com/office/drawing/2014/main" id="{A0E27B3A-675C-B63A-9057-42D82A03EC00}"/>
              </a:ext>
            </a:extLst>
          </p:cNvPr>
          <p:cNvSpPr txBox="1"/>
          <p:nvPr/>
        </p:nvSpPr>
        <p:spPr>
          <a:xfrm>
            <a:off x="3113532" y="4714949"/>
            <a:ext cx="1092708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서비스</a:t>
            </a:r>
            <a:endParaRPr lang="en-US" sz="1400" dirty="0"/>
          </a:p>
        </p:txBody>
      </p:sp>
      <p:sp>
        <p:nvSpPr>
          <p:cNvPr id="69" name="Text 14">
            <a:extLst>
              <a:ext uri="{FF2B5EF4-FFF2-40B4-BE49-F238E27FC236}">
                <a16:creationId xmlns:a16="http://schemas.microsoft.com/office/drawing/2014/main" id="{472FEF18-CA42-292B-BF09-1FC89B5BD3E2}"/>
              </a:ext>
            </a:extLst>
          </p:cNvPr>
          <p:cNvSpPr txBox="1"/>
          <p:nvPr/>
        </p:nvSpPr>
        <p:spPr>
          <a:xfrm>
            <a:off x="2950769" y="5141974"/>
            <a:ext cx="1422806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zCompute (컴퓨트)</a:t>
            </a:r>
            <a:endParaRPr lang="en-US" sz="1100" dirty="0"/>
          </a:p>
        </p:txBody>
      </p:sp>
      <p:sp>
        <p:nvSpPr>
          <p:cNvPr id="70" name="Text 15">
            <a:extLst>
              <a:ext uri="{FF2B5EF4-FFF2-40B4-BE49-F238E27FC236}">
                <a16:creationId xmlns:a16="http://schemas.microsoft.com/office/drawing/2014/main" id="{F8081837-0C17-37FD-5B4F-CD18806B226D}"/>
              </a:ext>
            </a:extLst>
          </p:cNvPr>
          <p:cNvSpPr txBox="1"/>
          <p:nvPr/>
        </p:nvSpPr>
        <p:spPr>
          <a:xfrm>
            <a:off x="2968142" y="5373317"/>
            <a:ext cx="1388059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zBlock (스토리지)</a:t>
            </a:r>
            <a:endParaRPr lang="en-US" sz="1100" dirty="0"/>
          </a:p>
        </p:txBody>
      </p:sp>
      <p:sp>
        <p:nvSpPr>
          <p:cNvPr id="71" name="Text 16">
            <a:extLst>
              <a:ext uri="{FF2B5EF4-FFF2-40B4-BE49-F238E27FC236}">
                <a16:creationId xmlns:a16="http://schemas.microsoft.com/office/drawing/2014/main" id="{A514ACAF-3C79-2044-5909-CF1E04EBF0E7}"/>
              </a:ext>
            </a:extLst>
          </p:cNvPr>
          <p:cNvSpPr txBox="1"/>
          <p:nvPr/>
        </p:nvSpPr>
        <p:spPr>
          <a:xfrm>
            <a:off x="2925166" y="5604660"/>
            <a:ext cx="1474013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zObject (오브젝트)</a:t>
            </a:r>
            <a:endParaRPr lang="en-US" sz="1100" dirty="0"/>
          </a:p>
        </p:txBody>
      </p:sp>
      <p:sp>
        <p:nvSpPr>
          <p:cNvPr id="72" name="Shape 17">
            <a:extLst>
              <a:ext uri="{FF2B5EF4-FFF2-40B4-BE49-F238E27FC236}">
                <a16:creationId xmlns:a16="http://schemas.microsoft.com/office/drawing/2014/main" id="{C5E1A661-7307-FBC3-A411-597A854FFD7C}"/>
              </a:ext>
            </a:extLst>
          </p:cNvPr>
          <p:cNvSpPr/>
          <p:nvPr/>
        </p:nvSpPr>
        <p:spPr>
          <a:xfrm>
            <a:off x="6210605" y="3885589"/>
            <a:ext cx="4647895" cy="2090601"/>
          </a:xfrm>
          <a:prstGeom prst="roundRect">
            <a:avLst>
              <a:gd name="adj" fmla="val 4137"/>
            </a:avLst>
          </a:prstGeom>
          <a:solidFill>
            <a:srgbClr val="1B2A4A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73" name="Image 4" descr="preencoded.png">
            <a:extLst>
              <a:ext uri="{FF2B5EF4-FFF2-40B4-BE49-F238E27FC236}">
                <a16:creationId xmlns:a16="http://schemas.microsoft.com/office/drawing/2014/main" id="{7077BAF3-6022-3950-1D97-ED94C0E4FED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-50" r="-50"/>
          <a:stretch/>
        </p:blipFill>
        <p:spPr>
          <a:xfrm>
            <a:off x="8363102" y="4277866"/>
            <a:ext cx="342900" cy="304495"/>
          </a:xfrm>
          <a:prstGeom prst="rect">
            <a:avLst/>
          </a:prstGeom>
        </p:spPr>
      </p:pic>
      <p:sp>
        <p:nvSpPr>
          <p:cNvPr id="74" name="Text 18">
            <a:extLst>
              <a:ext uri="{FF2B5EF4-FFF2-40B4-BE49-F238E27FC236}">
                <a16:creationId xmlns:a16="http://schemas.microsoft.com/office/drawing/2014/main" id="{9E826E2A-3A83-3CFE-CF5D-EF633D965CA0}"/>
              </a:ext>
            </a:extLst>
          </p:cNvPr>
          <p:cNvSpPr txBox="1"/>
          <p:nvPr/>
        </p:nvSpPr>
        <p:spPr>
          <a:xfrm>
            <a:off x="8050378" y="4831078"/>
            <a:ext cx="97566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멀티테넌시</a:t>
            </a:r>
            <a:endParaRPr lang="en-US" sz="1400" dirty="0"/>
          </a:p>
        </p:txBody>
      </p:sp>
      <p:sp>
        <p:nvSpPr>
          <p:cNvPr id="75" name="Text 19">
            <a:extLst>
              <a:ext uri="{FF2B5EF4-FFF2-40B4-BE49-F238E27FC236}">
                <a16:creationId xmlns:a16="http://schemas.microsoft.com/office/drawing/2014/main" id="{D8CF6E0A-5AD9-4F6B-6AD9-C56A8A1E873F}"/>
              </a:ext>
            </a:extLst>
          </p:cNvPr>
          <p:cNvSpPr txBox="1"/>
          <p:nvPr/>
        </p:nvSpPr>
        <p:spPr>
          <a:xfrm>
            <a:off x="7701077" y="5257188"/>
            <a:ext cx="1666951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테넌트별 격리 시스템</a:t>
            </a:r>
            <a:endParaRPr lang="en-US" sz="1100" dirty="0"/>
          </a:p>
        </p:txBody>
      </p:sp>
      <p:sp>
        <p:nvSpPr>
          <p:cNvPr id="76" name="Text 20">
            <a:extLst>
              <a:ext uri="{FF2B5EF4-FFF2-40B4-BE49-F238E27FC236}">
                <a16:creationId xmlns:a16="http://schemas.microsoft.com/office/drawing/2014/main" id="{B215BEF3-DFD0-7F21-29E9-E701339DB257}"/>
              </a:ext>
            </a:extLst>
          </p:cNvPr>
          <p:cNvSpPr txBox="1"/>
          <p:nvPr/>
        </p:nvSpPr>
        <p:spPr>
          <a:xfrm>
            <a:off x="7626096" y="5488532"/>
            <a:ext cx="1816913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Domain → Project 구조</a:t>
            </a:r>
            <a:endParaRPr lang="en-US" sz="1100" dirty="0"/>
          </a:p>
        </p:txBody>
      </p:sp>
      <p:sp>
        <p:nvSpPr>
          <p:cNvPr id="77" name="Shape 21">
            <a:extLst>
              <a:ext uri="{FF2B5EF4-FFF2-40B4-BE49-F238E27FC236}">
                <a16:creationId xmlns:a16="http://schemas.microsoft.com/office/drawing/2014/main" id="{1DACE5D9-772E-0187-5CFE-460F1FFE3F24}"/>
              </a:ext>
            </a:extLst>
          </p:cNvPr>
          <p:cNvSpPr/>
          <p:nvPr/>
        </p:nvSpPr>
        <p:spPr>
          <a:xfrm>
            <a:off x="1333196" y="6150254"/>
            <a:ext cx="9533534" cy="629107"/>
          </a:xfrm>
          <a:prstGeom prst="roundRect">
            <a:avLst>
              <a:gd name="adj" fmla="val 35236"/>
            </a:avLst>
          </a:prstGeom>
          <a:solidFill>
            <a:srgbClr val="14532D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8" name="Text 22">
            <a:extLst>
              <a:ext uri="{FF2B5EF4-FFF2-40B4-BE49-F238E27FC236}">
                <a16:creationId xmlns:a16="http://schemas.microsoft.com/office/drawing/2014/main" id="{D184E4AC-2B65-5EBA-0D8B-F66C81EE5F4B}"/>
              </a:ext>
            </a:extLst>
          </p:cNvPr>
          <p:cNvSpPr txBox="1"/>
          <p:nvPr/>
        </p:nvSpPr>
        <p:spPr>
          <a:xfrm>
            <a:off x="4418381" y="6150254"/>
            <a:ext cx="4647895" cy="6291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304800" tIns="190500" rIns="304800" bIns="19050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6EFA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🔗 모든 서비스는 REST API 기반 자동화 지원 (/api/v2/) </a:t>
            </a:r>
            <a:endParaRPr lang="en-US" sz="1200" dirty="0"/>
          </a:p>
        </p:txBody>
      </p:sp>
      <p:pic>
        <p:nvPicPr>
          <p:cNvPr id="79" name="Image 5" descr="preencoded.png">
            <a:extLst>
              <a:ext uri="{FF2B5EF4-FFF2-40B4-BE49-F238E27FC236}">
                <a16:creationId xmlns:a16="http://schemas.microsoft.com/office/drawing/2014/main" id="{88F90B06-4FD6-12FA-BB03-4307715B44A4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-180" b="-180"/>
          <a:stretch/>
        </p:blipFill>
        <p:spPr>
          <a:xfrm>
            <a:off x="4151376" y="6398057"/>
            <a:ext cx="190195" cy="15270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571500" y="381305"/>
            <a:ext cx="111639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20" dirty="0">
                <a:solidFill>
                  <a:srgbClr val="00D4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DIRECT ANALYSIS REPORT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71500" y="657454"/>
            <a:ext cx="11239805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 분석 ① — 프론트엔드 &amp; API 구조</a:t>
            </a:r>
            <a:endParaRPr lang="en-US" sz="3100" dirty="0"/>
          </a:p>
        </p:txBody>
      </p:sp>
      <p:sp>
        <p:nvSpPr>
          <p:cNvPr id="9" name="Shape 7"/>
          <p:cNvSpPr/>
          <p:nvPr/>
        </p:nvSpPr>
        <p:spPr>
          <a:xfrm>
            <a:off x="535510" y="4442847"/>
            <a:ext cx="11082576" cy="792917"/>
          </a:xfrm>
          <a:prstGeom prst="roundRect">
            <a:avLst>
              <a:gd name="adj" fmla="val 39471"/>
            </a:avLst>
          </a:prstGeom>
          <a:solidFill>
            <a:srgbClr val="1A3A2A"/>
          </a:solidFill>
          <a:ln/>
        </p:spPr>
        <p:txBody>
          <a:bodyPr/>
          <a:lstStyle/>
          <a:p>
            <a:r>
              <a:rPr lang="ko-KR" altLang="en-US" dirty="0"/>
              <a:t>✅</a:t>
            </a:r>
          </a:p>
        </p:txBody>
      </p:sp>
      <p:sp>
        <p:nvSpPr>
          <p:cNvPr id="10" name="Shape 8"/>
          <p:cNvSpPr/>
          <p:nvPr/>
        </p:nvSpPr>
        <p:spPr>
          <a:xfrm>
            <a:off x="497106" y="4454867"/>
            <a:ext cx="45719" cy="792917"/>
          </a:xfrm>
          <a:prstGeom prst="roundRect">
            <a:avLst>
              <a:gd name="adj" fmla="val 529098"/>
            </a:avLst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 txBox="1"/>
          <p:nvPr/>
        </p:nvSpPr>
        <p:spPr>
          <a:xfrm>
            <a:off x="1185659" y="4454868"/>
            <a:ext cx="9645995" cy="7929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공식 </a:t>
            </a:r>
            <a:r>
              <a:rPr lang="en-US" altLang="ko-KR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API </a:t>
            </a:r>
            <a:r>
              <a:rPr lang="ko-KR" alt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문서 확인 완료</a:t>
            </a:r>
            <a:r>
              <a:rPr lang="en-US" altLang="ko-KR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(api-doc.zadarastorage.com)</a:t>
            </a:r>
          </a:p>
          <a:p>
            <a:r>
              <a:rPr lang="en-US" altLang="ko-KR" sz="1200" dirty="0">
                <a:solidFill>
                  <a:srgbClr val="86EFA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Provisioning Portal API (/</a:t>
            </a:r>
            <a:r>
              <a:rPr lang="en-US" altLang="ko-KR" sz="1200" dirty="0" err="1">
                <a:solidFill>
                  <a:srgbClr val="86EFA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api</a:t>
            </a:r>
            <a:r>
              <a:rPr lang="en-US" altLang="ko-KR" sz="1200" dirty="0">
                <a:solidFill>
                  <a:srgbClr val="86EFA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/v2/) </a:t>
            </a:r>
            <a:r>
              <a:rPr lang="en-US" altLang="ko-KR" sz="1200" dirty="0" err="1">
                <a:solidFill>
                  <a:srgbClr val="86EFA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기반으로</a:t>
            </a:r>
            <a:r>
              <a:rPr lang="en-US" altLang="ko-KR" sz="1200" dirty="0">
                <a:solidFill>
                  <a:srgbClr val="86EFA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1200" dirty="0" err="1">
                <a:solidFill>
                  <a:srgbClr val="86EFA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한국형</a:t>
            </a:r>
            <a:r>
              <a:rPr lang="en-US" altLang="ko-KR" sz="1200" dirty="0">
                <a:solidFill>
                  <a:srgbClr val="86EFA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1200" dirty="0" err="1">
                <a:solidFill>
                  <a:srgbClr val="86EFA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포털</a:t>
            </a:r>
            <a:r>
              <a:rPr lang="en-US" altLang="ko-KR" sz="1200" dirty="0">
                <a:solidFill>
                  <a:srgbClr val="86EFA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1200" dirty="0" err="1">
                <a:solidFill>
                  <a:srgbClr val="86EFA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구축이</a:t>
            </a:r>
            <a:r>
              <a:rPr lang="en-US" altLang="ko-KR" sz="1200" dirty="0">
                <a:solidFill>
                  <a:srgbClr val="86EFA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1200" dirty="0" err="1">
                <a:solidFill>
                  <a:srgbClr val="86EFA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이제</a:t>
            </a:r>
            <a:r>
              <a:rPr lang="en-US" altLang="ko-KR" sz="1200" dirty="0">
                <a:solidFill>
                  <a:srgbClr val="86EFA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1200" dirty="0" err="1">
                <a:solidFill>
                  <a:srgbClr val="86EFA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가능합니다</a:t>
            </a:r>
            <a:r>
              <a:rPr lang="en-US" altLang="ko-KR" sz="1200" dirty="0">
                <a:solidFill>
                  <a:srgbClr val="86EFA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 </a:t>
            </a:r>
            <a:r>
              <a:rPr lang="en-US" altLang="ko-KR" sz="1200" dirty="0" err="1">
                <a:solidFill>
                  <a:srgbClr val="86EFA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공식</a:t>
            </a:r>
            <a:r>
              <a:rPr lang="en-US" altLang="ko-KR" sz="1200" dirty="0">
                <a:solidFill>
                  <a:srgbClr val="86EFA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1200" dirty="0" err="1">
                <a:solidFill>
                  <a:srgbClr val="86EFA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문서를</a:t>
            </a:r>
            <a:r>
              <a:rPr lang="en-US" altLang="ko-KR" sz="1200" dirty="0">
                <a:solidFill>
                  <a:srgbClr val="86EFA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1200" dirty="0" err="1">
                <a:solidFill>
                  <a:srgbClr val="86EFA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통해</a:t>
            </a:r>
            <a:r>
              <a:rPr lang="en-US" altLang="ko-KR" sz="1200" dirty="0">
                <a:solidFill>
                  <a:srgbClr val="86EFA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1200" dirty="0" err="1">
                <a:solidFill>
                  <a:srgbClr val="86EFA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모든</a:t>
            </a:r>
            <a:r>
              <a:rPr lang="en-US" altLang="ko-KR" sz="1200" dirty="0">
                <a:solidFill>
                  <a:srgbClr val="86EFA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1200" dirty="0" err="1">
                <a:solidFill>
                  <a:srgbClr val="86EFA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엔드포인트와</a:t>
            </a:r>
            <a:r>
              <a:rPr lang="en-US" altLang="ko-KR" sz="1200" dirty="0">
                <a:solidFill>
                  <a:srgbClr val="86EFA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1200" dirty="0" err="1">
                <a:solidFill>
                  <a:srgbClr val="86EFA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응답</a:t>
            </a:r>
            <a:r>
              <a:rPr lang="en-US" altLang="ko-KR" sz="1200" dirty="0">
                <a:solidFill>
                  <a:srgbClr val="86EFA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1200" dirty="0" err="1">
                <a:solidFill>
                  <a:srgbClr val="86EFA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스키마를</a:t>
            </a:r>
            <a:r>
              <a:rPr lang="en-US" altLang="ko-KR" sz="1200" dirty="0">
                <a:solidFill>
                  <a:srgbClr val="86EFA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1200" dirty="0" err="1">
                <a:solidFill>
                  <a:srgbClr val="86EFA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확인했습니다</a:t>
            </a:r>
            <a:r>
              <a:rPr lang="en-US" altLang="ko-KR" sz="1200" dirty="0">
                <a:solidFill>
                  <a:srgbClr val="86EFA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  <a:endParaRPr lang="en-US" altLang="ko-KR" sz="1200" dirty="0"/>
          </a:p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74" name="Shape 3">
            <a:extLst>
              <a:ext uri="{FF2B5EF4-FFF2-40B4-BE49-F238E27FC236}">
                <a16:creationId xmlns:a16="http://schemas.microsoft.com/office/drawing/2014/main" id="{979C13C2-873F-A577-272E-38CDE6B795EA}"/>
              </a:ext>
            </a:extLst>
          </p:cNvPr>
          <p:cNvSpPr/>
          <p:nvPr/>
        </p:nvSpPr>
        <p:spPr>
          <a:xfrm>
            <a:off x="1619402" y="1416863"/>
            <a:ext cx="3933749" cy="2857500"/>
          </a:xfrm>
          <a:prstGeom prst="roundRect">
            <a:avLst>
              <a:gd name="adj" fmla="val 2560"/>
            </a:avLst>
          </a:prstGeom>
          <a:solidFill>
            <a:srgbClr val="1B2A4A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5" name="Text 4">
            <a:extLst>
              <a:ext uri="{FF2B5EF4-FFF2-40B4-BE49-F238E27FC236}">
                <a16:creationId xmlns:a16="http://schemas.microsoft.com/office/drawing/2014/main" id="{2CB6E5E9-1A08-FB5E-32A8-19A60AFB0B13}"/>
              </a:ext>
            </a:extLst>
          </p:cNvPr>
          <p:cNvSpPr txBox="1"/>
          <p:nvPr/>
        </p:nvSpPr>
        <p:spPr>
          <a:xfrm>
            <a:off x="2448763" y="1731416"/>
            <a:ext cx="2980944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프론트엔드 분석</a:t>
            </a:r>
            <a:endParaRPr lang="en-US" sz="1600" dirty="0"/>
          </a:p>
        </p:txBody>
      </p:sp>
      <p:pic>
        <p:nvPicPr>
          <p:cNvPr id="76" name="Image 1" descr="preencoded.png">
            <a:extLst>
              <a:ext uri="{FF2B5EF4-FFF2-40B4-BE49-F238E27FC236}">
                <a16:creationId xmlns:a16="http://schemas.microsoft.com/office/drawing/2014/main" id="{190AC378-4EAE-36BE-A5DB-B4B48763774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23063" r="-23063"/>
          <a:stretch/>
        </p:blipFill>
        <p:spPr>
          <a:xfrm>
            <a:off x="1933956" y="1767078"/>
            <a:ext cx="362102" cy="247802"/>
          </a:xfrm>
          <a:prstGeom prst="rect">
            <a:avLst/>
          </a:prstGeom>
        </p:spPr>
      </p:pic>
      <p:sp>
        <p:nvSpPr>
          <p:cNvPr id="77" name="Text 5">
            <a:extLst>
              <a:ext uri="{FF2B5EF4-FFF2-40B4-BE49-F238E27FC236}">
                <a16:creationId xmlns:a16="http://schemas.microsoft.com/office/drawing/2014/main" id="{BB8E23A9-2030-17C6-BDFB-7B45829A6825}"/>
              </a:ext>
            </a:extLst>
          </p:cNvPr>
          <p:cNvSpPr txBox="1"/>
          <p:nvPr/>
        </p:nvSpPr>
        <p:spPr>
          <a:xfrm>
            <a:off x="1933956" y="2280056"/>
            <a:ext cx="34198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Vue.js SPA</a:t>
            </a:r>
            <a:r>
              <a:rPr lang="en-US" sz="12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기반 싱글 페이지 애플리케이션</a:t>
            </a:r>
            <a:endParaRPr lang="en-US" sz="1200" dirty="0"/>
          </a:p>
        </p:txBody>
      </p:sp>
      <p:sp>
        <p:nvSpPr>
          <p:cNvPr id="78" name="Text 6">
            <a:extLst>
              <a:ext uri="{FF2B5EF4-FFF2-40B4-BE49-F238E27FC236}">
                <a16:creationId xmlns:a16="http://schemas.microsoft.com/office/drawing/2014/main" id="{151C12F7-D2FD-8DE6-E482-C383ACD3CA08}"/>
              </a:ext>
            </a:extLst>
          </p:cNvPr>
          <p:cNvSpPr txBox="1"/>
          <p:nvPr/>
        </p:nvSpPr>
        <p:spPr>
          <a:xfrm>
            <a:off x="1933956" y="2538832"/>
            <a:ext cx="34198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차트 라이브러리: </a:t>
            </a:r>
            <a:r>
              <a:rPr lang="en-US" sz="1200" b="1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Chart.js / ECharts</a:t>
            </a:r>
            <a:endParaRPr lang="en-US" sz="1200" dirty="0"/>
          </a:p>
        </p:txBody>
      </p:sp>
      <p:sp>
        <p:nvSpPr>
          <p:cNvPr id="79" name="Text 7">
            <a:extLst>
              <a:ext uri="{FF2B5EF4-FFF2-40B4-BE49-F238E27FC236}">
                <a16:creationId xmlns:a16="http://schemas.microsoft.com/office/drawing/2014/main" id="{5E9385C4-C84D-225D-EA98-8836E5A368F0}"/>
              </a:ext>
            </a:extLst>
          </p:cNvPr>
          <p:cNvSpPr txBox="1"/>
          <p:nvPr/>
        </p:nvSpPr>
        <p:spPr>
          <a:xfrm>
            <a:off x="1933956" y="2797607"/>
            <a:ext cx="349575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반응형 레이아웃으로 PC/모바일 대응</a:t>
            </a:r>
            <a:endParaRPr lang="en-US" sz="1200" dirty="0"/>
          </a:p>
        </p:txBody>
      </p:sp>
      <p:sp>
        <p:nvSpPr>
          <p:cNvPr id="80" name="Text 8">
            <a:extLst>
              <a:ext uri="{FF2B5EF4-FFF2-40B4-BE49-F238E27FC236}">
                <a16:creationId xmlns:a16="http://schemas.microsoft.com/office/drawing/2014/main" id="{B7BE62B1-371D-56AC-9543-27BE19EB2A05}"/>
              </a:ext>
            </a:extLst>
          </p:cNvPr>
          <p:cNvSpPr txBox="1"/>
          <p:nvPr/>
        </p:nvSpPr>
        <p:spPr>
          <a:xfrm>
            <a:off x="1933956" y="3057296"/>
            <a:ext cx="349575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컴포넌트 기반 개발로 재사용성 확보</a:t>
            </a:r>
            <a:endParaRPr lang="en-US" sz="1200" dirty="0"/>
          </a:p>
        </p:txBody>
      </p:sp>
      <p:sp>
        <p:nvSpPr>
          <p:cNvPr id="81" name="Shape 9">
            <a:extLst>
              <a:ext uri="{FF2B5EF4-FFF2-40B4-BE49-F238E27FC236}">
                <a16:creationId xmlns:a16="http://schemas.microsoft.com/office/drawing/2014/main" id="{4BA7D2E2-F6B4-E19A-F393-19F93A9B8A0A}"/>
              </a:ext>
            </a:extLst>
          </p:cNvPr>
          <p:cNvSpPr/>
          <p:nvPr/>
        </p:nvSpPr>
        <p:spPr>
          <a:xfrm>
            <a:off x="5854903" y="1416863"/>
            <a:ext cx="4724705" cy="2857500"/>
          </a:xfrm>
          <a:prstGeom prst="roundRect">
            <a:avLst>
              <a:gd name="adj" fmla="val 2560"/>
            </a:avLst>
          </a:prstGeom>
          <a:solidFill>
            <a:srgbClr val="1B2A4A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2" name="Text 10">
            <a:extLst>
              <a:ext uri="{FF2B5EF4-FFF2-40B4-BE49-F238E27FC236}">
                <a16:creationId xmlns:a16="http://schemas.microsoft.com/office/drawing/2014/main" id="{DAAE3D68-095E-A748-9530-2D33B5F62806}"/>
              </a:ext>
            </a:extLst>
          </p:cNvPr>
          <p:cNvSpPr txBox="1"/>
          <p:nvPr/>
        </p:nvSpPr>
        <p:spPr>
          <a:xfrm>
            <a:off x="6684264" y="1731416"/>
            <a:ext cx="3696005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REST API 엔드포인트</a:t>
            </a:r>
            <a:endParaRPr lang="en-US" sz="1600" dirty="0"/>
          </a:p>
        </p:txBody>
      </p:sp>
      <p:pic>
        <p:nvPicPr>
          <p:cNvPr id="83" name="Image 2" descr="preencoded.png">
            <a:extLst>
              <a:ext uri="{FF2B5EF4-FFF2-40B4-BE49-F238E27FC236}">
                <a16:creationId xmlns:a16="http://schemas.microsoft.com/office/drawing/2014/main" id="{9A9EC760-A0F6-CA11-23E5-D38A160EE2D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8450" r="-8450"/>
          <a:stretch/>
        </p:blipFill>
        <p:spPr>
          <a:xfrm>
            <a:off x="6169457" y="1767078"/>
            <a:ext cx="362102" cy="247802"/>
          </a:xfrm>
          <a:prstGeom prst="rect">
            <a:avLst/>
          </a:prstGeom>
        </p:spPr>
      </p:pic>
      <p:sp>
        <p:nvSpPr>
          <p:cNvPr id="84" name="Shape 11">
            <a:extLst>
              <a:ext uri="{FF2B5EF4-FFF2-40B4-BE49-F238E27FC236}">
                <a16:creationId xmlns:a16="http://schemas.microsoft.com/office/drawing/2014/main" id="{129A4C8E-97B5-4F1F-3E0E-33695FC754E3}"/>
              </a:ext>
            </a:extLst>
          </p:cNvPr>
          <p:cNvSpPr/>
          <p:nvPr/>
        </p:nvSpPr>
        <p:spPr>
          <a:xfrm>
            <a:off x="6169457" y="2280056"/>
            <a:ext cx="1524305" cy="437998"/>
          </a:xfrm>
          <a:prstGeom prst="roundRect">
            <a:avLst>
              <a:gd name="adj" fmla="val 54461"/>
            </a:avLst>
          </a:prstGeom>
          <a:solidFill>
            <a:srgbClr val="0D1B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5" name="Text 12">
            <a:extLst>
              <a:ext uri="{FF2B5EF4-FFF2-40B4-BE49-F238E27FC236}">
                <a16:creationId xmlns:a16="http://schemas.microsoft.com/office/drawing/2014/main" id="{0E15EDEF-A937-7CEE-95D8-96856C14F134}"/>
              </a:ext>
            </a:extLst>
          </p:cNvPr>
          <p:cNvSpPr txBox="1"/>
          <p:nvPr/>
        </p:nvSpPr>
        <p:spPr>
          <a:xfrm>
            <a:off x="6169457" y="2280056"/>
            <a:ext cx="1585570" cy="4389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101600" rIns="152400" bIns="1016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/api/v2/events</a:t>
            </a:r>
            <a:endParaRPr lang="en-US" sz="1100" dirty="0"/>
          </a:p>
        </p:txBody>
      </p:sp>
      <p:sp>
        <p:nvSpPr>
          <p:cNvPr id="86" name="Shape 13">
            <a:extLst>
              <a:ext uri="{FF2B5EF4-FFF2-40B4-BE49-F238E27FC236}">
                <a16:creationId xmlns:a16="http://schemas.microsoft.com/office/drawing/2014/main" id="{627091AA-FF5E-F906-59F1-CDF802107A00}"/>
              </a:ext>
            </a:extLst>
          </p:cNvPr>
          <p:cNvSpPr/>
          <p:nvPr/>
        </p:nvSpPr>
        <p:spPr>
          <a:xfrm>
            <a:off x="7785202" y="2280056"/>
            <a:ext cx="1695298" cy="437998"/>
          </a:xfrm>
          <a:prstGeom prst="roundRect">
            <a:avLst>
              <a:gd name="adj" fmla="val 54461"/>
            </a:avLst>
          </a:prstGeom>
          <a:solidFill>
            <a:srgbClr val="0D1B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7" name="Text 14">
            <a:extLst>
              <a:ext uri="{FF2B5EF4-FFF2-40B4-BE49-F238E27FC236}">
                <a16:creationId xmlns:a16="http://schemas.microsoft.com/office/drawing/2014/main" id="{9E4CBAFC-B424-150B-923E-870CC4A25743}"/>
              </a:ext>
            </a:extLst>
          </p:cNvPr>
          <p:cNvSpPr txBox="1"/>
          <p:nvPr/>
        </p:nvSpPr>
        <p:spPr>
          <a:xfrm>
            <a:off x="7785202" y="2280056"/>
            <a:ext cx="1763878" cy="4389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101600" rIns="152400" bIns="1016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/api/v2/identity</a:t>
            </a:r>
            <a:endParaRPr lang="en-US" sz="1100" dirty="0"/>
          </a:p>
        </p:txBody>
      </p:sp>
      <p:sp>
        <p:nvSpPr>
          <p:cNvPr id="88" name="Shape 15">
            <a:extLst>
              <a:ext uri="{FF2B5EF4-FFF2-40B4-BE49-F238E27FC236}">
                <a16:creationId xmlns:a16="http://schemas.microsoft.com/office/drawing/2014/main" id="{39B8B8F8-D702-72AA-979A-D8454DD9AB24}"/>
              </a:ext>
            </a:extLst>
          </p:cNvPr>
          <p:cNvSpPr/>
          <p:nvPr/>
        </p:nvSpPr>
        <p:spPr>
          <a:xfrm>
            <a:off x="6169457" y="2811323"/>
            <a:ext cx="1609344" cy="437998"/>
          </a:xfrm>
          <a:prstGeom prst="roundRect">
            <a:avLst>
              <a:gd name="adj" fmla="val 54461"/>
            </a:avLst>
          </a:prstGeom>
          <a:solidFill>
            <a:srgbClr val="0D1B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9" name="Text 16">
            <a:extLst>
              <a:ext uri="{FF2B5EF4-FFF2-40B4-BE49-F238E27FC236}">
                <a16:creationId xmlns:a16="http://schemas.microsoft.com/office/drawing/2014/main" id="{3297B5D6-EB35-35F7-B35D-77672CA27A03}"/>
              </a:ext>
            </a:extLst>
          </p:cNvPr>
          <p:cNvSpPr txBox="1"/>
          <p:nvPr/>
        </p:nvSpPr>
        <p:spPr>
          <a:xfrm>
            <a:off x="6169457" y="2811323"/>
            <a:ext cx="1674266" cy="4389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101600" rIns="152400" bIns="1016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/api/v2/compute</a:t>
            </a:r>
            <a:endParaRPr lang="en-US" sz="1100" dirty="0"/>
          </a:p>
        </p:txBody>
      </p:sp>
      <p:sp>
        <p:nvSpPr>
          <p:cNvPr id="90" name="Shape 17">
            <a:extLst>
              <a:ext uri="{FF2B5EF4-FFF2-40B4-BE49-F238E27FC236}">
                <a16:creationId xmlns:a16="http://schemas.microsoft.com/office/drawing/2014/main" id="{C736FE9E-8251-28A4-E404-4D5AC6CEC829}"/>
              </a:ext>
            </a:extLst>
          </p:cNvPr>
          <p:cNvSpPr/>
          <p:nvPr/>
        </p:nvSpPr>
        <p:spPr>
          <a:xfrm>
            <a:off x="7872070" y="2811323"/>
            <a:ext cx="1609344" cy="437998"/>
          </a:xfrm>
          <a:prstGeom prst="roundRect">
            <a:avLst>
              <a:gd name="adj" fmla="val 54461"/>
            </a:avLst>
          </a:prstGeom>
          <a:solidFill>
            <a:srgbClr val="0D1B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1" name="Text 18">
            <a:extLst>
              <a:ext uri="{FF2B5EF4-FFF2-40B4-BE49-F238E27FC236}">
                <a16:creationId xmlns:a16="http://schemas.microsoft.com/office/drawing/2014/main" id="{E55A3AF0-8ABA-2FF3-ADCE-F05D251EF04B}"/>
              </a:ext>
            </a:extLst>
          </p:cNvPr>
          <p:cNvSpPr txBox="1"/>
          <p:nvPr/>
        </p:nvSpPr>
        <p:spPr>
          <a:xfrm>
            <a:off x="7872070" y="2811323"/>
            <a:ext cx="1674266" cy="4389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101600" rIns="152400" bIns="1016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/api/v2/volumes</a:t>
            </a:r>
            <a:endParaRPr lang="en-US" sz="1100" dirty="0"/>
          </a:p>
        </p:txBody>
      </p:sp>
      <p:sp>
        <p:nvSpPr>
          <p:cNvPr id="92" name="Text 19">
            <a:extLst>
              <a:ext uri="{FF2B5EF4-FFF2-40B4-BE49-F238E27FC236}">
                <a16:creationId xmlns:a16="http://schemas.microsoft.com/office/drawing/2014/main" id="{1D0FD37E-6653-2FCA-CB68-503CD736D031}"/>
              </a:ext>
            </a:extLst>
          </p:cNvPr>
          <p:cNvSpPr txBox="1"/>
          <p:nvPr/>
        </p:nvSpPr>
        <p:spPr>
          <a:xfrm>
            <a:off x="6169457" y="3438601"/>
            <a:ext cx="421081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Resource Manager:</a:t>
            </a:r>
            <a:r>
              <a:rPr lang="en-US" sz="12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VM/Volume/Network 통합 관리</a:t>
            </a:r>
            <a:endParaRPr lang="en-US" sz="1200" dirty="0"/>
          </a:p>
        </p:txBody>
      </p:sp>
      <p:sp>
        <p:nvSpPr>
          <p:cNvPr id="93" name="Text 20">
            <a:extLst>
              <a:ext uri="{FF2B5EF4-FFF2-40B4-BE49-F238E27FC236}">
                <a16:creationId xmlns:a16="http://schemas.microsoft.com/office/drawing/2014/main" id="{72EC0B9F-C9D8-1023-89F7-AB3332783BB6}"/>
              </a:ext>
            </a:extLst>
          </p:cNvPr>
          <p:cNvSpPr txBox="1"/>
          <p:nvPr/>
        </p:nvSpPr>
        <p:spPr>
          <a:xfrm>
            <a:off x="6169457" y="3698291"/>
            <a:ext cx="421081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Audit Log &amp; Event Stream</a:t>
            </a:r>
            <a:r>
              <a:rPr lang="en-US" sz="12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지원</a:t>
            </a:r>
            <a:endParaRPr lang="en-US" sz="1200" dirty="0"/>
          </a:p>
        </p:txBody>
      </p:sp>
      <p:sp>
        <p:nvSpPr>
          <p:cNvPr id="94" name="Text 25">
            <a:extLst>
              <a:ext uri="{FF2B5EF4-FFF2-40B4-BE49-F238E27FC236}">
                <a16:creationId xmlns:a16="http://schemas.microsoft.com/office/drawing/2014/main" id="{D6EAD5DB-C46D-4073-F513-BD6A4E7B64CF}"/>
              </a:ext>
            </a:extLst>
          </p:cNvPr>
          <p:cNvSpPr txBox="1"/>
          <p:nvPr/>
        </p:nvSpPr>
        <p:spPr>
          <a:xfrm>
            <a:off x="2225556" y="5358152"/>
            <a:ext cx="802934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D4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공식 문서 및 Swagger API</a:t>
            </a:r>
            <a:endParaRPr lang="en-US" sz="1200" dirty="0"/>
          </a:p>
        </p:txBody>
      </p:sp>
      <p:pic>
        <p:nvPicPr>
          <p:cNvPr id="95" name="Image 4" descr="preencoded.png">
            <a:extLst>
              <a:ext uri="{FF2B5EF4-FFF2-40B4-BE49-F238E27FC236}">
                <a16:creationId xmlns:a16="http://schemas.microsoft.com/office/drawing/2014/main" id="{5BD72BDC-2CB7-BE32-D3B7-6ABA2FD48C6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-43" b="-43"/>
          <a:stretch/>
        </p:blipFill>
        <p:spPr>
          <a:xfrm>
            <a:off x="1939349" y="5396557"/>
            <a:ext cx="133502" cy="152705"/>
          </a:xfrm>
          <a:prstGeom prst="rect">
            <a:avLst/>
          </a:prstGeom>
        </p:spPr>
      </p:pic>
      <p:sp>
        <p:nvSpPr>
          <p:cNvPr id="96" name="Shape 26">
            <a:extLst>
              <a:ext uri="{FF2B5EF4-FFF2-40B4-BE49-F238E27FC236}">
                <a16:creationId xmlns:a16="http://schemas.microsoft.com/office/drawing/2014/main" id="{99F684D2-1F26-66B1-9BDA-38E62F75A403}"/>
              </a:ext>
            </a:extLst>
          </p:cNvPr>
          <p:cNvSpPr/>
          <p:nvPr/>
        </p:nvSpPr>
        <p:spPr>
          <a:xfrm>
            <a:off x="1939349" y="5701052"/>
            <a:ext cx="4048049" cy="448056"/>
          </a:xfrm>
          <a:prstGeom prst="roundRect">
            <a:avLst>
              <a:gd name="adj" fmla="val 52106"/>
            </a:avLst>
          </a:prstGeom>
          <a:solidFill>
            <a:srgbClr val="1B2A4A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7" name="Text 27">
            <a:extLst>
              <a:ext uri="{FF2B5EF4-FFF2-40B4-BE49-F238E27FC236}">
                <a16:creationId xmlns:a16="http://schemas.microsoft.com/office/drawing/2014/main" id="{EFCDEBD8-D333-91BD-95CA-4B6C11BDD5AD}"/>
              </a:ext>
            </a:extLst>
          </p:cNvPr>
          <p:cNvSpPr txBox="1"/>
          <p:nvPr/>
        </p:nvSpPr>
        <p:spPr>
          <a:xfrm>
            <a:off x="1939349" y="5701052"/>
            <a:ext cx="4124858" cy="4480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114300" rIns="114300" bIns="11430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0D4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📄guides.zadarastorage.com/cs-compute-guide (VM 관리)</a:t>
            </a:r>
            <a:endParaRPr lang="en-US" sz="1000" dirty="0"/>
          </a:p>
        </p:txBody>
      </p:sp>
      <p:sp>
        <p:nvSpPr>
          <p:cNvPr id="98" name="Shape 28">
            <a:extLst>
              <a:ext uri="{FF2B5EF4-FFF2-40B4-BE49-F238E27FC236}">
                <a16:creationId xmlns:a16="http://schemas.microsoft.com/office/drawing/2014/main" id="{E9D8E24B-0E4B-6F3A-ED19-0D3480DC0DCD}"/>
              </a:ext>
            </a:extLst>
          </p:cNvPr>
          <p:cNvSpPr/>
          <p:nvPr/>
        </p:nvSpPr>
        <p:spPr>
          <a:xfrm>
            <a:off x="6094383" y="5701052"/>
            <a:ext cx="4048049" cy="448056"/>
          </a:xfrm>
          <a:prstGeom prst="roundRect">
            <a:avLst>
              <a:gd name="adj" fmla="val 52106"/>
            </a:avLst>
          </a:prstGeom>
          <a:solidFill>
            <a:srgbClr val="1B2A4A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9" name="Text 29">
            <a:extLst>
              <a:ext uri="{FF2B5EF4-FFF2-40B4-BE49-F238E27FC236}">
                <a16:creationId xmlns:a16="http://schemas.microsoft.com/office/drawing/2014/main" id="{4561269B-1C66-A8DC-F7DD-D2FD561C8196}"/>
              </a:ext>
            </a:extLst>
          </p:cNvPr>
          <p:cNvSpPr txBox="1"/>
          <p:nvPr/>
        </p:nvSpPr>
        <p:spPr>
          <a:xfrm>
            <a:off x="6094383" y="5701052"/>
            <a:ext cx="4124858" cy="4480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114300" rIns="114300" bIns="11430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0D4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🌐guides.zadarastorage.com/cs-networking-guide (네트워킹)</a:t>
            </a:r>
            <a:endParaRPr lang="en-US" sz="1000" dirty="0"/>
          </a:p>
        </p:txBody>
      </p:sp>
      <p:sp>
        <p:nvSpPr>
          <p:cNvPr id="100" name="Shape 30">
            <a:extLst>
              <a:ext uri="{FF2B5EF4-FFF2-40B4-BE49-F238E27FC236}">
                <a16:creationId xmlns:a16="http://schemas.microsoft.com/office/drawing/2014/main" id="{889E6D3F-838D-A2C8-0C1B-ED54CA260BFA}"/>
              </a:ext>
            </a:extLst>
          </p:cNvPr>
          <p:cNvSpPr/>
          <p:nvPr/>
        </p:nvSpPr>
        <p:spPr>
          <a:xfrm>
            <a:off x="1939349" y="6257922"/>
            <a:ext cx="4048049" cy="448056"/>
          </a:xfrm>
          <a:prstGeom prst="roundRect">
            <a:avLst>
              <a:gd name="adj" fmla="val 52106"/>
            </a:avLst>
          </a:prstGeom>
          <a:solidFill>
            <a:srgbClr val="1B2A4A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1" name="Text 31">
            <a:extLst>
              <a:ext uri="{FF2B5EF4-FFF2-40B4-BE49-F238E27FC236}">
                <a16:creationId xmlns:a16="http://schemas.microsoft.com/office/drawing/2014/main" id="{120A208C-5389-8FC7-92E6-BE824010B697}"/>
              </a:ext>
            </a:extLst>
          </p:cNvPr>
          <p:cNvSpPr txBox="1"/>
          <p:nvPr/>
        </p:nvSpPr>
        <p:spPr>
          <a:xfrm>
            <a:off x="1939349" y="6257922"/>
            <a:ext cx="4124858" cy="4480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114300" rIns="114300" bIns="11430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0D4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🔑guides.zadarastorage.com/cs-iam-guide (인증)</a:t>
            </a:r>
            <a:endParaRPr lang="en-US" sz="1000" dirty="0"/>
          </a:p>
        </p:txBody>
      </p:sp>
      <p:sp>
        <p:nvSpPr>
          <p:cNvPr id="102" name="Shape 32">
            <a:extLst>
              <a:ext uri="{FF2B5EF4-FFF2-40B4-BE49-F238E27FC236}">
                <a16:creationId xmlns:a16="http://schemas.microsoft.com/office/drawing/2014/main" id="{7118C3C7-CF4E-B828-A210-7C7DFD076AB5}"/>
              </a:ext>
            </a:extLst>
          </p:cNvPr>
          <p:cNvSpPr/>
          <p:nvPr/>
        </p:nvSpPr>
        <p:spPr>
          <a:xfrm>
            <a:off x="6094383" y="6257922"/>
            <a:ext cx="4048049" cy="448056"/>
          </a:xfrm>
          <a:prstGeom prst="roundRect">
            <a:avLst>
              <a:gd name="adj" fmla="val 52106"/>
            </a:avLst>
          </a:prstGeom>
          <a:solidFill>
            <a:srgbClr val="1B2A4A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3" name="Text 33">
            <a:extLst>
              <a:ext uri="{FF2B5EF4-FFF2-40B4-BE49-F238E27FC236}">
                <a16:creationId xmlns:a16="http://schemas.microsoft.com/office/drawing/2014/main" id="{8FBD66C2-F5C1-9391-60EE-060B7534D2E7}"/>
              </a:ext>
            </a:extLst>
          </p:cNvPr>
          <p:cNvSpPr txBox="1"/>
          <p:nvPr/>
        </p:nvSpPr>
        <p:spPr>
          <a:xfrm>
            <a:off x="6094383" y="6257922"/>
            <a:ext cx="4124858" cy="4480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114300" rIns="114300" bIns="11430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0D4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📋api-doc.zadarastorage.com (전체 API Swagger)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571500" y="381305"/>
            <a:ext cx="111639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20" dirty="0">
                <a:solidFill>
                  <a:srgbClr val="00D4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DIRECT ANALYSIS REPORT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71500" y="657454"/>
            <a:ext cx="11354105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 분석 ② — 인증 &amp; 멀티테넌시 구조</a:t>
            </a:r>
            <a:endParaRPr lang="en-US" sz="3100" dirty="0"/>
          </a:p>
        </p:txBody>
      </p:sp>
      <p:sp>
        <p:nvSpPr>
          <p:cNvPr id="132" name="Shape 3">
            <a:extLst>
              <a:ext uri="{FF2B5EF4-FFF2-40B4-BE49-F238E27FC236}">
                <a16:creationId xmlns:a16="http://schemas.microsoft.com/office/drawing/2014/main" id="{6D1AF3A8-A468-3289-40C4-63741F2A9698}"/>
              </a:ext>
            </a:extLst>
          </p:cNvPr>
          <p:cNvSpPr/>
          <p:nvPr/>
        </p:nvSpPr>
        <p:spPr>
          <a:xfrm>
            <a:off x="381305" y="6126927"/>
            <a:ext cx="57607" cy="57607"/>
          </a:xfrm>
          <a:prstGeom prst="ellipse">
            <a:avLst/>
          </a:prstGeom>
          <a:solidFill>
            <a:srgbClr val="00D4FF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3" name="Shape 4">
            <a:extLst>
              <a:ext uri="{FF2B5EF4-FFF2-40B4-BE49-F238E27FC236}">
                <a16:creationId xmlns:a16="http://schemas.microsoft.com/office/drawing/2014/main" id="{6FD71FF3-9D6C-A158-B3F2-5FBB74754766}"/>
              </a:ext>
            </a:extLst>
          </p:cNvPr>
          <p:cNvSpPr/>
          <p:nvPr/>
        </p:nvSpPr>
        <p:spPr>
          <a:xfrm>
            <a:off x="514807" y="6126927"/>
            <a:ext cx="57607" cy="57607"/>
          </a:xfrm>
          <a:prstGeom prst="ellipse">
            <a:avLst/>
          </a:prstGeom>
          <a:solidFill>
            <a:srgbClr val="00D4FF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4" name="Shape 5">
            <a:extLst>
              <a:ext uri="{FF2B5EF4-FFF2-40B4-BE49-F238E27FC236}">
                <a16:creationId xmlns:a16="http://schemas.microsoft.com/office/drawing/2014/main" id="{3637E373-5C28-B3B4-2B35-C082E9EB7005}"/>
              </a:ext>
            </a:extLst>
          </p:cNvPr>
          <p:cNvSpPr/>
          <p:nvPr/>
        </p:nvSpPr>
        <p:spPr>
          <a:xfrm>
            <a:off x="647395" y="6126927"/>
            <a:ext cx="57607" cy="57607"/>
          </a:xfrm>
          <a:prstGeom prst="ellipse">
            <a:avLst/>
          </a:prstGeom>
          <a:solidFill>
            <a:srgbClr val="00D4FF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5" name="Shape 6">
            <a:extLst>
              <a:ext uri="{FF2B5EF4-FFF2-40B4-BE49-F238E27FC236}">
                <a16:creationId xmlns:a16="http://schemas.microsoft.com/office/drawing/2014/main" id="{B7BF5072-322A-205D-4FCE-43A01A834262}"/>
              </a:ext>
            </a:extLst>
          </p:cNvPr>
          <p:cNvSpPr/>
          <p:nvPr/>
        </p:nvSpPr>
        <p:spPr>
          <a:xfrm>
            <a:off x="780898" y="6126927"/>
            <a:ext cx="57607" cy="57607"/>
          </a:xfrm>
          <a:prstGeom prst="ellipse">
            <a:avLst/>
          </a:prstGeom>
          <a:solidFill>
            <a:srgbClr val="00D4FF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6" name="Shape 7">
            <a:extLst>
              <a:ext uri="{FF2B5EF4-FFF2-40B4-BE49-F238E27FC236}">
                <a16:creationId xmlns:a16="http://schemas.microsoft.com/office/drawing/2014/main" id="{9EE5E1F8-C27C-36B1-57A3-7973B08EFF5D}"/>
              </a:ext>
            </a:extLst>
          </p:cNvPr>
          <p:cNvSpPr/>
          <p:nvPr/>
        </p:nvSpPr>
        <p:spPr>
          <a:xfrm>
            <a:off x="914400" y="6126927"/>
            <a:ext cx="57607" cy="57607"/>
          </a:xfrm>
          <a:prstGeom prst="ellipse">
            <a:avLst/>
          </a:prstGeom>
          <a:solidFill>
            <a:srgbClr val="00D4FF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7" name="Shape 10">
            <a:extLst>
              <a:ext uri="{FF2B5EF4-FFF2-40B4-BE49-F238E27FC236}">
                <a16:creationId xmlns:a16="http://schemas.microsoft.com/office/drawing/2014/main" id="{ECE10CC5-10F4-208C-6B45-DBD1C805EB7B}"/>
              </a:ext>
            </a:extLst>
          </p:cNvPr>
          <p:cNvSpPr/>
          <p:nvPr/>
        </p:nvSpPr>
        <p:spPr>
          <a:xfrm>
            <a:off x="571500" y="1192824"/>
            <a:ext cx="4858207" cy="5508255"/>
          </a:xfrm>
          <a:prstGeom prst="roundRect">
            <a:avLst>
              <a:gd name="adj" fmla="val 1181"/>
            </a:avLst>
          </a:prstGeom>
          <a:solidFill>
            <a:srgbClr val="1B2A4A"/>
          </a:solidFill>
          <a:ln w="12700">
            <a:solidFill>
              <a:srgbClr val="2D3748"/>
            </a:solidFill>
            <a:prstDash val="solid"/>
          </a:ln>
          <a:effectLst>
            <a:outerShdw blurRad="63500" dist="381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8" name="Text 11">
            <a:extLst>
              <a:ext uri="{FF2B5EF4-FFF2-40B4-BE49-F238E27FC236}">
                <a16:creationId xmlns:a16="http://schemas.microsoft.com/office/drawing/2014/main" id="{BC179993-9DF1-8C66-CA4F-D4813E440C9E}"/>
              </a:ext>
            </a:extLst>
          </p:cNvPr>
          <p:cNvSpPr txBox="1"/>
          <p:nvPr/>
        </p:nvSpPr>
        <p:spPr>
          <a:xfrm>
            <a:off x="1095451" y="2446467"/>
            <a:ext cx="4209898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D4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Keystone 인증 매커니즘 </a:t>
            </a:r>
            <a:endParaRPr lang="en-US" sz="1500" dirty="0"/>
          </a:p>
        </p:txBody>
      </p:sp>
      <p:pic>
        <p:nvPicPr>
          <p:cNvPr id="139" name="Image 1" descr="preencoded.png">
            <a:extLst>
              <a:ext uri="{FF2B5EF4-FFF2-40B4-BE49-F238E27FC236}">
                <a16:creationId xmlns:a16="http://schemas.microsoft.com/office/drawing/2014/main" id="{EB0C7A75-2E5C-DA43-3FED-445619BE752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09244" y="2494016"/>
            <a:ext cx="190195" cy="190195"/>
          </a:xfrm>
          <a:prstGeom prst="rect">
            <a:avLst/>
          </a:prstGeom>
        </p:spPr>
      </p:pic>
      <p:sp>
        <p:nvSpPr>
          <p:cNvPr id="140" name="Shape 12">
            <a:extLst>
              <a:ext uri="{FF2B5EF4-FFF2-40B4-BE49-F238E27FC236}">
                <a16:creationId xmlns:a16="http://schemas.microsoft.com/office/drawing/2014/main" id="{D0821FDD-59EB-C0A7-7173-CB66F6F4DC67}"/>
              </a:ext>
            </a:extLst>
          </p:cNvPr>
          <p:cNvSpPr/>
          <p:nvPr/>
        </p:nvSpPr>
        <p:spPr>
          <a:xfrm>
            <a:off x="942746" y="3151470"/>
            <a:ext cx="19202" cy="636422"/>
          </a:xfrm>
          <a:prstGeom prst="rect">
            <a:avLst/>
          </a:prstGeom>
          <a:solidFill>
            <a:srgbClr val="2D37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1" name="Text 13">
            <a:extLst>
              <a:ext uri="{FF2B5EF4-FFF2-40B4-BE49-F238E27FC236}">
                <a16:creationId xmlns:a16="http://schemas.microsoft.com/office/drawing/2014/main" id="{F44B59EC-B31C-E851-7FE4-72F97C938BBE}"/>
              </a:ext>
            </a:extLst>
          </p:cNvPr>
          <p:cNvSpPr txBox="1"/>
          <p:nvPr/>
        </p:nvSpPr>
        <p:spPr>
          <a:xfrm>
            <a:off x="1190549" y="2884465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Domain 인증 (1단계)</a:t>
            </a:r>
            <a:endParaRPr lang="en-US" sz="1200" dirty="0"/>
          </a:p>
        </p:txBody>
      </p:sp>
      <p:sp>
        <p:nvSpPr>
          <p:cNvPr id="142" name="Text 14">
            <a:extLst>
              <a:ext uri="{FF2B5EF4-FFF2-40B4-BE49-F238E27FC236}">
                <a16:creationId xmlns:a16="http://schemas.microsoft.com/office/drawing/2014/main" id="{8401D979-865C-CB5B-EE1A-F84DF7900D2C}"/>
              </a:ext>
            </a:extLst>
          </p:cNvPr>
          <p:cNvSpPr txBox="1"/>
          <p:nvPr/>
        </p:nvSpPr>
        <p:spPr>
          <a:xfrm>
            <a:off x="1190549" y="3151470"/>
            <a:ext cx="41916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 ID/PW로 도메인 레벨 접근 권한 확인</a:t>
            </a:r>
            <a:endParaRPr lang="en-US" sz="1000" dirty="0"/>
          </a:p>
        </p:txBody>
      </p:sp>
      <p:sp>
        <p:nvSpPr>
          <p:cNvPr id="143" name="Shape 15">
            <a:extLst>
              <a:ext uri="{FF2B5EF4-FFF2-40B4-BE49-F238E27FC236}">
                <a16:creationId xmlns:a16="http://schemas.microsoft.com/office/drawing/2014/main" id="{92269923-A529-D55E-AAC6-1E1AA8F34920}"/>
              </a:ext>
            </a:extLst>
          </p:cNvPr>
          <p:cNvSpPr/>
          <p:nvPr/>
        </p:nvSpPr>
        <p:spPr>
          <a:xfrm>
            <a:off x="1190549" y="3376412"/>
            <a:ext cx="4000500" cy="267005"/>
          </a:xfrm>
          <a:prstGeom prst="roundRect">
            <a:avLst>
              <a:gd name="adj" fmla="val 97847"/>
            </a:avLst>
          </a:prstGeom>
          <a:solidFill>
            <a:srgbClr val="0D1B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4" name="Text 16">
            <a:extLst>
              <a:ext uri="{FF2B5EF4-FFF2-40B4-BE49-F238E27FC236}">
                <a16:creationId xmlns:a16="http://schemas.microsoft.com/office/drawing/2014/main" id="{BBD28878-B78B-A3C9-8867-6CD5861C2081}"/>
              </a:ext>
            </a:extLst>
          </p:cNvPr>
          <p:cNvSpPr txBox="1"/>
          <p:nvPr/>
        </p:nvSpPr>
        <p:spPr>
          <a:xfrm>
            <a:off x="1190549" y="3376412"/>
            <a:ext cx="4077310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1E6D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POST /api/v2/identity/auth (Domain)</a:t>
            </a:r>
            <a:endParaRPr lang="en-US" sz="900" dirty="0"/>
          </a:p>
        </p:txBody>
      </p:sp>
      <p:sp>
        <p:nvSpPr>
          <p:cNvPr id="145" name="Shape 17">
            <a:extLst>
              <a:ext uri="{FF2B5EF4-FFF2-40B4-BE49-F238E27FC236}">
                <a16:creationId xmlns:a16="http://schemas.microsoft.com/office/drawing/2014/main" id="{419EDF8B-85C9-1B8C-C2B1-C95C2E6A9096}"/>
              </a:ext>
            </a:extLst>
          </p:cNvPr>
          <p:cNvSpPr/>
          <p:nvPr/>
        </p:nvSpPr>
        <p:spPr>
          <a:xfrm>
            <a:off x="942746" y="4053983"/>
            <a:ext cx="19202" cy="636422"/>
          </a:xfrm>
          <a:prstGeom prst="rect">
            <a:avLst/>
          </a:prstGeom>
          <a:solidFill>
            <a:srgbClr val="2D37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6" name="Text 18">
            <a:extLst>
              <a:ext uri="{FF2B5EF4-FFF2-40B4-BE49-F238E27FC236}">
                <a16:creationId xmlns:a16="http://schemas.microsoft.com/office/drawing/2014/main" id="{C395460A-7458-37CA-2B11-906D7C716DD7}"/>
              </a:ext>
            </a:extLst>
          </p:cNvPr>
          <p:cNvSpPr txBox="1"/>
          <p:nvPr/>
        </p:nvSpPr>
        <p:spPr>
          <a:xfrm>
            <a:off x="1190549" y="378789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Project 인증 (2단계)</a:t>
            </a:r>
            <a:endParaRPr lang="en-US" sz="1200" dirty="0"/>
          </a:p>
        </p:txBody>
      </p:sp>
      <p:sp>
        <p:nvSpPr>
          <p:cNvPr id="147" name="Text 19">
            <a:extLst>
              <a:ext uri="{FF2B5EF4-FFF2-40B4-BE49-F238E27FC236}">
                <a16:creationId xmlns:a16="http://schemas.microsoft.com/office/drawing/2014/main" id="{E8BAC89B-4FC9-9255-1897-ABAEC36DF800}"/>
              </a:ext>
            </a:extLst>
          </p:cNvPr>
          <p:cNvSpPr txBox="1"/>
          <p:nvPr/>
        </p:nvSpPr>
        <p:spPr>
          <a:xfrm>
            <a:off x="1190549" y="4053983"/>
            <a:ext cx="41916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도메인 토큰으로 특정 프로젝트(Tenant) 접근 토큰 발급</a:t>
            </a:r>
            <a:endParaRPr lang="en-US" sz="1000" dirty="0"/>
          </a:p>
        </p:txBody>
      </p:sp>
      <p:sp>
        <p:nvSpPr>
          <p:cNvPr id="148" name="Shape 20">
            <a:extLst>
              <a:ext uri="{FF2B5EF4-FFF2-40B4-BE49-F238E27FC236}">
                <a16:creationId xmlns:a16="http://schemas.microsoft.com/office/drawing/2014/main" id="{2D0A9FEB-172F-DBBA-93E9-652E13285E5A}"/>
              </a:ext>
            </a:extLst>
          </p:cNvPr>
          <p:cNvSpPr/>
          <p:nvPr/>
        </p:nvSpPr>
        <p:spPr>
          <a:xfrm>
            <a:off x="1190549" y="4278925"/>
            <a:ext cx="4000500" cy="267005"/>
          </a:xfrm>
          <a:prstGeom prst="roundRect">
            <a:avLst>
              <a:gd name="adj" fmla="val 97847"/>
            </a:avLst>
          </a:prstGeom>
          <a:solidFill>
            <a:srgbClr val="0D1B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9" name="Text 21">
            <a:extLst>
              <a:ext uri="{FF2B5EF4-FFF2-40B4-BE49-F238E27FC236}">
                <a16:creationId xmlns:a16="http://schemas.microsoft.com/office/drawing/2014/main" id="{4C1682CF-503F-E083-D38F-BE44D3FB9AD2}"/>
              </a:ext>
            </a:extLst>
          </p:cNvPr>
          <p:cNvSpPr txBox="1"/>
          <p:nvPr/>
        </p:nvSpPr>
        <p:spPr>
          <a:xfrm>
            <a:off x="1190549" y="4278925"/>
            <a:ext cx="4077310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1E6D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POST /api/v2/identity/auth (Project)</a:t>
            </a:r>
            <a:endParaRPr lang="en-US" sz="900" dirty="0"/>
          </a:p>
        </p:txBody>
      </p:sp>
      <p:sp>
        <p:nvSpPr>
          <p:cNvPr id="150" name="Shape 22">
            <a:extLst>
              <a:ext uri="{FF2B5EF4-FFF2-40B4-BE49-F238E27FC236}">
                <a16:creationId xmlns:a16="http://schemas.microsoft.com/office/drawing/2014/main" id="{4D2E00ED-4E17-F526-1B50-5F600220EBC1}"/>
              </a:ext>
            </a:extLst>
          </p:cNvPr>
          <p:cNvSpPr/>
          <p:nvPr/>
        </p:nvSpPr>
        <p:spPr>
          <a:xfrm>
            <a:off x="942746" y="4957410"/>
            <a:ext cx="19202" cy="636422"/>
          </a:xfrm>
          <a:prstGeom prst="rect">
            <a:avLst/>
          </a:prstGeom>
          <a:solidFill>
            <a:srgbClr val="2D37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1" name="Text 23">
            <a:extLst>
              <a:ext uri="{FF2B5EF4-FFF2-40B4-BE49-F238E27FC236}">
                <a16:creationId xmlns:a16="http://schemas.microsoft.com/office/drawing/2014/main" id="{AA02C895-4479-7EA9-F83D-A03116DCF98B}"/>
              </a:ext>
            </a:extLst>
          </p:cNvPr>
          <p:cNvSpPr txBox="1"/>
          <p:nvPr/>
        </p:nvSpPr>
        <p:spPr>
          <a:xfrm>
            <a:off x="1190549" y="4690405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API 요청 헤더</a:t>
            </a:r>
            <a:endParaRPr lang="en-US" sz="1200" dirty="0"/>
          </a:p>
        </p:txBody>
      </p:sp>
      <p:sp>
        <p:nvSpPr>
          <p:cNvPr id="152" name="Text 24">
            <a:extLst>
              <a:ext uri="{FF2B5EF4-FFF2-40B4-BE49-F238E27FC236}">
                <a16:creationId xmlns:a16="http://schemas.microsoft.com/office/drawing/2014/main" id="{966AAE8E-AB90-93B7-9872-8F473FFFEE74}"/>
              </a:ext>
            </a:extLst>
          </p:cNvPr>
          <p:cNvSpPr txBox="1"/>
          <p:nvPr/>
        </p:nvSpPr>
        <p:spPr>
          <a:xfrm>
            <a:off x="1190549" y="4957410"/>
            <a:ext cx="41148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발급받은 Opaque Token을 헤더에 포함하여 통신</a:t>
            </a:r>
            <a:endParaRPr lang="en-US" sz="1000" dirty="0"/>
          </a:p>
        </p:txBody>
      </p:sp>
      <p:sp>
        <p:nvSpPr>
          <p:cNvPr id="153" name="Shape 25">
            <a:extLst>
              <a:ext uri="{FF2B5EF4-FFF2-40B4-BE49-F238E27FC236}">
                <a16:creationId xmlns:a16="http://schemas.microsoft.com/office/drawing/2014/main" id="{A9F61229-4111-A166-FF28-C9EB17CB812A}"/>
              </a:ext>
            </a:extLst>
          </p:cNvPr>
          <p:cNvSpPr/>
          <p:nvPr/>
        </p:nvSpPr>
        <p:spPr>
          <a:xfrm>
            <a:off x="1190549" y="5182352"/>
            <a:ext cx="4000500" cy="267005"/>
          </a:xfrm>
          <a:prstGeom prst="roundRect">
            <a:avLst>
              <a:gd name="adj" fmla="val 97847"/>
            </a:avLst>
          </a:prstGeom>
          <a:solidFill>
            <a:srgbClr val="0D1B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4" name="Text 26">
            <a:extLst>
              <a:ext uri="{FF2B5EF4-FFF2-40B4-BE49-F238E27FC236}">
                <a16:creationId xmlns:a16="http://schemas.microsoft.com/office/drawing/2014/main" id="{AEBED3DA-EB19-86E7-E143-2D224661D12A}"/>
              </a:ext>
            </a:extLst>
          </p:cNvPr>
          <p:cNvSpPr txBox="1"/>
          <p:nvPr/>
        </p:nvSpPr>
        <p:spPr>
          <a:xfrm>
            <a:off x="1190549" y="5182352"/>
            <a:ext cx="4077310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1E6D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X-Auth-Token: {token_id}</a:t>
            </a:r>
            <a:endParaRPr lang="en-US" sz="900" dirty="0"/>
          </a:p>
        </p:txBody>
      </p:sp>
      <p:sp>
        <p:nvSpPr>
          <p:cNvPr id="155" name="Text 27">
            <a:extLst>
              <a:ext uri="{FF2B5EF4-FFF2-40B4-BE49-F238E27FC236}">
                <a16:creationId xmlns:a16="http://schemas.microsoft.com/office/drawing/2014/main" id="{D829EE9A-BA70-0ED8-CEA5-6D9AC1179C46}"/>
              </a:ext>
            </a:extLst>
          </p:cNvPr>
          <p:cNvSpPr txBox="1"/>
          <p:nvPr/>
        </p:nvSpPr>
        <p:spPr>
          <a:xfrm>
            <a:off x="1190549" y="5593832"/>
            <a:ext cx="41916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토큰 수명 관리</a:t>
            </a:r>
            <a:endParaRPr lang="en-US" sz="1200" dirty="0"/>
          </a:p>
        </p:txBody>
      </p:sp>
      <p:sp>
        <p:nvSpPr>
          <p:cNvPr id="156" name="Text 28">
            <a:extLst>
              <a:ext uri="{FF2B5EF4-FFF2-40B4-BE49-F238E27FC236}">
                <a16:creationId xmlns:a16="http://schemas.microsoft.com/office/drawing/2014/main" id="{4BBED613-0C2B-F72F-03B1-6B8F5FD755BC}"/>
              </a:ext>
            </a:extLst>
          </p:cNvPr>
          <p:cNvSpPr txBox="1"/>
          <p:nvPr/>
        </p:nvSpPr>
        <p:spPr>
          <a:xfrm>
            <a:off x="1190549" y="5859923"/>
            <a:ext cx="41148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토큰 만료 시 자동 재발급(Refresh) 로직 필수 구현</a:t>
            </a:r>
            <a:endParaRPr lang="en-US" sz="1000" dirty="0"/>
          </a:p>
        </p:txBody>
      </p:sp>
      <p:sp>
        <p:nvSpPr>
          <p:cNvPr id="157" name="Shape 29">
            <a:extLst>
              <a:ext uri="{FF2B5EF4-FFF2-40B4-BE49-F238E27FC236}">
                <a16:creationId xmlns:a16="http://schemas.microsoft.com/office/drawing/2014/main" id="{F84377F9-2CC7-C74B-9132-00A7E5200BCA}"/>
              </a:ext>
            </a:extLst>
          </p:cNvPr>
          <p:cNvSpPr/>
          <p:nvPr/>
        </p:nvSpPr>
        <p:spPr>
          <a:xfrm>
            <a:off x="5801868" y="1192825"/>
            <a:ext cx="5820156" cy="3115361"/>
          </a:xfrm>
          <a:prstGeom prst="roundRect">
            <a:avLst>
              <a:gd name="adj" fmla="val 2269"/>
            </a:avLst>
          </a:prstGeom>
          <a:solidFill>
            <a:srgbClr val="1B2A4A"/>
          </a:solidFill>
          <a:ln w="12700">
            <a:solidFill>
              <a:srgbClr val="2D3748"/>
            </a:solidFill>
            <a:prstDash val="solid"/>
          </a:ln>
          <a:effectLst>
            <a:outerShdw blurRad="63500" dist="381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8" name="Text 30">
            <a:extLst>
              <a:ext uri="{FF2B5EF4-FFF2-40B4-BE49-F238E27FC236}">
                <a16:creationId xmlns:a16="http://schemas.microsoft.com/office/drawing/2014/main" id="{3B6AC0BB-7B94-C5F7-792C-3B4DE72FC408}"/>
              </a:ext>
            </a:extLst>
          </p:cNvPr>
          <p:cNvSpPr txBox="1"/>
          <p:nvPr/>
        </p:nvSpPr>
        <p:spPr>
          <a:xfrm>
            <a:off x="6354166" y="1430569"/>
            <a:ext cx="52203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D4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멀티테넌시 계층 구조 </a:t>
            </a:r>
            <a:endParaRPr lang="en-US" sz="1500" dirty="0"/>
          </a:p>
        </p:txBody>
      </p:sp>
      <p:pic>
        <p:nvPicPr>
          <p:cNvPr id="159" name="Image 2" descr="preencoded.png">
            <a:extLst>
              <a:ext uri="{FF2B5EF4-FFF2-40B4-BE49-F238E27FC236}">
                <a16:creationId xmlns:a16="http://schemas.microsoft.com/office/drawing/2014/main" id="{C8596B18-3FA0-9ACD-F50D-7DE1D46D44B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1282" r="-1282"/>
          <a:stretch/>
        </p:blipFill>
        <p:spPr>
          <a:xfrm>
            <a:off x="6039612" y="1479032"/>
            <a:ext cx="219456" cy="190195"/>
          </a:xfrm>
          <a:prstGeom prst="rect">
            <a:avLst/>
          </a:prstGeom>
        </p:spPr>
      </p:pic>
      <p:sp>
        <p:nvSpPr>
          <p:cNvPr id="160" name="Shape 31">
            <a:extLst>
              <a:ext uri="{FF2B5EF4-FFF2-40B4-BE49-F238E27FC236}">
                <a16:creationId xmlns:a16="http://schemas.microsoft.com/office/drawing/2014/main" id="{8DEBAEB8-AD7A-2BEB-92E4-B8E1E06FE1A6}"/>
              </a:ext>
            </a:extLst>
          </p:cNvPr>
          <p:cNvSpPr/>
          <p:nvPr/>
        </p:nvSpPr>
        <p:spPr>
          <a:xfrm>
            <a:off x="5801868" y="4403193"/>
            <a:ext cx="5820156" cy="2407915"/>
          </a:xfrm>
          <a:prstGeom prst="roundRect">
            <a:avLst>
              <a:gd name="adj" fmla="val 4310"/>
            </a:avLst>
          </a:prstGeom>
          <a:solidFill>
            <a:srgbClr val="1B2A4A"/>
          </a:solidFill>
          <a:ln w="12700">
            <a:solidFill>
              <a:srgbClr val="2D3748"/>
            </a:solidFill>
            <a:prstDash val="solid"/>
          </a:ln>
          <a:effectLst>
            <a:outerShdw blurRad="63500" dist="381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1" name="Text 32">
            <a:extLst>
              <a:ext uri="{FF2B5EF4-FFF2-40B4-BE49-F238E27FC236}">
                <a16:creationId xmlns:a16="http://schemas.microsoft.com/office/drawing/2014/main" id="{BAAD311F-0C23-ED97-A2FC-87BE6ECC1360}"/>
              </a:ext>
            </a:extLst>
          </p:cNvPr>
          <p:cNvSpPr txBox="1"/>
          <p:nvPr/>
        </p:nvSpPr>
        <p:spPr>
          <a:xfrm>
            <a:off x="6373368" y="4641851"/>
            <a:ext cx="5124298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D4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RBAC (Role-Based Access Control) </a:t>
            </a:r>
            <a:endParaRPr lang="en-US" sz="1500" dirty="0"/>
          </a:p>
        </p:txBody>
      </p:sp>
      <p:pic>
        <p:nvPicPr>
          <p:cNvPr id="162" name="Image 3" descr="preencoded.png">
            <a:extLst>
              <a:ext uri="{FF2B5EF4-FFF2-40B4-BE49-F238E27FC236}">
                <a16:creationId xmlns:a16="http://schemas.microsoft.com/office/drawing/2014/main" id="{8E85C0F8-C101-3D3D-E2B4-4352AF3736B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039612" y="4689400"/>
            <a:ext cx="237744" cy="190195"/>
          </a:xfrm>
          <a:prstGeom prst="rect">
            <a:avLst/>
          </a:prstGeom>
        </p:spPr>
      </p:pic>
      <p:sp>
        <p:nvSpPr>
          <p:cNvPr id="163" name="Shape 33">
            <a:extLst>
              <a:ext uri="{FF2B5EF4-FFF2-40B4-BE49-F238E27FC236}">
                <a16:creationId xmlns:a16="http://schemas.microsoft.com/office/drawing/2014/main" id="{1ECED0BB-40B3-19E8-DBE0-20FA4851CA92}"/>
              </a:ext>
            </a:extLst>
          </p:cNvPr>
          <p:cNvSpPr/>
          <p:nvPr/>
        </p:nvSpPr>
        <p:spPr>
          <a:xfrm>
            <a:off x="6039612" y="5079849"/>
            <a:ext cx="2600554" cy="685800"/>
          </a:xfrm>
          <a:prstGeom prst="roundRect">
            <a:avLst>
              <a:gd name="adj" fmla="val 29630"/>
            </a:avLst>
          </a:prstGeom>
          <a:solidFill>
            <a:srgbClr val="2D374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4" name="Shape 34">
            <a:extLst>
              <a:ext uri="{FF2B5EF4-FFF2-40B4-BE49-F238E27FC236}">
                <a16:creationId xmlns:a16="http://schemas.microsoft.com/office/drawing/2014/main" id="{A8CC9977-63B7-3200-6D1C-AD5D383B75A4}"/>
              </a:ext>
            </a:extLst>
          </p:cNvPr>
          <p:cNvSpPr/>
          <p:nvPr/>
        </p:nvSpPr>
        <p:spPr>
          <a:xfrm>
            <a:off x="6039612" y="5079849"/>
            <a:ext cx="38405" cy="685800"/>
          </a:xfrm>
          <a:prstGeom prst="roundRect">
            <a:avLst>
              <a:gd name="adj" fmla="val 529098"/>
            </a:avLst>
          </a:prstGeom>
          <a:solidFill>
            <a:srgbClr val="00D4FF"/>
          </a:solidFill>
          <a:ln w="12700">
            <a:solidFill>
              <a:srgbClr val="00D4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5" name="Text 35">
            <a:extLst>
              <a:ext uri="{FF2B5EF4-FFF2-40B4-BE49-F238E27FC236}">
                <a16:creationId xmlns:a16="http://schemas.microsoft.com/office/drawing/2014/main" id="{AD80D38A-024F-543F-2909-F973E8C84F94}"/>
              </a:ext>
            </a:extLst>
          </p:cNvPr>
          <p:cNvSpPr txBox="1"/>
          <p:nvPr/>
        </p:nvSpPr>
        <p:spPr>
          <a:xfrm>
            <a:off x="6192317" y="5194149"/>
            <a:ext cx="24277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tenant_admin</a:t>
            </a:r>
            <a:endParaRPr lang="en-US" sz="1100" dirty="0"/>
          </a:p>
        </p:txBody>
      </p:sp>
      <p:sp>
        <p:nvSpPr>
          <p:cNvPr id="166" name="Text 36">
            <a:extLst>
              <a:ext uri="{FF2B5EF4-FFF2-40B4-BE49-F238E27FC236}">
                <a16:creationId xmlns:a16="http://schemas.microsoft.com/office/drawing/2014/main" id="{9287A8C0-E741-8736-B954-AA053A53C942}"/>
              </a:ext>
            </a:extLst>
          </p:cNvPr>
          <p:cNvSpPr txBox="1"/>
          <p:nvPr/>
        </p:nvSpPr>
        <p:spPr>
          <a:xfrm>
            <a:off x="6192317" y="5449267"/>
            <a:ext cx="284561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내 자원 생성/삭제/관리 전권 보유</a:t>
            </a:r>
            <a:endParaRPr lang="en-US" sz="1000" dirty="0"/>
          </a:p>
        </p:txBody>
      </p:sp>
      <p:sp>
        <p:nvSpPr>
          <p:cNvPr id="167" name="Shape 37">
            <a:extLst>
              <a:ext uri="{FF2B5EF4-FFF2-40B4-BE49-F238E27FC236}">
                <a16:creationId xmlns:a16="http://schemas.microsoft.com/office/drawing/2014/main" id="{DBAD1BB6-8CAD-E6BD-D99B-A59F418978B5}"/>
              </a:ext>
            </a:extLst>
          </p:cNvPr>
          <p:cNvSpPr/>
          <p:nvPr/>
        </p:nvSpPr>
        <p:spPr>
          <a:xfrm>
            <a:off x="8787384" y="5079849"/>
            <a:ext cx="2600554" cy="685800"/>
          </a:xfrm>
          <a:prstGeom prst="roundRect">
            <a:avLst>
              <a:gd name="adj" fmla="val 29630"/>
            </a:avLst>
          </a:prstGeom>
          <a:solidFill>
            <a:srgbClr val="2D374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8" name="Shape 38">
            <a:extLst>
              <a:ext uri="{FF2B5EF4-FFF2-40B4-BE49-F238E27FC236}">
                <a16:creationId xmlns:a16="http://schemas.microsoft.com/office/drawing/2014/main" id="{B68D181F-44F6-EE89-3817-A52FECD4DF98}"/>
              </a:ext>
            </a:extLst>
          </p:cNvPr>
          <p:cNvSpPr/>
          <p:nvPr/>
        </p:nvSpPr>
        <p:spPr>
          <a:xfrm>
            <a:off x="8787384" y="5079849"/>
            <a:ext cx="38405" cy="685800"/>
          </a:xfrm>
          <a:prstGeom prst="roundRect">
            <a:avLst>
              <a:gd name="adj" fmla="val 529098"/>
            </a:avLst>
          </a:prstGeom>
          <a:solidFill>
            <a:srgbClr val="00D4FF"/>
          </a:solidFill>
          <a:ln w="12700">
            <a:solidFill>
              <a:srgbClr val="00D4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9" name="Text 39">
            <a:extLst>
              <a:ext uri="{FF2B5EF4-FFF2-40B4-BE49-F238E27FC236}">
                <a16:creationId xmlns:a16="http://schemas.microsoft.com/office/drawing/2014/main" id="{2331A573-5A26-B1FC-1C35-ECB9BC93056D}"/>
              </a:ext>
            </a:extLst>
          </p:cNvPr>
          <p:cNvSpPr txBox="1"/>
          <p:nvPr/>
        </p:nvSpPr>
        <p:spPr>
          <a:xfrm>
            <a:off x="8940089" y="5194149"/>
            <a:ext cx="24277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_member_</a:t>
            </a:r>
            <a:endParaRPr lang="en-US" sz="1100" dirty="0"/>
          </a:p>
        </p:txBody>
      </p:sp>
      <p:sp>
        <p:nvSpPr>
          <p:cNvPr id="170" name="Text 40">
            <a:extLst>
              <a:ext uri="{FF2B5EF4-FFF2-40B4-BE49-F238E27FC236}">
                <a16:creationId xmlns:a16="http://schemas.microsoft.com/office/drawing/2014/main" id="{D76B3ABC-A771-1610-AEAD-7F627E3D4AC6}"/>
              </a:ext>
            </a:extLst>
          </p:cNvPr>
          <p:cNvSpPr txBox="1"/>
          <p:nvPr/>
        </p:nvSpPr>
        <p:spPr>
          <a:xfrm>
            <a:off x="8940089" y="5496159"/>
            <a:ext cx="292333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일반 사용자, 자원 조회 및 제한적 사용 권한</a:t>
            </a:r>
            <a:endParaRPr lang="en-US" sz="1000" dirty="0"/>
          </a:p>
        </p:txBody>
      </p:sp>
      <p:sp>
        <p:nvSpPr>
          <p:cNvPr id="171" name="Shape 41">
            <a:extLst>
              <a:ext uri="{FF2B5EF4-FFF2-40B4-BE49-F238E27FC236}">
                <a16:creationId xmlns:a16="http://schemas.microsoft.com/office/drawing/2014/main" id="{EE3A6F11-072C-0A14-C0A0-27B02AEB356B}"/>
              </a:ext>
            </a:extLst>
          </p:cNvPr>
          <p:cNvSpPr/>
          <p:nvPr/>
        </p:nvSpPr>
        <p:spPr>
          <a:xfrm>
            <a:off x="6039612" y="5757419"/>
            <a:ext cx="5343754" cy="942746"/>
          </a:xfrm>
          <a:prstGeom prst="roundRect">
            <a:avLst>
              <a:gd name="adj" fmla="val 15676"/>
            </a:avLst>
          </a:prstGeom>
          <a:solidFill>
            <a:srgbClr val="1A365D"/>
          </a:solidFill>
          <a:ln w="12700">
            <a:solidFill>
              <a:srgbClr val="4299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72" name="Image 4" descr="preencoded.png">
            <a:extLst>
              <a:ext uri="{FF2B5EF4-FFF2-40B4-BE49-F238E27FC236}">
                <a16:creationId xmlns:a16="http://schemas.microsoft.com/office/drawing/2014/main" id="{52194405-ED54-1BFD-5DEF-29BA1D4DE3A1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-57" r="-57"/>
          <a:stretch/>
        </p:blipFill>
        <p:spPr>
          <a:xfrm>
            <a:off x="6201461" y="6114035"/>
            <a:ext cx="200254" cy="228600"/>
          </a:xfrm>
          <a:prstGeom prst="rect">
            <a:avLst/>
          </a:prstGeom>
        </p:spPr>
      </p:pic>
      <p:sp>
        <p:nvSpPr>
          <p:cNvPr id="173" name="Text 42">
            <a:extLst>
              <a:ext uri="{FF2B5EF4-FFF2-40B4-BE49-F238E27FC236}">
                <a16:creationId xmlns:a16="http://schemas.microsoft.com/office/drawing/2014/main" id="{695F0E2A-DB2A-D6C4-B845-68B6D458E3B2}"/>
              </a:ext>
            </a:extLst>
          </p:cNvPr>
          <p:cNvSpPr txBox="1"/>
          <p:nvPr/>
        </p:nvSpPr>
        <p:spPr>
          <a:xfrm>
            <a:off x="6554419" y="5757419"/>
            <a:ext cx="4743907" cy="9436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BEE3F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보안 필수 요건: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BEE3F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모든 API 통신은 HTTPS 암호화 필수이며, 발급된 X-Auth-Token은 클라이언트 측 Secure Storage에 안전하게 보관되어야 합니다. </a:t>
            </a:r>
            <a:endParaRPr lang="en-US" sz="1000" dirty="0"/>
          </a:p>
        </p:txBody>
      </p:sp>
      <p:pic>
        <p:nvPicPr>
          <p:cNvPr id="174" name="Image 5" descr="preencoded.png">
            <a:extLst>
              <a:ext uri="{FF2B5EF4-FFF2-40B4-BE49-F238E27FC236}">
                <a16:creationId xmlns:a16="http://schemas.microsoft.com/office/drawing/2014/main" id="{7ADBB167-9523-70AE-D853-93AE91915930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-299" r="-299"/>
          <a:stretch/>
        </p:blipFill>
        <p:spPr>
          <a:xfrm>
            <a:off x="8701430" y="2507780"/>
            <a:ext cx="19202" cy="152705"/>
          </a:xfrm>
          <a:prstGeom prst="rect">
            <a:avLst/>
          </a:prstGeom>
        </p:spPr>
      </p:pic>
      <p:pic>
        <p:nvPicPr>
          <p:cNvPr id="175" name="Image 6" descr="preencoded.png">
            <a:extLst>
              <a:ext uri="{FF2B5EF4-FFF2-40B4-BE49-F238E27FC236}">
                <a16:creationId xmlns:a16="http://schemas.microsoft.com/office/drawing/2014/main" id="{9A9ABDB3-D8F2-4696-D5A5-D656635478EE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-299" r="-299"/>
          <a:stretch/>
        </p:blipFill>
        <p:spPr>
          <a:xfrm>
            <a:off x="8701430" y="3251188"/>
            <a:ext cx="19202" cy="152705"/>
          </a:xfrm>
          <a:prstGeom prst="rect">
            <a:avLst/>
          </a:prstGeom>
        </p:spPr>
      </p:pic>
      <p:sp>
        <p:nvSpPr>
          <p:cNvPr id="176" name="Shape 43">
            <a:extLst>
              <a:ext uri="{FF2B5EF4-FFF2-40B4-BE49-F238E27FC236}">
                <a16:creationId xmlns:a16="http://schemas.microsoft.com/office/drawing/2014/main" id="{B3642E41-9A38-FE7C-6FA3-9ED1C4B35E62}"/>
              </a:ext>
            </a:extLst>
          </p:cNvPr>
          <p:cNvSpPr/>
          <p:nvPr/>
        </p:nvSpPr>
        <p:spPr>
          <a:xfrm>
            <a:off x="809244" y="2884465"/>
            <a:ext cx="267005" cy="267005"/>
          </a:xfrm>
          <a:prstGeom prst="ellipse">
            <a:avLst/>
          </a:prstGeom>
          <a:solidFill>
            <a:srgbClr val="00D4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7" name="Text 44">
            <a:extLst>
              <a:ext uri="{FF2B5EF4-FFF2-40B4-BE49-F238E27FC236}">
                <a16:creationId xmlns:a16="http://schemas.microsoft.com/office/drawing/2014/main" id="{288C7021-A894-ED21-0ECD-A4CA4BB08685}"/>
              </a:ext>
            </a:extLst>
          </p:cNvPr>
          <p:cNvSpPr/>
          <p:nvPr/>
        </p:nvSpPr>
        <p:spPr>
          <a:xfrm>
            <a:off x="771754" y="2884465"/>
            <a:ext cx="342900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200" dirty="0"/>
          </a:p>
        </p:txBody>
      </p:sp>
      <p:sp>
        <p:nvSpPr>
          <p:cNvPr id="178" name="Shape 45">
            <a:extLst>
              <a:ext uri="{FF2B5EF4-FFF2-40B4-BE49-F238E27FC236}">
                <a16:creationId xmlns:a16="http://schemas.microsoft.com/office/drawing/2014/main" id="{57E69030-4CB8-5737-C50B-405BA80CA961}"/>
              </a:ext>
            </a:extLst>
          </p:cNvPr>
          <p:cNvSpPr/>
          <p:nvPr/>
        </p:nvSpPr>
        <p:spPr>
          <a:xfrm>
            <a:off x="809244" y="3787892"/>
            <a:ext cx="267005" cy="267005"/>
          </a:xfrm>
          <a:prstGeom prst="ellipse">
            <a:avLst/>
          </a:prstGeom>
          <a:solidFill>
            <a:srgbClr val="00D4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9" name="Text 46">
            <a:extLst>
              <a:ext uri="{FF2B5EF4-FFF2-40B4-BE49-F238E27FC236}">
                <a16:creationId xmlns:a16="http://schemas.microsoft.com/office/drawing/2014/main" id="{22445B9B-7131-5985-BBF8-5E0ACF0007D3}"/>
              </a:ext>
            </a:extLst>
          </p:cNvPr>
          <p:cNvSpPr/>
          <p:nvPr/>
        </p:nvSpPr>
        <p:spPr>
          <a:xfrm>
            <a:off x="771754" y="3787892"/>
            <a:ext cx="342900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200" dirty="0"/>
          </a:p>
        </p:txBody>
      </p:sp>
      <p:sp>
        <p:nvSpPr>
          <p:cNvPr id="180" name="Shape 47">
            <a:extLst>
              <a:ext uri="{FF2B5EF4-FFF2-40B4-BE49-F238E27FC236}">
                <a16:creationId xmlns:a16="http://schemas.microsoft.com/office/drawing/2014/main" id="{B93D09B8-89DB-A5AF-5703-AC2800DAAF81}"/>
              </a:ext>
            </a:extLst>
          </p:cNvPr>
          <p:cNvSpPr/>
          <p:nvPr/>
        </p:nvSpPr>
        <p:spPr>
          <a:xfrm>
            <a:off x="809244" y="4690405"/>
            <a:ext cx="267005" cy="267005"/>
          </a:xfrm>
          <a:prstGeom prst="ellipse">
            <a:avLst/>
          </a:prstGeom>
          <a:solidFill>
            <a:srgbClr val="00D4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1" name="Text 48">
            <a:extLst>
              <a:ext uri="{FF2B5EF4-FFF2-40B4-BE49-F238E27FC236}">
                <a16:creationId xmlns:a16="http://schemas.microsoft.com/office/drawing/2014/main" id="{83D0F62E-6193-560D-631C-C830392EBEA5}"/>
              </a:ext>
            </a:extLst>
          </p:cNvPr>
          <p:cNvSpPr/>
          <p:nvPr/>
        </p:nvSpPr>
        <p:spPr>
          <a:xfrm>
            <a:off x="771754" y="4690405"/>
            <a:ext cx="342900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200" dirty="0"/>
          </a:p>
        </p:txBody>
      </p:sp>
      <p:sp>
        <p:nvSpPr>
          <p:cNvPr id="182" name="Shape 49">
            <a:extLst>
              <a:ext uri="{FF2B5EF4-FFF2-40B4-BE49-F238E27FC236}">
                <a16:creationId xmlns:a16="http://schemas.microsoft.com/office/drawing/2014/main" id="{39543F45-1238-B479-3174-27352D1D1108}"/>
              </a:ext>
            </a:extLst>
          </p:cNvPr>
          <p:cNvSpPr/>
          <p:nvPr/>
        </p:nvSpPr>
        <p:spPr>
          <a:xfrm>
            <a:off x="809244" y="5593832"/>
            <a:ext cx="267005" cy="267005"/>
          </a:xfrm>
          <a:prstGeom prst="ellipse">
            <a:avLst/>
          </a:prstGeom>
          <a:solidFill>
            <a:srgbClr val="00D4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3" name="Text 50">
            <a:extLst>
              <a:ext uri="{FF2B5EF4-FFF2-40B4-BE49-F238E27FC236}">
                <a16:creationId xmlns:a16="http://schemas.microsoft.com/office/drawing/2014/main" id="{DF9D9C6E-535C-8557-5B0D-F853C726A4B8}"/>
              </a:ext>
            </a:extLst>
          </p:cNvPr>
          <p:cNvSpPr/>
          <p:nvPr/>
        </p:nvSpPr>
        <p:spPr>
          <a:xfrm>
            <a:off x="771754" y="5593832"/>
            <a:ext cx="342900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200" dirty="0"/>
          </a:p>
        </p:txBody>
      </p:sp>
      <p:sp>
        <p:nvSpPr>
          <p:cNvPr id="184" name="Shape 51">
            <a:extLst>
              <a:ext uri="{FF2B5EF4-FFF2-40B4-BE49-F238E27FC236}">
                <a16:creationId xmlns:a16="http://schemas.microsoft.com/office/drawing/2014/main" id="{80FABB1E-8239-2535-4DC7-9A2473D3E6BB}"/>
              </a:ext>
            </a:extLst>
          </p:cNvPr>
          <p:cNvSpPr/>
          <p:nvPr/>
        </p:nvSpPr>
        <p:spPr>
          <a:xfrm>
            <a:off x="7758684" y="1765288"/>
            <a:ext cx="1904695" cy="724205"/>
          </a:xfrm>
          <a:prstGeom prst="roundRect">
            <a:avLst>
              <a:gd name="adj" fmla="val 26582"/>
            </a:avLst>
          </a:prstGeom>
          <a:solidFill>
            <a:srgbClr val="2D3748"/>
          </a:solidFill>
          <a:ln w="254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5" name="Text 52">
            <a:extLst>
              <a:ext uri="{FF2B5EF4-FFF2-40B4-BE49-F238E27FC236}">
                <a16:creationId xmlns:a16="http://schemas.microsoft.com/office/drawing/2014/main" id="{6024EC45-8104-143E-DBFF-210C06883CA0}"/>
              </a:ext>
            </a:extLst>
          </p:cNvPr>
          <p:cNvSpPr txBox="1"/>
          <p:nvPr/>
        </p:nvSpPr>
        <p:spPr>
          <a:xfrm>
            <a:off x="7720279" y="1765288"/>
            <a:ext cx="1981505" cy="7242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228600" tIns="114300" rIns="228600" bIns="1143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Domain (Company)</a:t>
            </a:r>
            <a:endParaRPr lang="en-US" sz="1200" dirty="0"/>
          </a:p>
        </p:txBody>
      </p:sp>
      <p:sp>
        <p:nvSpPr>
          <p:cNvPr id="186" name="Shape 53">
            <a:extLst>
              <a:ext uri="{FF2B5EF4-FFF2-40B4-BE49-F238E27FC236}">
                <a16:creationId xmlns:a16="http://schemas.microsoft.com/office/drawing/2014/main" id="{3E593B6A-A93F-CE81-E2BE-0934DD9993BB}"/>
              </a:ext>
            </a:extLst>
          </p:cNvPr>
          <p:cNvSpPr/>
          <p:nvPr/>
        </p:nvSpPr>
        <p:spPr>
          <a:xfrm>
            <a:off x="7758684" y="2736380"/>
            <a:ext cx="1904695" cy="495605"/>
          </a:xfrm>
          <a:prstGeom prst="roundRect">
            <a:avLst>
              <a:gd name="adj" fmla="val 56770"/>
            </a:avLst>
          </a:prstGeom>
          <a:solidFill>
            <a:srgbClr val="2D3748"/>
          </a:solidFill>
          <a:ln w="254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7" name="Text 54">
            <a:extLst>
              <a:ext uri="{FF2B5EF4-FFF2-40B4-BE49-F238E27FC236}">
                <a16:creationId xmlns:a16="http://schemas.microsoft.com/office/drawing/2014/main" id="{1892DEDE-96EC-557A-5C29-FB07C46E1203}"/>
              </a:ext>
            </a:extLst>
          </p:cNvPr>
          <p:cNvSpPr txBox="1"/>
          <p:nvPr/>
        </p:nvSpPr>
        <p:spPr>
          <a:xfrm>
            <a:off x="7720279" y="2736380"/>
            <a:ext cx="1981505" cy="4956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228600" tIns="114300" rIns="228600" bIns="1143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Project (Tenant)</a:t>
            </a:r>
            <a:endParaRPr lang="en-US" sz="1200" dirty="0"/>
          </a:p>
        </p:txBody>
      </p:sp>
      <p:sp>
        <p:nvSpPr>
          <p:cNvPr id="188" name="Shape 55">
            <a:extLst>
              <a:ext uri="{FF2B5EF4-FFF2-40B4-BE49-F238E27FC236}">
                <a16:creationId xmlns:a16="http://schemas.microsoft.com/office/drawing/2014/main" id="{CCB75577-6F4F-5E86-DD33-9184D6AA2266}"/>
              </a:ext>
            </a:extLst>
          </p:cNvPr>
          <p:cNvSpPr/>
          <p:nvPr/>
        </p:nvSpPr>
        <p:spPr>
          <a:xfrm>
            <a:off x="6558077" y="3479788"/>
            <a:ext cx="1333195" cy="685800"/>
          </a:xfrm>
          <a:prstGeom prst="roundRect">
            <a:avLst>
              <a:gd name="adj" fmla="val 29630"/>
            </a:avLst>
          </a:prstGeom>
          <a:solidFill>
            <a:srgbClr val="2C5282"/>
          </a:solidFill>
          <a:ln w="25400">
            <a:solidFill>
              <a:srgbClr val="63B3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9" name="Text 56">
            <a:extLst>
              <a:ext uri="{FF2B5EF4-FFF2-40B4-BE49-F238E27FC236}">
                <a16:creationId xmlns:a16="http://schemas.microsoft.com/office/drawing/2014/main" id="{39AE4FE1-E8A7-AC58-6406-9EFBD0A73EE3}"/>
              </a:ext>
            </a:extLst>
          </p:cNvPr>
          <p:cNvSpPr txBox="1"/>
          <p:nvPr/>
        </p:nvSpPr>
        <p:spPr>
          <a:xfrm>
            <a:off x="6529730" y="3479788"/>
            <a:ext cx="1390802" cy="6858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228600" tIns="114300" rIns="228600" bIns="1143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Compute (VM)</a:t>
            </a:r>
            <a:endParaRPr lang="en-US" sz="1000" dirty="0"/>
          </a:p>
        </p:txBody>
      </p:sp>
      <p:sp>
        <p:nvSpPr>
          <p:cNvPr id="190" name="Shape 57">
            <a:extLst>
              <a:ext uri="{FF2B5EF4-FFF2-40B4-BE49-F238E27FC236}">
                <a16:creationId xmlns:a16="http://schemas.microsoft.com/office/drawing/2014/main" id="{74C47670-04A7-D81E-EDA3-C2B301404909}"/>
              </a:ext>
            </a:extLst>
          </p:cNvPr>
          <p:cNvSpPr/>
          <p:nvPr/>
        </p:nvSpPr>
        <p:spPr>
          <a:xfrm>
            <a:off x="8043977" y="3479788"/>
            <a:ext cx="1333195" cy="685800"/>
          </a:xfrm>
          <a:prstGeom prst="roundRect">
            <a:avLst>
              <a:gd name="adj" fmla="val 29630"/>
            </a:avLst>
          </a:prstGeom>
          <a:solidFill>
            <a:srgbClr val="2C5282"/>
          </a:solidFill>
          <a:ln w="25400">
            <a:solidFill>
              <a:srgbClr val="63B3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1" name="Text 58">
            <a:extLst>
              <a:ext uri="{FF2B5EF4-FFF2-40B4-BE49-F238E27FC236}">
                <a16:creationId xmlns:a16="http://schemas.microsoft.com/office/drawing/2014/main" id="{D8D9CB99-6D65-085F-281A-080BD0C0309D}"/>
              </a:ext>
            </a:extLst>
          </p:cNvPr>
          <p:cNvSpPr txBox="1"/>
          <p:nvPr/>
        </p:nvSpPr>
        <p:spPr>
          <a:xfrm>
            <a:off x="8015630" y="3479788"/>
            <a:ext cx="1390802" cy="6858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228600" tIns="114300" rIns="228600" bIns="1143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Network (VPC)</a:t>
            </a:r>
            <a:endParaRPr lang="en-US" sz="1000" dirty="0"/>
          </a:p>
        </p:txBody>
      </p:sp>
      <p:sp>
        <p:nvSpPr>
          <p:cNvPr id="192" name="Shape 59">
            <a:extLst>
              <a:ext uri="{FF2B5EF4-FFF2-40B4-BE49-F238E27FC236}">
                <a16:creationId xmlns:a16="http://schemas.microsoft.com/office/drawing/2014/main" id="{66F89DD3-CBD3-2191-1E9D-31BE30E93F12}"/>
              </a:ext>
            </a:extLst>
          </p:cNvPr>
          <p:cNvSpPr/>
          <p:nvPr/>
        </p:nvSpPr>
        <p:spPr>
          <a:xfrm>
            <a:off x="9529877" y="3479788"/>
            <a:ext cx="1333195" cy="685800"/>
          </a:xfrm>
          <a:prstGeom prst="roundRect">
            <a:avLst>
              <a:gd name="adj" fmla="val 29630"/>
            </a:avLst>
          </a:prstGeom>
          <a:solidFill>
            <a:srgbClr val="2C5282"/>
          </a:solidFill>
          <a:ln w="25400">
            <a:solidFill>
              <a:srgbClr val="63B3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3" name="Text 60">
            <a:extLst>
              <a:ext uri="{FF2B5EF4-FFF2-40B4-BE49-F238E27FC236}">
                <a16:creationId xmlns:a16="http://schemas.microsoft.com/office/drawing/2014/main" id="{AFC9046C-7DF9-BE16-0EFE-F51A2C3162FC}"/>
              </a:ext>
            </a:extLst>
          </p:cNvPr>
          <p:cNvSpPr txBox="1"/>
          <p:nvPr/>
        </p:nvSpPr>
        <p:spPr>
          <a:xfrm>
            <a:off x="9501530" y="3479788"/>
            <a:ext cx="1390802" cy="6858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228600" tIns="114300" rIns="228600" bIns="1143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Storage (Vol)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381305" y="1038758"/>
            <a:ext cx="11430000" cy="1920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381305" y="381305"/>
            <a:ext cx="3542386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구현 가능성 평가</a:t>
            </a:r>
            <a:endParaRPr lang="en-US" sz="2700" dirty="0"/>
          </a:p>
        </p:txBody>
      </p:sp>
      <p:sp>
        <p:nvSpPr>
          <p:cNvPr id="46" name="Shape 4">
            <a:extLst>
              <a:ext uri="{FF2B5EF4-FFF2-40B4-BE49-F238E27FC236}">
                <a16:creationId xmlns:a16="http://schemas.microsoft.com/office/drawing/2014/main" id="{AF707706-230C-339F-8337-ADB9A80D92E6}"/>
              </a:ext>
            </a:extLst>
          </p:cNvPr>
          <p:cNvSpPr/>
          <p:nvPr/>
        </p:nvSpPr>
        <p:spPr>
          <a:xfrm>
            <a:off x="524865" y="943075"/>
            <a:ext cx="3534156" cy="1752905"/>
          </a:xfrm>
          <a:prstGeom prst="roundRect">
            <a:avLst>
              <a:gd name="adj" fmla="val 6804"/>
            </a:avLst>
          </a:prstGeom>
          <a:solidFill>
            <a:srgbClr val="1B2A4A"/>
          </a:solidFill>
          <a:ln w="1270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Shape 5">
            <a:extLst>
              <a:ext uri="{FF2B5EF4-FFF2-40B4-BE49-F238E27FC236}">
                <a16:creationId xmlns:a16="http://schemas.microsoft.com/office/drawing/2014/main" id="{61217034-C290-835E-D750-9F6AF2ED6A9B}"/>
              </a:ext>
            </a:extLst>
          </p:cNvPr>
          <p:cNvSpPr/>
          <p:nvPr/>
        </p:nvSpPr>
        <p:spPr>
          <a:xfrm>
            <a:off x="524865" y="943075"/>
            <a:ext cx="38405" cy="1730045"/>
          </a:xfrm>
          <a:prstGeom prst="rect">
            <a:avLst/>
          </a:prstGeom>
          <a:solidFill>
            <a:srgbClr val="00D4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Shape 6">
            <a:extLst>
              <a:ext uri="{FF2B5EF4-FFF2-40B4-BE49-F238E27FC236}">
                <a16:creationId xmlns:a16="http://schemas.microsoft.com/office/drawing/2014/main" id="{E8E7F7FF-8160-2254-F00B-56DA69B086A7}"/>
              </a:ext>
            </a:extLst>
          </p:cNvPr>
          <p:cNvSpPr/>
          <p:nvPr/>
        </p:nvSpPr>
        <p:spPr>
          <a:xfrm>
            <a:off x="762609" y="1180819"/>
            <a:ext cx="381305" cy="381305"/>
          </a:xfrm>
          <a:prstGeom prst="ellipse">
            <a:avLst/>
          </a:prstGeom>
          <a:solidFill>
            <a:srgbClr val="00D4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9" name="Image 2" descr="preencoded.png">
            <a:extLst>
              <a:ext uri="{FF2B5EF4-FFF2-40B4-BE49-F238E27FC236}">
                <a16:creationId xmlns:a16="http://schemas.microsoft.com/office/drawing/2014/main" id="{0CA06FA3-957B-56F9-EF20-2B23224257E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39419" y="1257629"/>
            <a:ext cx="228600" cy="228600"/>
          </a:xfrm>
          <a:prstGeom prst="rect">
            <a:avLst/>
          </a:prstGeom>
        </p:spPr>
      </p:pic>
      <p:sp>
        <p:nvSpPr>
          <p:cNvPr id="50" name="Text 7">
            <a:extLst>
              <a:ext uri="{FF2B5EF4-FFF2-40B4-BE49-F238E27FC236}">
                <a16:creationId xmlns:a16="http://schemas.microsoft.com/office/drawing/2014/main" id="{33ADA0C4-9D90-9C92-0C34-540E0F40B469}"/>
              </a:ext>
            </a:extLst>
          </p:cNvPr>
          <p:cNvSpPr txBox="1"/>
          <p:nvPr/>
        </p:nvSpPr>
        <p:spPr>
          <a:xfrm>
            <a:off x="762609" y="1714829"/>
            <a:ext cx="3172054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Vue.js SPA 구현 역량</a:t>
            </a:r>
            <a:endParaRPr lang="en-US" sz="1300" dirty="0"/>
          </a:p>
        </p:txBody>
      </p:sp>
      <p:sp>
        <p:nvSpPr>
          <p:cNvPr id="51" name="Text 8">
            <a:extLst>
              <a:ext uri="{FF2B5EF4-FFF2-40B4-BE49-F238E27FC236}">
                <a16:creationId xmlns:a16="http://schemas.microsoft.com/office/drawing/2014/main" id="{1BCF441E-7C07-3293-0168-13BFFCA081B0}"/>
              </a:ext>
            </a:extLst>
          </p:cNvPr>
          <p:cNvSpPr txBox="1"/>
          <p:nvPr/>
        </p:nvSpPr>
        <p:spPr>
          <a:xfrm>
            <a:off x="762609" y="2042184"/>
            <a:ext cx="3134563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컴포넌트 기반 아키텍처 설계 및 반응형 UI 구현 경험 보유</a:t>
            </a:r>
            <a:endParaRPr lang="en-US" sz="1000" dirty="0"/>
          </a:p>
        </p:txBody>
      </p:sp>
      <p:sp>
        <p:nvSpPr>
          <p:cNvPr id="52" name="Shape 9">
            <a:extLst>
              <a:ext uri="{FF2B5EF4-FFF2-40B4-BE49-F238E27FC236}">
                <a16:creationId xmlns:a16="http://schemas.microsoft.com/office/drawing/2014/main" id="{40785D33-96D0-D460-0AB2-EA419E796D3C}"/>
              </a:ext>
            </a:extLst>
          </p:cNvPr>
          <p:cNvSpPr/>
          <p:nvPr/>
        </p:nvSpPr>
        <p:spPr>
          <a:xfrm>
            <a:off x="4283963" y="943075"/>
            <a:ext cx="3534156" cy="1752905"/>
          </a:xfrm>
          <a:prstGeom prst="roundRect">
            <a:avLst>
              <a:gd name="adj" fmla="val 6804"/>
            </a:avLst>
          </a:prstGeom>
          <a:solidFill>
            <a:srgbClr val="1B2A4A"/>
          </a:solidFill>
          <a:ln w="1270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10">
            <a:extLst>
              <a:ext uri="{FF2B5EF4-FFF2-40B4-BE49-F238E27FC236}">
                <a16:creationId xmlns:a16="http://schemas.microsoft.com/office/drawing/2014/main" id="{7A0A2242-FF49-AD99-7D32-A85C8B64674A}"/>
              </a:ext>
            </a:extLst>
          </p:cNvPr>
          <p:cNvSpPr/>
          <p:nvPr/>
        </p:nvSpPr>
        <p:spPr>
          <a:xfrm>
            <a:off x="4283963" y="943075"/>
            <a:ext cx="38405" cy="1730045"/>
          </a:xfrm>
          <a:prstGeom prst="rect">
            <a:avLst/>
          </a:prstGeom>
          <a:solidFill>
            <a:srgbClr val="00D4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Shape 11">
            <a:extLst>
              <a:ext uri="{FF2B5EF4-FFF2-40B4-BE49-F238E27FC236}">
                <a16:creationId xmlns:a16="http://schemas.microsoft.com/office/drawing/2014/main" id="{CA485793-6C73-1218-B642-6AE5FA6A5289}"/>
              </a:ext>
            </a:extLst>
          </p:cNvPr>
          <p:cNvSpPr/>
          <p:nvPr/>
        </p:nvSpPr>
        <p:spPr>
          <a:xfrm>
            <a:off x="4521707" y="1180819"/>
            <a:ext cx="381305" cy="381305"/>
          </a:xfrm>
          <a:prstGeom prst="ellipse">
            <a:avLst/>
          </a:prstGeom>
          <a:solidFill>
            <a:srgbClr val="00D4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5" name="Image 3" descr="preencoded.png">
            <a:extLst>
              <a:ext uri="{FF2B5EF4-FFF2-40B4-BE49-F238E27FC236}">
                <a16:creationId xmlns:a16="http://schemas.microsoft.com/office/drawing/2014/main" id="{A2ECD281-0ED4-451F-D3E4-DA4A5DB6F07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98517" y="1257629"/>
            <a:ext cx="228600" cy="228600"/>
          </a:xfrm>
          <a:prstGeom prst="rect">
            <a:avLst/>
          </a:prstGeom>
        </p:spPr>
      </p:pic>
      <p:sp>
        <p:nvSpPr>
          <p:cNvPr id="56" name="Text 12">
            <a:extLst>
              <a:ext uri="{FF2B5EF4-FFF2-40B4-BE49-F238E27FC236}">
                <a16:creationId xmlns:a16="http://schemas.microsoft.com/office/drawing/2014/main" id="{6D02C331-202D-0046-BC2A-FA31F772278D}"/>
              </a:ext>
            </a:extLst>
          </p:cNvPr>
          <p:cNvSpPr txBox="1"/>
          <p:nvPr/>
        </p:nvSpPr>
        <p:spPr>
          <a:xfrm>
            <a:off x="4521707" y="1714829"/>
            <a:ext cx="3172054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Python FastAPI 백엔드</a:t>
            </a:r>
            <a:endParaRPr lang="en-US" sz="1300" dirty="0"/>
          </a:p>
        </p:txBody>
      </p:sp>
      <p:sp>
        <p:nvSpPr>
          <p:cNvPr id="57" name="Text 13">
            <a:extLst>
              <a:ext uri="{FF2B5EF4-FFF2-40B4-BE49-F238E27FC236}">
                <a16:creationId xmlns:a16="http://schemas.microsoft.com/office/drawing/2014/main" id="{C67C60E0-C790-8E19-C225-5D1ECC1F006B}"/>
              </a:ext>
            </a:extLst>
          </p:cNvPr>
          <p:cNvSpPr txBox="1"/>
          <p:nvPr/>
        </p:nvSpPr>
        <p:spPr>
          <a:xfrm>
            <a:off x="4521707" y="2042184"/>
            <a:ext cx="372983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비동기 API 처리 및 데이터 파이프라인 설계 능력 검증</a:t>
            </a:r>
            <a:endParaRPr lang="en-US" sz="1000" dirty="0"/>
          </a:p>
        </p:txBody>
      </p:sp>
      <p:sp>
        <p:nvSpPr>
          <p:cNvPr id="58" name="Shape 14">
            <a:extLst>
              <a:ext uri="{FF2B5EF4-FFF2-40B4-BE49-F238E27FC236}">
                <a16:creationId xmlns:a16="http://schemas.microsoft.com/office/drawing/2014/main" id="{D31C15FB-F585-47A0-5624-F085048B5C19}"/>
              </a:ext>
            </a:extLst>
          </p:cNvPr>
          <p:cNvSpPr/>
          <p:nvPr/>
        </p:nvSpPr>
        <p:spPr>
          <a:xfrm>
            <a:off x="8043062" y="943075"/>
            <a:ext cx="3534156" cy="1752905"/>
          </a:xfrm>
          <a:prstGeom prst="roundRect">
            <a:avLst>
              <a:gd name="adj" fmla="val 6804"/>
            </a:avLst>
          </a:prstGeom>
          <a:solidFill>
            <a:srgbClr val="1B2A4A"/>
          </a:solidFill>
          <a:ln w="1270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Shape 15">
            <a:extLst>
              <a:ext uri="{FF2B5EF4-FFF2-40B4-BE49-F238E27FC236}">
                <a16:creationId xmlns:a16="http://schemas.microsoft.com/office/drawing/2014/main" id="{11DD1D3F-BD4F-F4C1-0BD9-6575C45E27AA}"/>
              </a:ext>
            </a:extLst>
          </p:cNvPr>
          <p:cNvSpPr/>
          <p:nvPr/>
        </p:nvSpPr>
        <p:spPr>
          <a:xfrm>
            <a:off x="8043062" y="943075"/>
            <a:ext cx="38405" cy="1730045"/>
          </a:xfrm>
          <a:prstGeom prst="rect">
            <a:avLst/>
          </a:prstGeom>
          <a:solidFill>
            <a:srgbClr val="00D4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Shape 16">
            <a:extLst>
              <a:ext uri="{FF2B5EF4-FFF2-40B4-BE49-F238E27FC236}">
                <a16:creationId xmlns:a16="http://schemas.microsoft.com/office/drawing/2014/main" id="{F344C202-6BC6-2331-671B-81294A85BEDF}"/>
              </a:ext>
            </a:extLst>
          </p:cNvPr>
          <p:cNvSpPr/>
          <p:nvPr/>
        </p:nvSpPr>
        <p:spPr>
          <a:xfrm>
            <a:off x="8281720" y="1180819"/>
            <a:ext cx="381305" cy="381305"/>
          </a:xfrm>
          <a:prstGeom prst="ellipse">
            <a:avLst/>
          </a:prstGeom>
          <a:solidFill>
            <a:srgbClr val="00D4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1" name="Image 4" descr="preencoded.png">
            <a:extLst>
              <a:ext uri="{FF2B5EF4-FFF2-40B4-BE49-F238E27FC236}">
                <a16:creationId xmlns:a16="http://schemas.microsoft.com/office/drawing/2014/main" id="{424E8A8C-6074-1681-8AA3-AE991CCB423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357615" y="1257629"/>
            <a:ext cx="228600" cy="228600"/>
          </a:xfrm>
          <a:prstGeom prst="rect">
            <a:avLst/>
          </a:prstGeom>
        </p:spPr>
      </p:pic>
      <p:sp>
        <p:nvSpPr>
          <p:cNvPr id="62" name="Text 17">
            <a:extLst>
              <a:ext uri="{FF2B5EF4-FFF2-40B4-BE49-F238E27FC236}">
                <a16:creationId xmlns:a16="http://schemas.microsoft.com/office/drawing/2014/main" id="{4FA7120D-4158-E001-4E14-0D12EBF18586}"/>
              </a:ext>
            </a:extLst>
          </p:cNvPr>
          <p:cNvSpPr txBox="1"/>
          <p:nvPr/>
        </p:nvSpPr>
        <p:spPr>
          <a:xfrm>
            <a:off x="8281720" y="1714829"/>
            <a:ext cx="3172054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Keystone 인증 구현</a:t>
            </a:r>
            <a:endParaRPr lang="en-US" sz="1300" dirty="0"/>
          </a:p>
        </p:txBody>
      </p:sp>
      <p:sp>
        <p:nvSpPr>
          <p:cNvPr id="63" name="Text 18">
            <a:extLst>
              <a:ext uri="{FF2B5EF4-FFF2-40B4-BE49-F238E27FC236}">
                <a16:creationId xmlns:a16="http://schemas.microsoft.com/office/drawing/2014/main" id="{3CEC1BD5-C412-74AF-DD16-A8F96C44C046}"/>
              </a:ext>
            </a:extLst>
          </p:cNvPr>
          <p:cNvSpPr txBox="1"/>
          <p:nvPr/>
        </p:nvSpPr>
        <p:spPr>
          <a:xfrm>
            <a:off x="8281720" y="2042184"/>
            <a:ext cx="3134563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Token 기반 인증 플로우 및 만료 시 자동 갱신 로직 구현 가능</a:t>
            </a:r>
            <a:endParaRPr lang="en-US" sz="1000" dirty="0"/>
          </a:p>
        </p:txBody>
      </p:sp>
      <p:sp>
        <p:nvSpPr>
          <p:cNvPr id="64" name="Shape 19">
            <a:extLst>
              <a:ext uri="{FF2B5EF4-FFF2-40B4-BE49-F238E27FC236}">
                <a16:creationId xmlns:a16="http://schemas.microsoft.com/office/drawing/2014/main" id="{0770A4F2-FCFB-7B3A-6B08-5A6594716FD5}"/>
              </a:ext>
            </a:extLst>
          </p:cNvPr>
          <p:cNvSpPr/>
          <p:nvPr/>
        </p:nvSpPr>
        <p:spPr>
          <a:xfrm>
            <a:off x="524865" y="2920922"/>
            <a:ext cx="3534156" cy="1752905"/>
          </a:xfrm>
          <a:prstGeom prst="roundRect">
            <a:avLst>
              <a:gd name="adj" fmla="val 6804"/>
            </a:avLst>
          </a:prstGeom>
          <a:solidFill>
            <a:srgbClr val="1B2A4A"/>
          </a:solidFill>
          <a:ln w="1270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5" name="Shape 20">
            <a:extLst>
              <a:ext uri="{FF2B5EF4-FFF2-40B4-BE49-F238E27FC236}">
                <a16:creationId xmlns:a16="http://schemas.microsoft.com/office/drawing/2014/main" id="{B63A682A-1C5E-B5E9-B7B6-1D272989B166}"/>
              </a:ext>
            </a:extLst>
          </p:cNvPr>
          <p:cNvSpPr/>
          <p:nvPr/>
        </p:nvSpPr>
        <p:spPr>
          <a:xfrm>
            <a:off x="524865" y="2920922"/>
            <a:ext cx="38405" cy="1730045"/>
          </a:xfrm>
          <a:prstGeom prst="rect">
            <a:avLst/>
          </a:prstGeom>
          <a:solidFill>
            <a:srgbClr val="00D4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6" name="Shape 21">
            <a:extLst>
              <a:ext uri="{FF2B5EF4-FFF2-40B4-BE49-F238E27FC236}">
                <a16:creationId xmlns:a16="http://schemas.microsoft.com/office/drawing/2014/main" id="{77C9FE9A-2F46-1D56-0537-73FC9EE6A9BD}"/>
              </a:ext>
            </a:extLst>
          </p:cNvPr>
          <p:cNvSpPr/>
          <p:nvPr/>
        </p:nvSpPr>
        <p:spPr>
          <a:xfrm>
            <a:off x="762609" y="3158666"/>
            <a:ext cx="381305" cy="381305"/>
          </a:xfrm>
          <a:prstGeom prst="ellipse">
            <a:avLst/>
          </a:prstGeom>
          <a:solidFill>
            <a:srgbClr val="00D4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7" name="Image 5" descr="preencoded.png">
            <a:extLst>
              <a:ext uri="{FF2B5EF4-FFF2-40B4-BE49-F238E27FC236}">
                <a16:creationId xmlns:a16="http://schemas.microsoft.com/office/drawing/2014/main" id="{C85C5696-0B30-E095-3148-2C3FA8FE0BA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-80" r="-80"/>
          <a:stretch/>
        </p:blipFill>
        <p:spPr>
          <a:xfrm>
            <a:off x="811072" y="3235476"/>
            <a:ext cx="286207" cy="228600"/>
          </a:xfrm>
          <a:prstGeom prst="rect">
            <a:avLst/>
          </a:prstGeom>
        </p:spPr>
      </p:pic>
      <p:sp>
        <p:nvSpPr>
          <p:cNvPr id="68" name="Text 22">
            <a:extLst>
              <a:ext uri="{FF2B5EF4-FFF2-40B4-BE49-F238E27FC236}">
                <a16:creationId xmlns:a16="http://schemas.microsoft.com/office/drawing/2014/main" id="{C52B03B6-66AC-7C50-40F4-E09111BF7C7D}"/>
              </a:ext>
            </a:extLst>
          </p:cNvPr>
          <p:cNvSpPr txBox="1"/>
          <p:nvPr/>
        </p:nvSpPr>
        <p:spPr>
          <a:xfrm>
            <a:off x="762609" y="3692676"/>
            <a:ext cx="3248863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멀티테넌시·RBAC 설계</a:t>
            </a:r>
            <a:endParaRPr lang="en-US" sz="1300" dirty="0"/>
          </a:p>
        </p:txBody>
      </p:sp>
      <p:sp>
        <p:nvSpPr>
          <p:cNvPr id="69" name="Text 23">
            <a:extLst>
              <a:ext uri="{FF2B5EF4-FFF2-40B4-BE49-F238E27FC236}">
                <a16:creationId xmlns:a16="http://schemas.microsoft.com/office/drawing/2014/main" id="{C0C4E609-A846-E822-0309-B3079FB76A2B}"/>
              </a:ext>
            </a:extLst>
          </p:cNvPr>
          <p:cNvSpPr txBox="1"/>
          <p:nvPr/>
        </p:nvSpPr>
        <p:spPr>
          <a:xfrm>
            <a:off x="762609" y="4020031"/>
            <a:ext cx="3134563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Domain/Project 계층 구조 이해 및 권한 관리 시스템 설계 경험</a:t>
            </a:r>
            <a:endParaRPr lang="en-US" sz="1000" dirty="0"/>
          </a:p>
        </p:txBody>
      </p:sp>
      <p:sp>
        <p:nvSpPr>
          <p:cNvPr id="70" name="Shape 24">
            <a:extLst>
              <a:ext uri="{FF2B5EF4-FFF2-40B4-BE49-F238E27FC236}">
                <a16:creationId xmlns:a16="http://schemas.microsoft.com/office/drawing/2014/main" id="{ED2BD4F8-B7F2-2E89-583D-80591F851F10}"/>
              </a:ext>
            </a:extLst>
          </p:cNvPr>
          <p:cNvSpPr/>
          <p:nvPr/>
        </p:nvSpPr>
        <p:spPr>
          <a:xfrm>
            <a:off x="4283963" y="2920922"/>
            <a:ext cx="3534156" cy="1752905"/>
          </a:xfrm>
          <a:prstGeom prst="roundRect">
            <a:avLst>
              <a:gd name="adj" fmla="val 6804"/>
            </a:avLst>
          </a:prstGeom>
          <a:solidFill>
            <a:srgbClr val="1B2A4A"/>
          </a:solidFill>
          <a:ln w="1270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1" name="Shape 25">
            <a:extLst>
              <a:ext uri="{FF2B5EF4-FFF2-40B4-BE49-F238E27FC236}">
                <a16:creationId xmlns:a16="http://schemas.microsoft.com/office/drawing/2014/main" id="{318DCBA7-189C-47B2-8A39-3C338246C0FE}"/>
              </a:ext>
            </a:extLst>
          </p:cNvPr>
          <p:cNvSpPr/>
          <p:nvPr/>
        </p:nvSpPr>
        <p:spPr>
          <a:xfrm>
            <a:off x="4283963" y="2920922"/>
            <a:ext cx="38405" cy="1730045"/>
          </a:xfrm>
          <a:prstGeom prst="rect">
            <a:avLst/>
          </a:prstGeom>
          <a:solidFill>
            <a:srgbClr val="00D4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2" name="Shape 26">
            <a:extLst>
              <a:ext uri="{FF2B5EF4-FFF2-40B4-BE49-F238E27FC236}">
                <a16:creationId xmlns:a16="http://schemas.microsoft.com/office/drawing/2014/main" id="{D5A94489-DC1A-6B64-A014-31CEC581B063}"/>
              </a:ext>
            </a:extLst>
          </p:cNvPr>
          <p:cNvSpPr/>
          <p:nvPr/>
        </p:nvSpPr>
        <p:spPr>
          <a:xfrm>
            <a:off x="4521707" y="3158666"/>
            <a:ext cx="381305" cy="381305"/>
          </a:xfrm>
          <a:prstGeom prst="ellipse">
            <a:avLst/>
          </a:prstGeom>
          <a:solidFill>
            <a:srgbClr val="00D4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73" name="Image 6" descr="preencoded.png">
            <a:extLst>
              <a:ext uri="{FF2B5EF4-FFF2-40B4-BE49-F238E27FC236}">
                <a16:creationId xmlns:a16="http://schemas.microsoft.com/office/drawing/2014/main" id="{63EE43C9-9656-185E-25D2-E98C9961C90B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598517" y="3235476"/>
            <a:ext cx="228600" cy="228600"/>
          </a:xfrm>
          <a:prstGeom prst="rect">
            <a:avLst/>
          </a:prstGeom>
        </p:spPr>
      </p:pic>
      <p:sp>
        <p:nvSpPr>
          <p:cNvPr id="74" name="Text 27">
            <a:extLst>
              <a:ext uri="{FF2B5EF4-FFF2-40B4-BE49-F238E27FC236}">
                <a16:creationId xmlns:a16="http://schemas.microsoft.com/office/drawing/2014/main" id="{5ADE3B22-7140-191C-C4BC-8E012BF11812}"/>
              </a:ext>
            </a:extLst>
          </p:cNvPr>
          <p:cNvSpPr txBox="1"/>
          <p:nvPr/>
        </p:nvSpPr>
        <p:spPr>
          <a:xfrm>
            <a:off x="4521707" y="3692676"/>
            <a:ext cx="3248863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이벤트 폴링 구성</a:t>
            </a:r>
            <a:endParaRPr lang="en-US" sz="1300" dirty="0"/>
          </a:p>
        </p:txBody>
      </p:sp>
      <p:sp>
        <p:nvSpPr>
          <p:cNvPr id="75" name="Text 28">
            <a:extLst>
              <a:ext uri="{FF2B5EF4-FFF2-40B4-BE49-F238E27FC236}">
                <a16:creationId xmlns:a16="http://schemas.microsoft.com/office/drawing/2014/main" id="{19B0BEDA-FCE3-85E1-C6CA-DB05145A7BA8}"/>
              </a:ext>
            </a:extLst>
          </p:cNvPr>
          <p:cNvSpPr txBox="1"/>
          <p:nvPr/>
        </p:nvSpPr>
        <p:spPr>
          <a:xfrm>
            <a:off x="4521707" y="4020031"/>
            <a:ext cx="3134563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Celery + Redis 조합의 안정적인 비동기 작업 및 상태 모니터링</a:t>
            </a:r>
            <a:endParaRPr lang="en-US" sz="1000" dirty="0"/>
          </a:p>
        </p:txBody>
      </p:sp>
      <p:sp>
        <p:nvSpPr>
          <p:cNvPr id="76" name="Shape 29">
            <a:extLst>
              <a:ext uri="{FF2B5EF4-FFF2-40B4-BE49-F238E27FC236}">
                <a16:creationId xmlns:a16="http://schemas.microsoft.com/office/drawing/2014/main" id="{DEE9FE35-61AC-E2A0-6E1A-44B962DB6E85}"/>
              </a:ext>
            </a:extLst>
          </p:cNvPr>
          <p:cNvSpPr/>
          <p:nvPr/>
        </p:nvSpPr>
        <p:spPr>
          <a:xfrm>
            <a:off x="8043062" y="2920922"/>
            <a:ext cx="3534156" cy="1752905"/>
          </a:xfrm>
          <a:prstGeom prst="roundRect">
            <a:avLst>
              <a:gd name="adj" fmla="val 6804"/>
            </a:avLst>
          </a:prstGeom>
          <a:solidFill>
            <a:srgbClr val="00D4FF">
              <a:alpha val="5000"/>
            </a:srgbClr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7" name="Shape 30">
            <a:extLst>
              <a:ext uri="{FF2B5EF4-FFF2-40B4-BE49-F238E27FC236}">
                <a16:creationId xmlns:a16="http://schemas.microsoft.com/office/drawing/2014/main" id="{C152CBFB-5026-71A8-E630-3A157321596E}"/>
              </a:ext>
            </a:extLst>
          </p:cNvPr>
          <p:cNvSpPr/>
          <p:nvPr/>
        </p:nvSpPr>
        <p:spPr>
          <a:xfrm>
            <a:off x="8043062" y="2920922"/>
            <a:ext cx="38405" cy="1730045"/>
          </a:xfrm>
          <a:prstGeom prst="rect">
            <a:avLst/>
          </a:prstGeom>
          <a:solidFill>
            <a:srgbClr val="00D4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8" name="Shape 31">
            <a:extLst>
              <a:ext uri="{FF2B5EF4-FFF2-40B4-BE49-F238E27FC236}">
                <a16:creationId xmlns:a16="http://schemas.microsoft.com/office/drawing/2014/main" id="{CBAD909C-9024-1DE3-285C-E99509BB0EBC}"/>
              </a:ext>
            </a:extLst>
          </p:cNvPr>
          <p:cNvSpPr/>
          <p:nvPr/>
        </p:nvSpPr>
        <p:spPr>
          <a:xfrm>
            <a:off x="8281720" y="3158666"/>
            <a:ext cx="381305" cy="381305"/>
          </a:xfrm>
          <a:prstGeom prst="ellipse">
            <a:avLst/>
          </a:prstGeom>
          <a:solidFill>
            <a:srgbClr val="00D4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79" name="Image 7" descr="preencoded.png">
            <a:extLst>
              <a:ext uri="{FF2B5EF4-FFF2-40B4-BE49-F238E27FC236}">
                <a16:creationId xmlns:a16="http://schemas.microsoft.com/office/drawing/2014/main" id="{CDD0AC97-EC89-DB58-DF1C-0B368740308F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-57" r="-57"/>
          <a:stretch/>
        </p:blipFill>
        <p:spPr>
          <a:xfrm>
            <a:off x="8372246" y="3235476"/>
            <a:ext cx="200254" cy="228600"/>
          </a:xfrm>
          <a:prstGeom prst="rect">
            <a:avLst/>
          </a:prstGeom>
        </p:spPr>
      </p:pic>
      <p:sp>
        <p:nvSpPr>
          <p:cNvPr id="80" name="Text 32">
            <a:extLst>
              <a:ext uri="{FF2B5EF4-FFF2-40B4-BE49-F238E27FC236}">
                <a16:creationId xmlns:a16="http://schemas.microsoft.com/office/drawing/2014/main" id="{3F17470B-AFB6-BD5E-E059-4AB15D356623}"/>
              </a:ext>
            </a:extLst>
          </p:cNvPr>
          <p:cNvSpPr txBox="1"/>
          <p:nvPr/>
        </p:nvSpPr>
        <p:spPr>
          <a:xfrm>
            <a:off x="8281720" y="3692676"/>
            <a:ext cx="3248863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 검증 완료</a:t>
            </a:r>
            <a:endParaRPr lang="en-US" sz="1300" dirty="0"/>
          </a:p>
        </p:txBody>
      </p:sp>
      <p:sp>
        <p:nvSpPr>
          <p:cNvPr id="81" name="Text 33">
            <a:extLst>
              <a:ext uri="{FF2B5EF4-FFF2-40B4-BE49-F238E27FC236}">
                <a16:creationId xmlns:a16="http://schemas.microsoft.com/office/drawing/2014/main" id="{611B8C89-B840-510E-C7FE-1D7A10EC558C}"/>
              </a:ext>
            </a:extLst>
          </p:cNvPr>
          <p:cNvSpPr txBox="1"/>
          <p:nvPr/>
        </p:nvSpPr>
        <p:spPr>
          <a:xfrm>
            <a:off x="8281720" y="4020031"/>
            <a:ext cx="3134563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요구사항 5개 항목에 대한 기술적 구현 준비 100% 완료</a:t>
            </a:r>
            <a:endParaRPr lang="en-US" sz="1000" dirty="0"/>
          </a:p>
        </p:txBody>
      </p:sp>
      <p:pic>
        <p:nvPicPr>
          <p:cNvPr id="82" name="Image 8" descr="preencoded.png">
            <a:extLst>
              <a:ext uri="{FF2B5EF4-FFF2-40B4-BE49-F238E27FC236}">
                <a16:creationId xmlns:a16="http://schemas.microsoft.com/office/drawing/2014/main" id="{27405DDF-76B1-F9AD-2449-0FB8A5F67115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-4" r="-4"/>
          <a:stretch/>
        </p:blipFill>
        <p:spPr>
          <a:xfrm>
            <a:off x="524865" y="4873401"/>
            <a:ext cx="11048695" cy="1853491"/>
          </a:xfrm>
          <a:prstGeom prst="rect">
            <a:avLst/>
          </a:prstGeom>
        </p:spPr>
      </p:pic>
      <p:sp>
        <p:nvSpPr>
          <p:cNvPr id="83" name="Shape 34">
            <a:extLst>
              <a:ext uri="{FF2B5EF4-FFF2-40B4-BE49-F238E27FC236}">
                <a16:creationId xmlns:a16="http://schemas.microsoft.com/office/drawing/2014/main" id="{F2194640-D9CC-FA70-56BE-FDDAC0CFA4F7}"/>
              </a:ext>
            </a:extLst>
          </p:cNvPr>
          <p:cNvSpPr/>
          <p:nvPr/>
        </p:nvSpPr>
        <p:spPr>
          <a:xfrm>
            <a:off x="829360" y="4896544"/>
            <a:ext cx="418795" cy="647395"/>
          </a:xfrm>
          <a:prstGeom prst="roundRect">
            <a:avLst>
              <a:gd name="adj" fmla="val 218341"/>
            </a:avLst>
          </a:prstGeom>
          <a:solidFill>
            <a:srgbClr val="4ADE80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4" name="Text 35">
            <a:extLst>
              <a:ext uri="{FF2B5EF4-FFF2-40B4-BE49-F238E27FC236}">
                <a16:creationId xmlns:a16="http://schemas.microsoft.com/office/drawing/2014/main" id="{F39AED1F-F954-25C2-E3AB-9A29112751FC}"/>
              </a:ext>
            </a:extLst>
          </p:cNvPr>
          <p:cNvSpPr txBox="1"/>
          <p:nvPr/>
        </p:nvSpPr>
        <p:spPr>
          <a:xfrm>
            <a:off x="1400860" y="5060222"/>
            <a:ext cx="4515307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-17" dirty="0">
                <a:solidFill>
                  <a:srgbClr val="86EFA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RESOLVED: 공식 API 문서 공개 확인 완료</a:t>
            </a:r>
            <a:endParaRPr lang="en-US" sz="1600" dirty="0"/>
          </a:p>
        </p:txBody>
      </p:sp>
      <p:pic>
        <p:nvPicPr>
          <p:cNvPr id="85" name="Image 9" descr="preencoded.png">
            <a:extLst>
              <a:ext uri="{FF2B5EF4-FFF2-40B4-BE49-F238E27FC236}">
                <a16:creationId xmlns:a16="http://schemas.microsoft.com/office/drawing/2014/main" id="{1D40F3F9-0610-D059-3F43-E96088407CF7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-2838" r="-2838"/>
          <a:stretch/>
        </p:blipFill>
        <p:spPr>
          <a:xfrm>
            <a:off x="1439265" y="5750594"/>
            <a:ext cx="123444" cy="133502"/>
          </a:xfrm>
          <a:prstGeom prst="rect">
            <a:avLst/>
          </a:prstGeom>
        </p:spPr>
      </p:pic>
      <p:sp>
        <p:nvSpPr>
          <p:cNvPr id="86" name="Text 36">
            <a:extLst>
              <a:ext uri="{FF2B5EF4-FFF2-40B4-BE49-F238E27FC236}">
                <a16:creationId xmlns:a16="http://schemas.microsoft.com/office/drawing/2014/main" id="{94F1AACA-BE0E-BD3B-E439-CAAB2689FAC9}"/>
              </a:ext>
            </a:extLst>
          </p:cNvPr>
          <p:cNvSpPr txBox="1"/>
          <p:nvPr/>
        </p:nvSpPr>
        <p:spPr>
          <a:xfrm>
            <a:off x="1562709" y="5696644"/>
            <a:ext cx="6124651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D1FAE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공식 가이드 확인: guides.zadarastorage.com / api-doc.zadarastorage.com</a:t>
            </a:r>
            <a:endParaRPr lang="en-US" sz="1200" dirty="0"/>
          </a:p>
        </p:txBody>
      </p:sp>
      <p:pic>
        <p:nvPicPr>
          <p:cNvPr id="87" name="Image 10" descr="preencoded.png">
            <a:extLst>
              <a:ext uri="{FF2B5EF4-FFF2-40B4-BE49-F238E27FC236}">
                <a16:creationId xmlns:a16="http://schemas.microsoft.com/office/drawing/2014/main" id="{0990D1CA-0BDC-6A8C-E1F4-8D084C78F235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-2838" r="-2838"/>
          <a:stretch/>
        </p:blipFill>
        <p:spPr>
          <a:xfrm>
            <a:off x="1439265" y="6104467"/>
            <a:ext cx="123444" cy="133502"/>
          </a:xfrm>
          <a:prstGeom prst="rect">
            <a:avLst/>
          </a:prstGeom>
        </p:spPr>
      </p:pic>
      <p:sp>
        <p:nvSpPr>
          <p:cNvPr id="88" name="Text 37">
            <a:extLst>
              <a:ext uri="{FF2B5EF4-FFF2-40B4-BE49-F238E27FC236}">
                <a16:creationId xmlns:a16="http://schemas.microsoft.com/office/drawing/2014/main" id="{DA3CD09E-DEBD-7241-0322-72DA13AE6DEE}"/>
              </a:ext>
            </a:extLst>
          </p:cNvPr>
          <p:cNvSpPr txBox="1"/>
          <p:nvPr/>
        </p:nvSpPr>
        <p:spPr>
          <a:xfrm>
            <a:off x="1562709" y="6051432"/>
            <a:ext cx="526785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D1FAE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Provisioning Portal API (/api/v2/) 전체 Swagger 문서 확보 완료</a:t>
            </a:r>
            <a:endParaRPr lang="en-US" sz="1200" dirty="0"/>
          </a:p>
        </p:txBody>
      </p:sp>
      <p:pic>
        <p:nvPicPr>
          <p:cNvPr id="89" name="Image 11" descr="preencoded.png">
            <a:extLst>
              <a:ext uri="{FF2B5EF4-FFF2-40B4-BE49-F238E27FC236}">
                <a16:creationId xmlns:a16="http://schemas.microsoft.com/office/drawing/2014/main" id="{13E733CE-73CE-8DE4-DE1F-21B9FB47FB2E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1439265" y="6459254"/>
            <a:ext cx="133502" cy="133502"/>
          </a:xfrm>
          <a:prstGeom prst="rect">
            <a:avLst/>
          </a:prstGeom>
        </p:spPr>
      </p:pic>
      <p:sp>
        <p:nvSpPr>
          <p:cNvPr id="90" name="Text 38">
            <a:extLst>
              <a:ext uri="{FF2B5EF4-FFF2-40B4-BE49-F238E27FC236}">
                <a16:creationId xmlns:a16="http://schemas.microsoft.com/office/drawing/2014/main" id="{6A68843C-5549-990B-423F-7836480C95F3}"/>
              </a:ext>
            </a:extLst>
          </p:cNvPr>
          <p:cNvSpPr txBox="1"/>
          <p:nvPr/>
        </p:nvSpPr>
        <p:spPr>
          <a:xfrm>
            <a:off x="1572767" y="6405304"/>
            <a:ext cx="351312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D1FAE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 장벽 완전 해소 — 즉시 개발 착수 가능</a:t>
            </a:r>
            <a:endParaRPr lang="en-US" sz="1200" dirty="0"/>
          </a:p>
        </p:txBody>
      </p:sp>
      <p:pic>
        <p:nvPicPr>
          <p:cNvPr id="91" name="Image 12" descr="preencoded.png">
            <a:extLst>
              <a:ext uri="{FF2B5EF4-FFF2-40B4-BE49-F238E27FC236}">
                <a16:creationId xmlns:a16="http://schemas.microsoft.com/office/drawing/2014/main" id="{2162E0F5-EB0B-015E-0D5B-6DD1C312268F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-50" r="-50"/>
          <a:stretch/>
        </p:blipFill>
        <p:spPr>
          <a:xfrm>
            <a:off x="925372" y="5087654"/>
            <a:ext cx="228600" cy="30449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9334195" y="-952805"/>
            <a:ext cx="3810305" cy="3810305"/>
          </a:xfrm>
          <a:prstGeom prst="ellipse">
            <a:avLst/>
          </a:prstGeom>
          <a:solidFill>
            <a:srgbClr val="00D4FF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 rot="21300000">
            <a:off x="0" y="3467405"/>
            <a:ext cx="12191695" cy="2857500"/>
          </a:xfrm>
          <a:prstGeom prst="rect">
            <a:avLst/>
          </a:prstGeom>
          <a:solidFill>
            <a:srgbClr val="1B2A4A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t="-201" b="-201"/>
          <a:stretch/>
        </p:blipFill>
        <p:spPr>
          <a:xfrm>
            <a:off x="0" y="571500"/>
            <a:ext cx="75895" cy="5715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61695" y="571500"/>
            <a:ext cx="1097280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3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실행계획</a:t>
            </a:r>
            <a:endParaRPr lang="en-US" sz="31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61695" y="1194206"/>
            <a:ext cx="190195" cy="19019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952805" y="1146658"/>
            <a:ext cx="56775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00D4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Zadara Web Portal 구축을 위한 5가지 핵심 역량 및 실행 계획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761695" y="3765499"/>
            <a:ext cx="10668305" cy="2848356"/>
          </a:xfrm>
          <a:prstGeom prst="roundRect">
            <a:avLst>
              <a:gd name="adj" fmla="val 2577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7"/>
          <p:cNvSpPr txBox="1"/>
          <p:nvPr/>
        </p:nvSpPr>
        <p:spPr>
          <a:xfrm>
            <a:off x="1247242" y="4013302"/>
            <a:ext cx="10001707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단계별 구현 접근 방법 (Implementation Approach)</a:t>
            </a:r>
            <a:endParaRPr lang="en-US" sz="13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rcRect t="-842" b="-842"/>
          <a:stretch/>
        </p:blipFill>
        <p:spPr>
          <a:xfrm>
            <a:off x="1057046" y="4055364"/>
            <a:ext cx="190195" cy="171907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761695" y="1718158"/>
            <a:ext cx="2018995" cy="1762049"/>
          </a:xfrm>
          <a:prstGeom prst="roundRect">
            <a:avLst>
              <a:gd name="adj" fmla="val 5610"/>
            </a:avLst>
          </a:prstGeom>
          <a:solidFill>
            <a:srgbClr val="1B2A4A"/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blurRad="139700" dist="50800" dir="162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9"/>
          <p:cNvSpPr/>
          <p:nvPr/>
        </p:nvSpPr>
        <p:spPr>
          <a:xfrm>
            <a:off x="1533449" y="1918411"/>
            <a:ext cx="476402" cy="476402"/>
          </a:xfrm>
          <a:prstGeom prst="ellipse">
            <a:avLst/>
          </a:prstGeom>
          <a:solidFill>
            <a:srgbClr val="00D4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657807" y="2041855"/>
            <a:ext cx="228600" cy="228600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1867205" y="1870862"/>
            <a:ext cx="190195" cy="190195"/>
          </a:xfrm>
          <a:prstGeom prst="ellipse">
            <a:avLst/>
          </a:prstGeom>
          <a:solidFill>
            <a:srgbClr val="00D4FF"/>
          </a:solidFill>
          <a:ln w="254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rcRect l="-2571" r="-2571"/>
          <a:stretch/>
        </p:blipFill>
        <p:spPr>
          <a:xfrm>
            <a:off x="1910182" y="1909267"/>
            <a:ext cx="105156" cy="114300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1025957" y="2537460"/>
            <a:ext cx="149687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Keystone 인증 구현</a:t>
            </a:r>
            <a:endParaRPr lang="en-US" sz="1100" dirty="0"/>
          </a:p>
        </p:txBody>
      </p:sp>
      <p:sp>
        <p:nvSpPr>
          <p:cNvPr id="19" name="Text 12"/>
          <p:cNvSpPr txBox="1"/>
          <p:nvPr/>
        </p:nvSpPr>
        <p:spPr>
          <a:xfrm>
            <a:off x="1142086" y="2799893"/>
            <a:ext cx="1267358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EC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Python FastAPI 기반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B0BEC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Opaque Token 처리 및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B0BEC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X-Auth-Token 헤더 제어</a:t>
            </a:r>
            <a:endParaRPr lang="en-US" sz="900" dirty="0"/>
          </a:p>
        </p:txBody>
      </p:sp>
      <p:sp>
        <p:nvSpPr>
          <p:cNvPr id="20" name="Shape 13"/>
          <p:cNvSpPr/>
          <p:nvPr/>
        </p:nvSpPr>
        <p:spPr>
          <a:xfrm>
            <a:off x="2924251" y="1718158"/>
            <a:ext cx="2018995" cy="1762049"/>
          </a:xfrm>
          <a:prstGeom prst="roundRect">
            <a:avLst>
              <a:gd name="adj" fmla="val 5610"/>
            </a:avLst>
          </a:prstGeom>
          <a:solidFill>
            <a:srgbClr val="1B2A4A"/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blurRad="139700" dist="50800" dir="162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4"/>
          <p:cNvSpPr/>
          <p:nvPr/>
        </p:nvSpPr>
        <p:spPr>
          <a:xfrm>
            <a:off x="3696005" y="1918411"/>
            <a:ext cx="476402" cy="476402"/>
          </a:xfrm>
          <a:prstGeom prst="ellipse">
            <a:avLst/>
          </a:prstGeom>
          <a:solidFill>
            <a:srgbClr val="00D4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8"/>
          <a:srcRect l="-80" r="-80"/>
          <a:stretch/>
        </p:blipFill>
        <p:spPr>
          <a:xfrm>
            <a:off x="3791102" y="2041855"/>
            <a:ext cx="286207" cy="228600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4028846" y="1870862"/>
            <a:ext cx="190195" cy="190195"/>
          </a:xfrm>
          <a:prstGeom prst="ellipse">
            <a:avLst/>
          </a:prstGeom>
          <a:solidFill>
            <a:srgbClr val="00D4FF"/>
          </a:solidFill>
          <a:ln w="254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 r:embed="rId7"/>
          <a:srcRect l="-2571" r="-2571"/>
          <a:stretch/>
        </p:blipFill>
        <p:spPr>
          <a:xfrm>
            <a:off x="4071823" y="1909267"/>
            <a:ext cx="105156" cy="114300"/>
          </a:xfrm>
          <a:prstGeom prst="rect">
            <a:avLst/>
          </a:prstGeom>
        </p:spPr>
      </p:pic>
      <p:sp>
        <p:nvSpPr>
          <p:cNvPr id="25" name="Text 16"/>
          <p:cNvSpPr txBox="1"/>
          <p:nvPr/>
        </p:nvSpPr>
        <p:spPr>
          <a:xfrm>
            <a:off x="3377794" y="2537460"/>
            <a:ext cx="11192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REST API 연동</a:t>
            </a:r>
            <a:endParaRPr lang="en-US" sz="1100" dirty="0"/>
          </a:p>
        </p:txBody>
      </p:sp>
      <p:sp>
        <p:nvSpPr>
          <p:cNvPr id="26" name="Text 17"/>
          <p:cNvSpPr txBox="1"/>
          <p:nvPr/>
        </p:nvSpPr>
        <p:spPr>
          <a:xfrm>
            <a:off x="3320186" y="2799893"/>
            <a:ext cx="1228954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EC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19년 경력의 시스템 연동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B0BEC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IBK 등 대규모 시스템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B0BEC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API 아키텍처 설계 경험</a:t>
            </a:r>
            <a:endParaRPr lang="en-US" sz="900" dirty="0"/>
          </a:p>
        </p:txBody>
      </p:sp>
      <p:sp>
        <p:nvSpPr>
          <p:cNvPr id="27" name="Shape 18"/>
          <p:cNvSpPr/>
          <p:nvPr/>
        </p:nvSpPr>
        <p:spPr>
          <a:xfrm>
            <a:off x="5086807" y="1718158"/>
            <a:ext cx="2018995" cy="1762049"/>
          </a:xfrm>
          <a:prstGeom prst="roundRect">
            <a:avLst>
              <a:gd name="adj" fmla="val 5610"/>
            </a:avLst>
          </a:prstGeom>
          <a:solidFill>
            <a:srgbClr val="1B2A4A"/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blurRad="139700" dist="50800" dir="162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19"/>
          <p:cNvSpPr/>
          <p:nvPr/>
        </p:nvSpPr>
        <p:spPr>
          <a:xfrm>
            <a:off x="5857646" y="1918411"/>
            <a:ext cx="476402" cy="476402"/>
          </a:xfrm>
          <a:prstGeom prst="ellipse">
            <a:avLst/>
          </a:prstGeom>
          <a:solidFill>
            <a:srgbClr val="00D4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9" name="Image 7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5982005" y="2041855"/>
            <a:ext cx="228600" cy="228600"/>
          </a:xfrm>
          <a:prstGeom prst="rect">
            <a:avLst/>
          </a:prstGeom>
        </p:spPr>
      </p:pic>
      <p:sp>
        <p:nvSpPr>
          <p:cNvPr id="30" name="Shape 20"/>
          <p:cNvSpPr/>
          <p:nvPr/>
        </p:nvSpPr>
        <p:spPr>
          <a:xfrm>
            <a:off x="6191402" y="1870862"/>
            <a:ext cx="190195" cy="190195"/>
          </a:xfrm>
          <a:prstGeom prst="ellipse">
            <a:avLst/>
          </a:prstGeom>
          <a:solidFill>
            <a:srgbClr val="00D4FF"/>
          </a:solidFill>
          <a:ln w="254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1" name="Image 8" descr="preencoded.png"/>
          <p:cNvPicPr>
            <a:picLocks noChangeAspect="1"/>
          </p:cNvPicPr>
          <p:nvPr/>
        </p:nvPicPr>
        <p:blipFill>
          <a:blip r:embed="rId7"/>
          <a:srcRect l="-2571" r="-2571"/>
          <a:stretch/>
        </p:blipFill>
        <p:spPr>
          <a:xfrm>
            <a:off x="6234379" y="1909267"/>
            <a:ext cx="105156" cy="114300"/>
          </a:xfrm>
          <a:prstGeom prst="rect">
            <a:avLst/>
          </a:prstGeom>
        </p:spPr>
      </p:pic>
      <p:sp>
        <p:nvSpPr>
          <p:cNvPr id="32" name="Text 21"/>
          <p:cNvSpPr txBox="1"/>
          <p:nvPr/>
        </p:nvSpPr>
        <p:spPr>
          <a:xfrm>
            <a:off x="5405018" y="2537460"/>
            <a:ext cx="138805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Web 대시보드 개발</a:t>
            </a:r>
            <a:endParaRPr lang="en-US" sz="1100" dirty="0"/>
          </a:p>
        </p:txBody>
      </p:sp>
      <p:sp>
        <p:nvSpPr>
          <p:cNvPr id="33" name="Text 22"/>
          <p:cNvSpPr txBox="1"/>
          <p:nvPr/>
        </p:nvSpPr>
        <p:spPr>
          <a:xfrm>
            <a:off x="5493715" y="2799893"/>
            <a:ext cx="1209751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EC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Vue.js / React 활용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B0BEC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실시간 데이터 시각화 및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B0BEC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모니터링 UI 구축 능력</a:t>
            </a:r>
            <a:endParaRPr lang="en-US" sz="900" dirty="0"/>
          </a:p>
        </p:txBody>
      </p:sp>
      <p:sp>
        <p:nvSpPr>
          <p:cNvPr id="34" name="Shape 23"/>
          <p:cNvSpPr/>
          <p:nvPr/>
        </p:nvSpPr>
        <p:spPr>
          <a:xfrm>
            <a:off x="7248449" y="1718158"/>
            <a:ext cx="2018995" cy="1762049"/>
          </a:xfrm>
          <a:prstGeom prst="roundRect">
            <a:avLst>
              <a:gd name="adj" fmla="val 5610"/>
            </a:avLst>
          </a:prstGeom>
          <a:solidFill>
            <a:srgbClr val="1B2A4A"/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blurRad="139700" dist="50800" dir="162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24"/>
          <p:cNvSpPr/>
          <p:nvPr/>
        </p:nvSpPr>
        <p:spPr>
          <a:xfrm>
            <a:off x="8020202" y="1918411"/>
            <a:ext cx="476402" cy="476402"/>
          </a:xfrm>
          <a:prstGeom prst="ellipse">
            <a:avLst/>
          </a:prstGeom>
          <a:solidFill>
            <a:srgbClr val="00D4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6" name="Image 9" descr="preencoded.png"/>
          <p:cNvPicPr>
            <a:picLocks noChangeAspect="1"/>
          </p:cNvPicPr>
          <p:nvPr/>
        </p:nvPicPr>
        <p:blipFill>
          <a:blip r:embed="rId10"/>
          <a:srcRect l="-80" r="-80"/>
          <a:stretch/>
        </p:blipFill>
        <p:spPr>
          <a:xfrm>
            <a:off x="8115300" y="2041855"/>
            <a:ext cx="286207" cy="228600"/>
          </a:xfrm>
          <a:prstGeom prst="rect">
            <a:avLst/>
          </a:prstGeom>
        </p:spPr>
      </p:pic>
      <p:sp>
        <p:nvSpPr>
          <p:cNvPr id="37" name="Shape 25"/>
          <p:cNvSpPr/>
          <p:nvPr/>
        </p:nvSpPr>
        <p:spPr>
          <a:xfrm>
            <a:off x="8353044" y="1870862"/>
            <a:ext cx="190195" cy="190195"/>
          </a:xfrm>
          <a:prstGeom prst="ellipse">
            <a:avLst/>
          </a:prstGeom>
          <a:solidFill>
            <a:srgbClr val="00D4FF"/>
          </a:solidFill>
          <a:ln w="254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8" name="Image 10" descr="preencoded.png"/>
          <p:cNvPicPr>
            <a:picLocks noChangeAspect="1"/>
          </p:cNvPicPr>
          <p:nvPr/>
        </p:nvPicPr>
        <p:blipFill>
          <a:blip r:embed="rId7"/>
          <a:srcRect l="-2571" r="-2571"/>
          <a:stretch/>
        </p:blipFill>
        <p:spPr>
          <a:xfrm>
            <a:off x="8396021" y="1909267"/>
            <a:ext cx="105156" cy="114300"/>
          </a:xfrm>
          <a:prstGeom prst="rect">
            <a:avLst/>
          </a:prstGeom>
        </p:spPr>
      </p:pic>
      <p:sp>
        <p:nvSpPr>
          <p:cNvPr id="39" name="Text 26"/>
          <p:cNvSpPr txBox="1"/>
          <p:nvPr/>
        </p:nvSpPr>
        <p:spPr>
          <a:xfrm>
            <a:off x="7495337" y="2537460"/>
            <a:ext cx="153070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Multi-tenancy 설계</a:t>
            </a:r>
            <a:endParaRPr lang="en-US" sz="1100" dirty="0"/>
          </a:p>
        </p:txBody>
      </p:sp>
      <p:sp>
        <p:nvSpPr>
          <p:cNvPr id="40" name="Text 27"/>
          <p:cNvSpPr txBox="1"/>
          <p:nvPr/>
        </p:nvSpPr>
        <p:spPr>
          <a:xfrm>
            <a:off x="7568489" y="2799893"/>
            <a:ext cx="1381658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EC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Domain-Project 계층 구조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B0BEC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데이터베이스 스키마 설계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B0BEC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및 권한 분리 모델링</a:t>
            </a:r>
            <a:endParaRPr lang="en-US" sz="900" dirty="0"/>
          </a:p>
        </p:txBody>
      </p:sp>
      <p:sp>
        <p:nvSpPr>
          <p:cNvPr id="41" name="Shape 28"/>
          <p:cNvSpPr/>
          <p:nvPr/>
        </p:nvSpPr>
        <p:spPr>
          <a:xfrm>
            <a:off x="9411005" y="1718158"/>
            <a:ext cx="2018995" cy="1762049"/>
          </a:xfrm>
          <a:prstGeom prst="roundRect">
            <a:avLst>
              <a:gd name="adj" fmla="val 5610"/>
            </a:avLst>
          </a:prstGeom>
          <a:solidFill>
            <a:srgbClr val="1B2A4A"/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blurRad="139700" dist="50800" dir="162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29"/>
          <p:cNvSpPr/>
          <p:nvPr/>
        </p:nvSpPr>
        <p:spPr>
          <a:xfrm>
            <a:off x="10181844" y="1918411"/>
            <a:ext cx="476402" cy="476402"/>
          </a:xfrm>
          <a:prstGeom prst="ellipse">
            <a:avLst/>
          </a:prstGeom>
          <a:solidFill>
            <a:srgbClr val="00D4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3" name="Image 11" descr="preencoded.png"/>
          <p:cNvPicPr>
            <a:picLocks noChangeAspect="1"/>
          </p:cNvPicPr>
          <p:nvPr/>
        </p:nvPicPr>
        <p:blipFill>
          <a:blip r:embed="rId11"/>
          <a:srcRect l="-57" r="-57"/>
          <a:stretch/>
        </p:blipFill>
        <p:spPr>
          <a:xfrm>
            <a:off x="10319918" y="2041855"/>
            <a:ext cx="200254" cy="228600"/>
          </a:xfrm>
          <a:prstGeom prst="rect">
            <a:avLst/>
          </a:prstGeom>
        </p:spPr>
      </p:pic>
      <p:sp>
        <p:nvSpPr>
          <p:cNvPr id="44" name="Shape 30"/>
          <p:cNvSpPr/>
          <p:nvPr/>
        </p:nvSpPr>
        <p:spPr>
          <a:xfrm>
            <a:off x="10515600" y="1870862"/>
            <a:ext cx="190195" cy="190195"/>
          </a:xfrm>
          <a:prstGeom prst="ellipse">
            <a:avLst/>
          </a:prstGeom>
          <a:solidFill>
            <a:srgbClr val="00D4FF"/>
          </a:solidFill>
          <a:ln w="254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5" name="Image 12" descr="preencoded.png"/>
          <p:cNvPicPr>
            <a:picLocks noChangeAspect="1"/>
          </p:cNvPicPr>
          <p:nvPr/>
        </p:nvPicPr>
        <p:blipFill>
          <a:blip r:embed="rId7"/>
          <a:srcRect l="-2571" r="-2571"/>
          <a:stretch/>
        </p:blipFill>
        <p:spPr>
          <a:xfrm>
            <a:off x="10558577" y="1909267"/>
            <a:ext cx="105156" cy="114300"/>
          </a:xfrm>
          <a:prstGeom prst="rect">
            <a:avLst/>
          </a:prstGeom>
        </p:spPr>
      </p:pic>
      <p:sp>
        <p:nvSpPr>
          <p:cNvPr id="46" name="Text 31"/>
          <p:cNvSpPr txBox="1"/>
          <p:nvPr/>
        </p:nvSpPr>
        <p:spPr>
          <a:xfrm>
            <a:off x="9720072" y="2537460"/>
            <a:ext cx="140177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이벤트 알림 시스템</a:t>
            </a:r>
            <a:endParaRPr lang="en-US" sz="1100" dirty="0"/>
          </a:p>
        </p:txBody>
      </p:sp>
      <p:sp>
        <p:nvSpPr>
          <p:cNvPr id="47" name="Text 32"/>
          <p:cNvSpPr txBox="1"/>
          <p:nvPr/>
        </p:nvSpPr>
        <p:spPr>
          <a:xfrm>
            <a:off x="9784994" y="2799893"/>
            <a:ext cx="1276502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EC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Celery + Redis 기반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B0BEC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폴링(Polling) 아키텍처로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B0BEC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이벤트 수집 및 알림 구현</a:t>
            </a:r>
            <a:endParaRPr lang="en-US" sz="900" dirty="0"/>
          </a:p>
        </p:txBody>
      </p:sp>
      <p:pic>
        <p:nvPicPr>
          <p:cNvPr id="48" name="Image 13" descr="preencoded.png"/>
          <p:cNvPicPr>
            <a:picLocks noChangeAspect="1"/>
          </p:cNvPicPr>
          <p:nvPr/>
        </p:nvPicPr>
        <p:blipFill>
          <a:blip r:embed="rId12"/>
          <a:srcRect t="-401" b="-401"/>
          <a:stretch/>
        </p:blipFill>
        <p:spPr>
          <a:xfrm>
            <a:off x="1533449" y="4784141"/>
            <a:ext cx="9124798" cy="38405"/>
          </a:xfrm>
          <a:prstGeom prst="rect">
            <a:avLst/>
          </a:prstGeom>
        </p:spPr>
      </p:pic>
      <p:pic>
        <p:nvPicPr>
          <p:cNvPr id="49" name="Image 14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1927555" y="4555541"/>
            <a:ext cx="476402" cy="476402"/>
          </a:xfrm>
          <a:prstGeom prst="rect">
            <a:avLst/>
          </a:prstGeom>
        </p:spPr>
      </p:pic>
      <p:sp>
        <p:nvSpPr>
          <p:cNvPr id="50" name="Text 33"/>
          <p:cNvSpPr/>
          <p:nvPr/>
        </p:nvSpPr>
        <p:spPr>
          <a:xfrm>
            <a:off x="1899209" y="4555541"/>
            <a:ext cx="534010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300" dirty="0"/>
          </a:p>
        </p:txBody>
      </p:sp>
      <p:sp>
        <p:nvSpPr>
          <p:cNvPr id="51" name="Shape 34"/>
          <p:cNvSpPr/>
          <p:nvPr/>
        </p:nvSpPr>
        <p:spPr>
          <a:xfrm>
            <a:off x="1057046" y="5174590"/>
            <a:ext cx="2219249" cy="1190549"/>
          </a:xfrm>
          <a:prstGeom prst="roundRect">
            <a:avLst>
              <a:gd name="adj" fmla="val 9831"/>
            </a:avLst>
          </a:prstGeom>
          <a:solidFill>
            <a:srgbClr val="1B2A4A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Text 35"/>
          <p:cNvSpPr txBox="1"/>
          <p:nvPr/>
        </p:nvSpPr>
        <p:spPr>
          <a:xfrm>
            <a:off x="1171346" y="5327294"/>
            <a:ext cx="199156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API 분석 &amp; 설계</a:t>
            </a:r>
            <a:endParaRPr lang="en-US" sz="1100" dirty="0"/>
          </a:p>
        </p:txBody>
      </p:sp>
      <p:sp>
        <p:nvSpPr>
          <p:cNvPr id="53" name="Text 36"/>
          <p:cNvSpPr txBox="1"/>
          <p:nvPr/>
        </p:nvSpPr>
        <p:spPr>
          <a:xfrm>
            <a:off x="1171346" y="5618074"/>
            <a:ext cx="1991563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E0E0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API 문서/Swagger 확보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0E0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인증 메커니즘 PoC 검증</a:t>
            </a:r>
            <a:endParaRPr lang="en-US" sz="900" dirty="0"/>
          </a:p>
        </p:txBody>
      </p:sp>
      <p:sp>
        <p:nvSpPr>
          <p:cNvPr id="54" name="Shape 37"/>
          <p:cNvSpPr/>
          <p:nvPr/>
        </p:nvSpPr>
        <p:spPr>
          <a:xfrm>
            <a:off x="1613916" y="6012180"/>
            <a:ext cx="1104595" cy="200254"/>
          </a:xfrm>
          <a:prstGeom prst="roundRect">
            <a:avLst>
              <a:gd name="adj" fmla="val 173951"/>
            </a:avLst>
          </a:prstGeom>
          <a:solidFill>
            <a:srgbClr val="FF5252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Text 38"/>
          <p:cNvSpPr txBox="1"/>
          <p:nvPr/>
        </p:nvSpPr>
        <p:spPr>
          <a:xfrm>
            <a:off x="1543507" y="6012180"/>
            <a:ext cx="1245413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00" tIns="25400" rIns="63500" bIns="254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⚠️ 핵심 리스크 포인트</a:t>
            </a:r>
            <a:endParaRPr lang="en-US" sz="800" dirty="0"/>
          </a:p>
        </p:txBody>
      </p:sp>
      <p:pic>
        <p:nvPicPr>
          <p:cNvPr id="56" name="Image 15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4547311" y="4555541"/>
            <a:ext cx="476402" cy="476402"/>
          </a:xfrm>
          <a:prstGeom prst="rect">
            <a:avLst/>
          </a:prstGeom>
        </p:spPr>
      </p:pic>
      <p:sp>
        <p:nvSpPr>
          <p:cNvPr id="57" name="Text 39"/>
          <p:cNvSpPr/>
          <p:nvPr/>
        </p:nvSpPr>
        <p:spPr>
          <a:xfrm>
            <a:off x="4518965" y="4555541"/>
            <a:ext cx="534010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300" dirty="0"/>
          </a:p>
        </p:txBody>
      </p:sp>
      <p:sp>
        <p:nvSpPr>
          <p:cNvPr id="58" name="Shape 40"/>
          <p:cNvSpPr/>
          <p:nvPr/>
        </p:nvSpPr>
        <p:spPr>
          <a:xfrm>
            <a:off x="3677717" y="5174590"/>
            <a:ext cx="2219249" cy="942746"/>
          </a:xfrm>
          <a:prstGeom prst="roundRect">
            <a:avLst>
              <a:gd name="adj" fmla="val 15676"/>
            </a:avLst>
          </a:prstGeom>
          <a:solidFill>
            <a:srgbClr val="1B2A4A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Text 41"/>
          <p:cNvSpPr txBox="1"/>
          <p:nvPr/>
        </p:nvSpPr>
        <p:spPr>
          <a:xfrm>
            <a:off x="3753612" y="5327294"/>
            <a:ext cx="206837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D4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인증 &amp; 멀티테넌시</a:t>
            </a:r>
            <a:endParaRPr lang="en-US" sz="1100" dirty="0"/>
          </a:p>
        </p:txBody>
      </p:sp>
      <p:sp>
        <p:nvSpPr>
          <p:cNvPr id="60" name="Text 42"/>
          <p:cNvSpPr txBox="1"/>
          <p:nvPr/>
        </p:nvSpPr>
        <p:spPr>
          <a:xfrm>
            <a:off x="3792017" y="5618074"/>
            <a:ext cx="1991563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E0E0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Keystone 토큰 연동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0E0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전환/세션 관리</a:t>
            </a:r>
            <a:endParaRPr lang="en-US" sz="900" dirty="0"/>
          </a:p>
        </p:txBody>
      </p:sp>
      <p:pic>
        <p:nvPicPr>
          <p:cNvPr id="61" name="Image 16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7167982" y="4555541"/>
            <a:ext cx="476402" cy="476402"/>
          </a:xfrm>
          <a:prstGeom prst="rect">
            <a:avLst/>
          </a:prstGeom>
        </p:spPr>
      </p:pic>
      <p:sp>
        <p:nvSpPr>
          <p:cNvPr id="62" name="Text 43"/>
          <p:cNvSpPr/>
          <p:nvPr/>
        </p:nvSpPr>
        <p:spPr>
          <a:xfrm>
            <a:off x="7139635" y="4555541"/>
            <a:ext cx="534010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300" dirty="0"/>
          </a:p>
        </p:txBody>
      </p:sp>
      <p:sp>
        <p:nvSpPr>
          <p:cNvPr id="63" name="Shape 44"/>
          <p:cNvSpPr/>
          <p:nvPr/>
        </p:nvSpPr>
        <p:spPr>
          <a:xfrm>
            <a:off x="6297473" y="5174590"/>
            <a:ext cx="2219249" cy="942746"/>
          </a:xfrm>
          <a:prstGeom prst="roundRect">
            <a:avLst>
              <a:gd name="adj" fmla="val 15676"/>
            </a:avLst>
          </a:prstGeom>
          <a:solidFill>
            <a:srgbClr val="1B2A4A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4" name="Text 45"/>
          <p:cNvSpPr txBox="1"/>
          <p:nvPr/>
        </p:nvSpPr>
        <p:spPr>
          <a:xfrm>
            <a:off x="6373368" y="5327294"/>
            <a:ext cx="206837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D4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리소스 &amp; 모니터링</a:t>
            </a:r>
            <a:endParaRPr lang="en-US" sz="1100" dirty="0"/>
          </a:p>
        </p:txBody>
      </p:sp>
      <p:sp>
        <p:nvSpPr>
          <p:cNvPr id="65" name="Text 46"/>
          <p:cNvSpPr txBox="1"/>
          <p:nvPr/>
        </p:nvSpPr>
        <p:spPr>
          <a:xfrm>
            <a:off x="6411773" y="5618074"/>
            <a:ext cx="1991563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E0E0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Compute/Storage UI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0E0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이벤트 폴링 및 대시보드</a:t>
            </a:r>
            <a:endParaRPr lang="en-US" sz="900" dirty="0"/>
          </a:p>
        </p:txBody>
      </p:sp>
      <p:pic>
        <p:nvPicPr>
          <p:cNvPr id="66" name="Image 17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9787738" y="4555541"/>
            <a:ext cx="476402" cy="476402"/>
          </a:xfrm>
          <a:prstGeom prst="rect">
            <a:avLst/>
          </a:prstGeom>
        </p:spPr>
      </p:pic>
      <p:sp>
        <p:nvSpPr>
          <p:cNvPr id="67" name="Text 47"/>
          <p:cNvSpPr/>
          <p:nvPr/>
        </p:nvSpPr>
        <p:spPr>
          <a:xfrm>
            <a:off x="9759391" y="4555541"/>
            <a:ext cx="534010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300" dirty="0"/>
          </a:p>
        </p:txBody>
      </p:sp>
      <p:sp>
        <p:nvSpPr>
          <p:cNvPr id="68" name="Shape 48"/>
          <p:cNvSpPr/>
          <p:nvPr/>
        </p:nvSpPr>
        <p:spPr>
          <a:xfrm>
            <a:off x="8918143" y="5174590"/>
            <a:ext cx="2219249" cy="942746"/>
          </a:xfrm>
          <a:prstGeom prst="roundRect">
            <a:avLst>
              <a:gd name="adj" fmla="val 15676"/>
            </a:avLst>
          </a:prstGeom>
          <a:solidFill>
            <a:srgbClr val="1B2A4A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9" name="Text 49"/>
          <p:cNvSpPr txBox="1"/>
          <p:nvPr/>
        </p:nvSpPr>
        <p:spPr>
          <a:xfrm>
            <a:off x="8994038" y="5327294"/>
            <a:ext cx="206837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D4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운영 안정화</a:t>
            </a:r>
            <a:endParaRPr lang="en-US" sz="1100" dirty="0"/>
          </a:p>
        </p:txBody>
      </p:sp>
      <p:sp>
        <p:nvSpPr>
          <p:cNvPr id="70" name="Text 50"/>
          <p:cNvSpPr txBox="1"/>
          <p:nvPr/>
        </p:nvSpPr>
        <p:spPr>
          <a:xfrm>
            <a:off x="9032443" y="5618074"/>
            <a:ext cx="1991563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E0E0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보안 점검, 성능 튜닝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0E0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 매뉴얼화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571500" y="381305"/>
            <a:ext cx="111639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20" dirty="0">
                <a:solidFill>
                  <a:srgbClr val="00D4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DIFFICULTY &amp; STRATEGY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71500" y="657454"/>
            <a:ext cx="11354105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난이도 분석 &amp; 전략의 분기점</a:t>
            </a:r>
            <a:endParaRPr lang="en-US" sz="3100" dirty="0"/>
          </a:p>
        </p:txBody>
      </p:sp>
      <p:sp>
        <p:nvSpPr>
          <p:cNvPr id="58" name="Shape 33">
            <a:extLst>
              <a:ext uri="{FF2B5EF4-FFF2-40B4-BE49-F238E27FC236}">
                <a16:creationId xmlns:a16="http://schemas.microsoft.com/office/drawing/2014/main" id="{72F4CACF-757F-EFBA-0D39-547271A31049}"/>
              </a:ext>
            </a:extLst>
          </p:cNvPr>
          <p:cNvSpPr/>
          <p:nvPr/>
        </p:nvSpPr>
        <p:spPr>
          <a:xfrm>
            <a:off x="381305" y="5629046"/>
            <a:ext cx="11430000" cy="981151"/>
          </a:xfrm>
          <a:prstGeom prst="roundRect">
            <a:avLst>
              <a:gd name="adj" fmla="val 21716"/>
            </a:avLst>
          </a:prstGeom>
          <a:solidFill>
            <a:srgbClr val="F59E0B">
              <a:alpha val="15000"/>
            </a:srgbClr>
          </a:solidFill>
          <a:ln w="25400">
            <a:solidFill>
              <a:srgbClr val="F59E0B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Shape 34">
            <a:extLst>
              <a:ext uri="{FF2B5EF4-FFF2-40B4-BE49-F238E27FC236}">
                <a16:creationId xmlns:a16="http://schemas.microsoft.com/office/drawing/2014/main" id="{18BDC6D5-66DA-17F0-A0BD-630F2FFFC16C}"/>
              </a:ext>
            </a:extLst>
          </p:cNvPr>
          <p:cNvSpPr/>
          <p:nvPr/>
        </p:nvSpPr>
        <p:spPr>
          <a:xfrm>
            <a:off x="381305" y="5629046"/>
            <a:ext cx="57607" cy="942746"/>
          </a:xfrm>
          <a:prstGeom prst="rect">
            <a:avLst/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0" name="Image 18" descr="preencoded.png">
            <a:extLst>
              <a:ext uri="{FF2B5EF4-FFF2-40B4-BE49-F238E27FC236}">
                <a16:creationId xmlns:a16="http://schemas.microsoft.com/office/drawing/2014/main" id="{3C32D555-650A-73F8-C103-9638ED10D98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107" r="-107"/>
          <a:stretch/>
        </p:blipFill>
        <p:spPr>
          <a:xfrm>
            <a:off x="590702" y="5967374"/>
            <a:ext cx="267005" cy="304495"/>
          </a:xfrm>
          <a:prstGeom prst="rect">
            <a:avLst/>
          </a:prstGeom>
        </p:spPr>
      </p:pic>
      <p:sp>
        <p:nvSpPr>
          <p:cNvPr id="61" name="Text 35">
            <a:extLst>
              <a:ext uri="{FF2B5EF4-FFF2-40B4-BE49-F238E27FC236}">
                <a16:creationId xmlns:a16="http://schemas.microsoft.com/office/drawing/2014/main" id="{44BD9346-F709-6A9E-D2DF-E860FC3CB1B3}"/>
              </a:ext>
            </a:extLst>
          </p:cNvPr>
          <p:cNvSpPr txBox="1"/>
          <p:nvPr/>
        </p:nvSpPr>
        <p:spPr>
          <a:xfrm>
            <a:off x="1095451" y="5838444"/>
            <a:ext cx="1062075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75" dirty="0">
                <a:solidFill>
                  <a:srgbClr val="FBBF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Key Strategic Question</a:t>
            </a:r>
            <a:endParaRPr lang="en-US" sz="1000" dirty="0"/>
          </a:p>
        </p:txBody>
      </p:sp>
      <p:sp>
        <p:nvSpPr>
          <p:cNvPr id="62" name="Text 36">
            <a:extLst>
              <a:ext uri="{FF2B5EF4-FFF2-40B4-BE49-F238E27FC236}">
                <a16:creationId xmlns:a16="http://schemas.microsoft.com/office/drawing/2014/main" id="{455CFEE6-9CA7-7E07-32CF-2CE72E1DF492}"/>
              </a:ext>
            </a:extLst>
          </p:cNvPr>
          <p:cNvSpPr txBox="1"/>
          <p:nvPr/>
        </p:nvSpPr>
        <p:spPr>
          <a:xfrm>
            <a:off x="1095451" y="6086246"/>
            <a:ext cx="10620756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"Zadara 본사의 </a:t>
            </a:r>
            <a:r>
              <a:rPr lang="en-US" sz="1600" b="1" u="sng" dirty="0">
                <a:solidFill>
                  <a:srgbClr val="FBBF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CSAP 인증 협조 여부</a:t>
            </a: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 전체 전략의 분기점이 됩니다." </a:t>
            </a:r>
            <a:endParaRPr lang="en-US" sz="1600" dirty="0"/>
          </a:p>
        </p:txBody>
      </p:sp>
      <p:sp>
        <p:nvSpPr>
          <p:cNvPr id="63" name="Shape 2">
            <a:extLst>
              <a:ext uri="{FF2B5EF4-FFF2-40B4-BE49-F238E27FC236}">
                <a16:creationId xmlns:a16="http://schemas.microsoft.com/office/drawing/2014/main" id="{5E92905A-40FC-31D7-0F41-73A90B3EF52F}"/>
              </a:ext>
            </a:extLst>
          </p:cNvPr>
          <p:cNvSpPr/>
          <p:nvPr/>
        </p:nvSpPr>
        <p:spPr>
          <a:xfrm>
            <a:off x="381305" y="1038758"/>
            <a:ext cx="11430000" cy="1920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4" name="Text 5">
            <a:extLst>
              <a:ext uri="{FF2B5EF4-FFF2-40B4-BE49-F238E27FC236}">
                <a16:creationId xmlns:a16="http://schemas.microsoft.com/office/drawing/2014/main" id="{4BB9D9D5-D699-BCB3-989C-523FC2D2E98C}"/>
              </a:ext>
            </a:extLst>
          </p:cNvPr>
          <p:cNvSpPr txBox="1"/>
          <p:nvPr/>
        </p:nvSpPr>
        <p:spPr>
          <a:xfrm>
            <a:off x="286207" y="1295705"/>
            <a:ext cx="116211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단계별 기술 난이도를 분석하고, 프로젝트 성공을 위한 </a:t>
            </a:r>
            <a:r>
              <a:rPr lang="en-US" sz="1500" b="1" dirty="0">
                <a:solidFill>
                  <a:srgbClr val="00D4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전략 분기점</a:t>
            </a:r>
            <a:r>
              <a:rPr lang="en-US" sz="15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 도출했습니다. </a:t>
            </a:r>
            <a:endParaRPr lang="en-US" sz="1500" dirty="0"/>
          </a:p>
        </p:txBody>
      </p:sp>
      <p:pic>
        <p:nvPicPr>
          <p:cNvPr id="65" name="Image 0" descr="preencoded.png">
            <a:extLst>
              <a:ext uri="{FF2B5EF4-FFF2-40B4-BE49-F238E27FC236}">
                <a16:creationId xmlns:a16="http://schemas.microsoft.com/office/drawing/2014/main" id="{2C292310-9AF4-54F4-1788-4958EAC8FAF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4" r="-4"/>
          <a:stretch/>
        </p:blipFill>
        <p:spPr>
          <a:xfrm>
            <a:off x="381305" y="1819656"/>
            <a:ext cx="3651199" cy="3619195"/>
          </a:xfrm>
          <a:prstGeom prst="rect">
            <a:avLst/>
          </a:prstGeom>
        </p:spPr>
      </p:pic>
      <p:pic>
        <p:nvPicPr>
          <p:cNvPr id="66" name="Image 1" descr="preencoded.png">
            <a:extLst>
              <a:ext uri="{FF2B5EF4-FFF2-40B4-BE49-F238E27FC236}">
                <a16:creationId xmlns:a16="http://schemas.microsoft.com/office/drawing/2014/main" id="{AB9C5B4F-AA75-1AC2-C14B-2D12F7151A9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873606" y="2115007"/>
            <a:ext cx="666598" cy="666598"/>
          </a:xfrm>
          <a:prstGeom prst="rect">
            <a:avLst/>
          </a:prstGeom>
        </p:spPr>
      </p:pic>
      <p:pic>
        <p:nvPicPr>
          <p:cNvPr id="67" name="Image 2" descr="preencoded.png">
            <a:extLst>
              <a:ext uri="{FF2B5EF4-FFF2-40B4-BE49-F238E27FC236}">
                <a16:creationId xmlns:a16="http://schemas.microsoft.com/office/drawing/2014/main" id="{F1E2CCF8-F219-ACAD-52A3-356DE11AD86A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-50" r="-50"/>
          <a:stretch/>
        </p:blipFill>
        <p:spPr>
          <a:xfrm>
            <a:off x="2035454" y="2295144"/>
            <a:ext cx="342900" cy="304495"/>
          </a:xfrm>
          <a:prstGeom prst="rect">
            <a:avLst/>
          </a:prstGeom>
        </p:spPr>
      </p:pic>
      <p:sp>
        <p:nvSpPr>
          <p:cNvPr id="68" name="Text 6">
            <a:extLst>
              <a:ext uri="{FF2B5EF4-FFF2-40B4-BE49-F238E27FC236}">
                <a16:creationId xmlns:a16="http://schemas.microsoft.com/office/drawing/2014/main" id="{B3F5F6E1-D460-72CA-98E7-AE3ABB8D6D54}"/>
              </a:ext>
            </a:extLst>
          </p:cNvPr>
          <p:cNvSpPr txBox="1"/>
          <p:nvPr/>
        </p:nvSpPr>
        <p:spPr>
          <a:xfrm>
            <a:off x="1421892" y="2924251"/>
            <a:ext cx="1576426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-37" dirty="0">
                <a:solidFill>
                  <a:srgbClr val="6EE7B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웹 포털 UI 구현</a:t>
            </a:r>
            <a:endParaRPr lang="en-US" sz="1600" dirty="0"/>
          </a:p>
        </p:txBody>
      </p:sp>
      <p:sp>
        <p:nvSpPr>
          <p:cNvPr id="69" name="Shape 7">
            <a:extLst>
              <a:ext uri="{FF2B5EF4-FFF2-40B4-BE49-F238E27FC236}">
                <a16:creationId xmlns:a16="http://schemas.microsoft.com/office/drawing/2014/main" id="{9A603FDE-2720-F4E9-B276-DF080DE9A199}"/>
              </a:ext>
            </a:extLst>
          </p:cNvPr>
          <p:cNvSpPr/>
          <p:nvPr/>
        </p:nvSpPr>
        <p:spPr>
          <a:xfrm>
            <a:off x="1444752" y="3333902"/>
            <a:ext cx="1533449" cy="295351"/>
          </a:xfrm>
          <a:prstGeom prst="roundRect">
            <a:avLst>
              <a:gd name="adj" fmla="val 309598"/>
            </a:avLst>
          </a:prstGeom>
          <a:solidFill>
            <a:srgbClr val="10B981">
              <a:alpha val="20000"/>
            </a:srgbClr>
          </a:solidFill>
          <a:ln w="12700">
            <a:solidFill>
              <a:srgbClr val="10B981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0" name="Text 8">
            <a:extLst>
              <a:ext uri="{FF2B5EF4-FFF2-40B4-BE49-F238E27FC236}">
                <a16:creationId xmlns:a16="http://schemas.microsoft.com/office/drawing/2014/main" id="{FF002CAA-2EFD-8D06-099B-82946C44532D}"/>
              </a:ext>
            </a:extLst>
          </p:cNvPr>
          <p:cNvSpPr/>
          <p:nvPr/>
        </p:nvSpPr>
        <p:spPr>
          <a:xfrm>
            <a:off x="1413662" y="3333902"/>
            <a:ext cx="1595628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EE7B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난이도: 쉬움 (1-3개월)</a:t>
            </a:r>
            <a:endParaRPr lang="en-US" sz="1000" dirty="0"/>
          </a:p>
        </p:txBody>
      </p:sp>
      <p:sp>
        <p:nvSpPr>
          <p:cNvPr id="71" name="Shape 9">
            <a:extLst>
              <a:ext uri="{FF2B5EF4-FFF2-40B4-BE49-F238E27FC236}">
                <a16:creationId xmlns:a16="http://schemas.microsoft.com/office/drawing/2014/main" id="{C720C278-746F-0D20-C5BD-A4EA6F70F1D8}"/>
              </a:ext>
            </a:extLst>
          </p:cNvPr>
          <p:cNvSpPr/>
          <p:nvPr/>
        </p:nvSpPr>
        <p:spPr>
          <a:xfrm>
            <a:off x="629107" y="3771900"/>
            <a:ext cx="3161995" cy="381305"/>
          </a:xfrm>
          <a:prstGeom prst="roundRect">
            <a:avLst>
              <a:gd name="adj" fmla="val 95923"/>
            </a:avLst>
          </a:prstGeom>
          <a:solidFill>
            <a:srgbClr val="000000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72" name="Image 3" descr="preencoded.png">
            <a:extLst>
              <a:ext uri="{FF2B5EF4-FFF2-40B4-BE49-F238E27FC236}">
                <a16:creationId xmlns:a16="http://schemas.microsoft.com/office/drawing/2014/main" id="{FE6B6FB9-CA67-920B-91C3-B59E02210F64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-1359" b="-1359"/>
          <a:stretch/>
        </p:blipFill>
        <p:spPr>
          <a:xfrm>
            <a:off x="743407" y="3905402"/>
            <a:ext cx="105156" cy="123444"/>
          </a:xfrm>
          <a:prstGeom prst="rect">
            <a:avLst/>
          </a:prstGeom>
        </p:spPr>
      </p:pic>
      <p:sp>
        <p:nvSpPr>
          <p:cNvPr id="73" name="Text 10">
            <a:extLst>
              <a:ext uri="{FF2B5EF4-FFF2-40B4-BE49-F238E27FC236}">
                <a16:creationId xmlns:a16="http://schemas.microsoft.com/office/drawing/2014/main" id="{0422D755-5A7D-FF43-80A8-C385DB02E351}"/>
              </a:ext>
            </a:extLst>
          </p:cNvPr>
          <p:cNvSpPr txBox="1"/>
          <p:nvPr/>
        </p:nvSpPr>
        <p:spPr>
          <a:xfrm>
            <a:off x="923544" y="3866998"/>
            <a:ext cx="257312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Vue.js SPA 아키텍처 + REST API 연동</a:t>
            </a:r>
            <a:endParaRPr lang="en-US" sz="1000" dirty="0"/>
          </a:p>
        </p:txBody>
      </p:sp>
      <p:sp>
        <p:nvSpPr>
          <p:cNvPr id="74" name="Shape 11">
            <a:extLst>
              <a:ext uri="{FF2B5EF4-FFF2-40B4-BE49-F238E27FC236}">
                <a16:creationId xmlns:a16="http://schemas.microsoft.com/office/drawing/2014/main" id="{D2EB546D-E95E-FA8D-D979-DF3A898F5C37}"/>
              </a:ext>
            </a:extLst>
          </p:cNvPr>
          <p:cNvSpPr/>
          <p:nvPr/>
        </p:nvSpPr>
        <p:spPr>
          <a:xfrm>
            <a:off x="629107" y="4244645"/>
            <a:ext cx="3161995" cy="381305"/>
          </a:xfrm>
          <a:prstGeom prst="roundRect">
            <a:avLst>
              <a:gd name="adj" fmla="val 95923"/>
            </a:avLst>
          </a:prstGeom>
          <a:solidFill>
            <a:srgbClr val="000000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75" name="Image 4" descr="preencoded.png">
            <a:extLst>
              <a:ext uri="{FF2B5EF4-FFF2-40B4-BE49-F238E27FC236}">
                <a16:creationId xmlns:a16="http://schemas.microsoft.com/office/drawing/2014/main" id="{BD7BD10C-BCFC-8993-BB24-68937A1C8A2E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-1359" b="-1359"/>
          <a:stretch/>
        </p:blipFill>
        <p:spPr>
          <a:xfrm>
            <a:off x="743407" y="4377233"/>
            <a:ext cx="105156" cy="123444"/>
          </a:xfrm>
          <a:prstGeom prst="rect">
            <a:avLst/>
          </a:prstGeom>
        </p:spPr>
      </p:pic>
      <p:sp>
        <p:nvSpPr>
          <p:cNvPr id="76" name="Text 12">
            <a:extLst>
              <a:ext uri="{FF2B5EF4-FFF2-40B4-BE49-F238E27FC236}">
                <a16:creationId xmlns:a16="http://schemas.microsoft.com/office/drawing/2014/main" id="{E7684B09-545E-93B6-5D0F-9CCABA4064C2}"/>
              </a:ext>
            </a:extLst>
          </p:cNvPr>
          <p:cNvSpPr txBox="1"/>
          <p:nvPr/>
        </p:nvSpPr>
        <p:spPr>
          <a:xfrm>
            <a:off x="923544" y="4339742"/>
            <a:ext cx="291327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Events 페이지 </a:t>
            </a: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당일 데모 구현 완료</a:t>
            </a:r>
            <a:r>
              <a:rPr lang="en-US" sz="10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(실증됨)</a:t>
            </a:r>
            <a:endParaRPr lang="en-US" sz="1000" dirty="0"/>
          </a:p>
        </p:txBody>
      </p:sp>
      <p:sp>
        <p:nvSpPr>
          <p:cNvPr id="77" name="Shape 13">
            <a:extLst>
              <a:ext uri="{FF2B5EF4-FFF2-40B4-BE49-F238E27FC236}">
                <a16:creationId xmlns:a16="http://schemas.microsoft.com/office/drawing/2014/main" id="{F512E32B-20F9-C552-7E79-0C15B7BCDB31}"/>
              </a:ext>
            </a:extLst>
          </p:cNvPr>
          <p:cNvSpPr/>
          <p:nvPr/>
        </p:nvSpPr>
        <p:spPr>
          <a:xfrm>
            <a:off x="629107" y="4716475"/>
            <a:ext cx="3161995" cy="381305"/>
          </a:xfrm>
          <a:prstGeom prst="roundRect">
            <a:avLst>
              <a:gd name="adj" fmla="val 95923"/>
            </a:avLst>
          </a:prstGeom>
          <a:solidFill>
            <a:srgbClr val="000000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78" name="Image 5" descr="preencoded.png">
            <a:extLst>
              <a:ext uri="{FF2B5EF4-FFF2-40B4-BE49-F238E27FC236}">
                <a16:creationId xmlns:a16="http://schemas.microsoft.com/office/drawing/2014/main" id="{DFD74058-8DE7-8F6E-0A7C-65C9DFB3E2A3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-1359" b="-1359"/>
          <a:stretch/>
        </p:blipFill>
        <p:spPr>
          <a:xfrm>
            <a:off x="743407" y="4849978"/>
            <a:ext cx="105156" cy="123444"/>
          </a:xfrm>
          <a:prstGeom prst="rect">
            <a:avLst/>
          </a:prstGeom>
        </p:spPr>
      </p:pic>
      <p:sp>
        <p:nvSpPr>
          <p:cNvPr id="79" name="Text 14">
            <a:extLst>
              <a:ext uri="{FF2B5EF4-FFF2-40B4-BE49-F238E27FC236}">
                <a16:creationId xmlns:a16="http://schemas.microsoft.com/office/drawing/2014/main" id="{C8F6A4FB-4E53-F539-C6B7-157001461EA2}"/>
              </a:ext>
            </a:extLst>
          </p:cNvPr>
          <p:cNvSpPr txBox="1"/>
          <p:nvPr/>
        </p:nvSpPr>
        <p:spPr>
          <a:xfrm>
            <a:off x="923544" y="4811573"/>
            <a:ext cx="323149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기존 오픈소스 컴포넌트 활용으로 개발 기간 단축</a:t>
            </a:r>
            <a:endParaRPr lang="en-US" sz="1000" dirty="0"/>
          </a:p>
        </p:txBody>
      </p:sp>
      <p:pic>
        <p:nvPicPr>
          <p:cNvPr id="80" name="Image 6" descr="preencoded.png">
            <a:extLst>
              <a:ext uri="{FF2B5EF4-FFF2-40B4-BE49-F238E27FC236}">
                <a16:creationId xmlns:a16="http://schemas.microsoft.com/office/drawing/2014/main" id="{E1602BF5-8869-0C01-94F8-D93CF834A691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-2" r="-2"/>
          <a:stretch/>
        </p:blipFill>
        <p:spPr>
          <a:xfrm>
            <a:off x="4270248" y="1819656"/>
            <a:ext cx="3651199" cy="3619195"/>
          </a:xfrm>
          <a:prstGeom prst="rect">
            <a:avLst/>
          </a:prstGeom>
        </p:spPr>
      </p:pic>
      <p:pic>
        <p:nvPicPr>
          <p:cNvPr id="81" name="Image 7" descr="preencoded.png">
            <a:extLst>
              <a:ext uri="{FF2B5EF4-FFF2-40B4-BE49-F238E27FC236}">
                <a16:creationId xmlns:a16="http://schemas.microsoft.com/office/drawing/2014/main" id="{4BF93646-6820-D6F5-8863-03D03102443C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5762549" y="2115007"/>
            <a:ext cx="666598" cy="666598"/>
          </a:xfrm>
          <a:prstGeom prst="rect">
            <a:avLst/>
          </a:prstGeom>
        </p:spPr>
      </p:pic>
      <p:pic>
        <p:nvPicPr>
          <p:cNvPr id="82" name="Image 8" descr="preencoded.png">
            <a:extLst>
              <a:ext uri="{FF2B5EF4-FFF2-40B4-BE49-F238E27FC236}">
                <a16:creationId xmlns:a16="http://schemas.microsoft.com/office/drawing/2014/main" id="{084BB4E7-8F30-445F-E2B9-6958FA4B490F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5943600" y="2295144"/>
            <a:ext cx="304495" cy="304495"/>
          </a:xfrm>
          <a:prstGeom prst="rect">
            <a:avLst/>
          </a:prstGeom>
        </p:spPr>
      </p:pic>
      <p:sp>
        <p:nvSpPr>
          <p:cNvPr id="83" name="Text 15">
            <a:extLst>
              <a:ext uri="{FF2B5EF4-FFF2-40B4-BE49-F238E27FC236}">
                <a16:creationId xmlns:a16="http://schemas.microsoft.com/office/drawing/2014/main" id="{2F44162D-3843-B087-0633-1DE05BE1DBAF}"/>
              </a:ext>
            </a:extLst>
          </p:cNvPr>
          <p:cNvSpPr txBox="1"/>
          <p:nvPr/>
        </p:nvSpPr>
        <p:spPr>
          <a:xfrm>
            <a:off x="4961534" y="2924251"/>
            <a:ext cx="2270455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-37" dirty="0">
                <a:solidFill>
                  <a:srgbClr val="FCD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백엔드 / 인프라 구축</a:t>
            </a:r>
            <a:endParaRPr lang="en-US" sz="1600" dirty="0"/>
          </a:p>
        </p:txBody>
      </p:sp>
      <p:sp>
        <p:nvSpPr>
          <p:cNvPr id="84" name="Shape 16">
            <a:extLst>
              <a:ext uri="{FF2B5EF4-FFF2-40B4-BE49-F238E27FC236}">
                <a16:creationId xmlns:a16="http://schemas.microsoft.com/office/drawing/2014/main" id="{5D745A1C-7EAE-B043-88A0-CF5B2509A7C8}"/>
              </a:ext>
            </a:extLst>
          </p:cNvPr>
          <p:cNvSpPr/>
          <p:nvPr/>
        </p:nvSpPr>
        <p:spPr>
          <a:xfrm>
            <a:off x="5333695" y="3333902"/>
            <a:ext cx="1533449" cy="295351"/>
          </a:xfrm>
          <a:prstGeom prst="roundRect">
            <a:avLst>
              <a:gd name="adj" fmla="val 309598"/>
            </a:avLst>
          </a:prstGeom>
          <a:solidFill>
            <a:srgbClr val="F59E0B">
              <a:alpha val="20000"/>
            </a:srgbClr>
          </a:solidFill>
          <a:ln w="12700">
            <a:solidFill>
              <a:srgbClr val="F59E0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5" name="Text 17">
            <a:extLst>
              <a:ext uri="{FF2B5EF4-FFF2-40B4-BE49-F238E27FC236}">
                <a16:creationId xmlns:a16="http://schemas.microsoft.com/office/drawing/2014/main" id="{E44A5E4A-AF1D-2C36-D5A4-96F115911B39}"/>
              </a:ext>
            </a:extLst>
          </p:cNvPr>
          <p:cNvSpPr/>
          <p:nvPr/>
        </p:nvSpPr>
        <p:spPr>
          <a:xfrm>
            <a:off x="5303520" y="3333902"/>
            <a:ext cx="1595628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CD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난이도: 중간 (2-4개월)</a:t>
            </a:r>
            <a:endParaRPr lang="en-US" sz="1000" dirty="0"/>
          </a:p>
        </p:txBody>
      </p:sp>
      <p:sp>
        <p:nvSpPr>
          <p:cNvPr id="86" name="Shape 18">
            <a:extLst>
              <a:ext uri="{FF2B5EF4-FFF2-40B4-BE49-F238E27FC236}">
                <a16:creationId xmlns:a16="http://schemas.microsoft.com/office/drawing/2014/main" id="{E65210A5-4026-C73E-9F5B-E29263A7DA53}"/>
              </a:ext>
            </a:extLst>
          </p:cNvPr>
          <p:cNvSpPr/>
          <p:nvPr/>
        </p:nvSpPr>
        <p:spPr>
          <a:xfrm>
            <a:off x="4518050" y="3771900"/>
            <a:ext cx="3161995" cy="381305"/>
          </a:xfrm>
          <a:prstGeom prst="roundRect">
            <a:avLst>
              <a:gd name="adj" fmla="val 95923"/>
            </a:avLst>
          </a:prstGeom>
          <a:solidFill>
            <a:srgbClr val="000000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87" name="Image 9" descr="preencoded.png">
            <a:extLst>
              <a:ext uri="{FF2B5EF4-FFF2-40B4-BE49-F238E27FC236}">
                <a16:creationId xmlns:a16="http://schemas.microsoft.com/office/drawing/2014/main" id="{5824B778-2D4B-E927-BBE6-C1FCAEFBB98D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t="-1359" b="-1359"/>
          <a:stretch/>
        </p:blipFill>
        <p:spPr>
          <a:xfrm>
            <a:off x="4632350" y="3905402"/>
            <a:ext cx="105156" cy="123444"/>
          </a:xfrm>
          <a:prstGeom prst="rect">
            <a:avLst/>
          </a:prstGeom>
        </p:spPr>
      </p:pic>
      <p:sp>
        <p:nvSpPr>
          <p:cNvPr id="88" name="Text 19">
            <a:extLst>
              <a:ext uri="{FF2B5EF4-FFF2-40B4-BE49-F238E27FC236}">
                <a16:creationId xmlns:a16="http://schemas.microsoft.com/office/drawing/2014/main" id="{173479A2-0D05-6290-5C79-1B374BE84981}"/>
              </a:ext>
            </a:extLst>
          </p:cNvPr>
          <p:cNvSpPr txBox="1"/>
          <p:nvPr/>
        </p:nvSpPr>
        <p:spPr>
          <a:xfrm>
            <a:off x="4813402" y="3866998"/>
            <a:ext cx="28337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FastAPI + Celery 비동기 폴링 시스템 구축</a:t>
            </a:r>
            <a:endParaRPr lang="en-US" sz="1000" dirty="0"/>
          </a:p>
        </p:txBody>
      </p:sp>
      <p:sp>
        <p:nvSpPr>
          <p:cNvPr id="89" name="Shape 20">
            <a:extLst>
              <a:ext uri="{FF2B5EF4-FFF2-40B4-BE49-F238E27FC236}">
                <a16:creationId xmlns:a16="http://schemas.microsoft.com/office/drawing/2014/main" id="{BCA014AC-5BFC-97A4-C2B2-502480DEF890}"/>
              </a:ext>
            </a:extLst>
          </p:cNvPr>
          <p:cNvSpPr/>
          <p:nvPr/>
        </p:nvSpPr>
        <p:spPr>
          <a:xfrm>
            <a:off x="4518050" y="4244645"/>
            <a:ext cx="3161995" cy="381305"/>
          </a:xfrm>
          <a:prstGeom prst="roundRect">
            <a:avLst>
              <a:gd name="adj" fmla="val 95923"/>
            </a:avLst>
          </a:prstGeom>
          <a:solidFill>
            <a:srgbClr val="000000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90" name="Image 10" descr="preencoded.png">
            <a:extLst>
              <a:ext uri="{FF2B5EF4-FFF2-40B4-BE49-F238E27FC236}">
                <a16:creationId xmlns:a16="http://schemas.microsoft.com/office/drawing/2014/main" id="{3D1A2383-F4FC-B40F-C4CB-A59F46761055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t="-1359" b="-1359"/>
          <a:stretch/>
        </p:blipFill>
        <p:spPr>
          <a:xfrm>
            <a:off x="4632350" y="4377233"/>
            <a:ext cx="105156" cy="123444"/>
          </a:xfrm>
          <a:prstGeom prst="rect">
            <a:avLst/>
          </a:prstGeom>
        </p:spPr>
      </p:pic>
      <p:sp>
        <p:nvSpPr>
          <p:cNvPr id="91" name="Text 21">
            <a:extLst>
              <a:ext uri="{FF2B5EF4-FFF2-40B4-BE49-F238E27FC236}">
                <a16:creationId xmlns:a16="http://schemas.microsoft.com/office/drawing/2014/main" id="{E0463E19-24B1-4FFD-9520-24FB8B9C280E}"/>
              </a:ext>
            </a:extLst>
          </p:cNvPr>
          <p:cNvSpPr txBox="1"/>
          <p:nvPr/>
        </p:nvSpPr>
        <p:spPr>
          <a:xfrm>
            <a:off x="4813402" y="4339742"/>
            <a:ext cx="270936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Keystone 인증 프록시 서버 및 세션 관리</a:t>
            </a:r>
            <a:endParaRPr lang="en-US" sz="1000" dirty="0"/>
          </a:p>
        </p:txBody>
      </p:sp>
      <p:sp>
        <p:nvSpPr>
          <p:cNvPr id="92" name="Shape 22">
            <a:extLst>
              <a:ext uri="{FF2B5EF4-FFF2-40B4-BE49-F238E27FC236}">
                <a16:creationId xmlns:a16="http://schemas.microsoft.com/office/drawing/2014/main" id="{33FB2446-CDEC-5365-B4E9-AC7EC27DBB9D}"/>
              </a:ext>
            </a:extLst>
          </p:cNvPr>
          <p:cNvSpPr/>
          <p:nvPr/>
        </p:nvSpPr>
        <p:spPr>
          <a:xfrm>
            <a:off x="4518050" y="4716475"/>
            <a:ext cx="3161995" cy="381305"/>
          </a:xfrm>
          <a:prstGeom prst="roundRect">
            <a:avLst>
              <a:gd name="adj" fmla="val 95923"/>
            </a:avLst>
          </a:prstGeom>
          <a:solidFill>
            <a:srgbClr val="000000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93" name="Image 11" descr="preencoded.png">
            <a:extLst>
              <a:ext uri="{FF2B5EF4-FFF2-40B4-BE49-F238E27FC236}">
                <a16:creationId xmlns:a16="http://schemas.microsoft.com/office/drawing/2014/main" id="{FB3DC87F-6337-F2A0-E58E-3A7340AE227A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t="-1359" b="-1359"/>
          <a:stretch/>
        </p:blipFill>
        <p:spPr>
          <a:xfrm>
            <a:off x="4632350" y="4849978"/>
            <a:ext cx="105156" cy="123444"/>
          </a:xfrm>
          <a:prstGeom prst="rect">
            <a:avLst/>
          </a:prstGeom>
        </p:spPr>
      </p:pic>
      <p:sp>
        <p:nvSpPr>
          <p:cNvPr id="94" name="Text 23">
            <a:extLst>
              <a:ext uri="{FF2B5EF4-FFF2-40B4-BE49-F238E27FC236}">
                <a16:creationId xmlns:a16="http://schemas.microsoft.com/office/drawing/2014/main" id="{14BED095-61F7-87BD-EACA-0F608E57840A}"/>
              </a:ext>
            </a:extLst>
          </p:cNvPr>
          <p:cNvSpPr txBox="1"/>
          <p:nvPr/>
        </p:nvSpPr>
        <p:spPr>
          <a:xfrm>
            <a:off x="4813402" y="4811573"/>
            <a:ext cx="303946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멀티테넌시 지원을 위한 </a:t>
            </a: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RBAC 권한 관리 설계</a:t>
            </a:r>
            <a:endParaRPr lang="en-US" sz="1000" dirty="0"/>
          </a:p>
        </p:txBody>
      </p:sp>
      <p:pic>
        <p:nvPicPr>
          <p:cNvPr id="95" name="Image 12" descr="preencoded.png">
            <a:extLst>
              <a:ext uri="{FF2B5EF4-FFF2-40B4-BE49-F238E27FC236}">
                <a16:creationId xmlns:a16="http://schemas.microsoft.com/office/drawing/2014/main" id="{55BB52C2-230A-0A09-1431-219BE9BB60B2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-4" r="-4"/>
          <a:stretch/>
        </p:blipFill>
        <p:spPr>
          <a:xfrm>
            <a:off x="8160106" y="1819656"/>
            <a:ext cx="3651199" cy="3619195"/>
          </a:xfrm>
          <a:prstGeom prst="rect">
            <a:avLst/>
          </a:prstGeom>
        </p:spPr>
      </p:pic>
      <p:pic>
        <p:nvPicPr>
          <p:cNvPr id="96" name="Image 13" descr="preencoded.png">
            <a:extLst>
              <a:ext uri="{FF2B5EF4-FFF2-40B4-BE49-F238E27FC236}">
                <a16:creationId xmlns:a16="http://schemas.microsoft.com/office/drawing/2014/main" id="{45B3C4D6-2481-D267-C109-27A7359722D3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9652406" y="2115007"/>
            <a:ext cx="666598" cy="666598"/>
          </a:xfrm>
          <a:prstGeom prst="rect">
            <a:avLst/>
          </a:prstGeom>
        </p:spPr>
      </p:pic>
      <p:pic>
        <p:nvPicPr>
          <p:cNvPr id="97" name="Image 14" descr="preencoded.png">
            <a:extLst>
              <a:ext uri="{FF2B5EF4-FFF2-40B4-BE49-F238E27FC236}">
                <a16:creationId xmlns:a16="http://schemas.microsoft.com/office/drawing/2014/main" id="{4C0B0328-1105-4592-1CDE-EF179B4248E6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9832543" y="2295144"/>
            <a:ext cx="304495" cy="304495"/>
          </a:xfrm>
          <a:prstGeom prst="rect">
            <a:avLst/>
          </a:prstGeom>
        </p:spPr>
      </p:pic>
      <p:sp>
        <p:nvSpPr>
          <p:cNvPr id="98" name="Text 24">
            <a:extLst>
              <a:ext uri="{FF2B5EF4-FFF2-40B4-BE49-F238E27FC236}">
                <a16:creationId xmlns:a16="http://schemas.microsoft.com/office/drawing/2014/main" id="{185732E8-9AC7-4098-9486-00BC26510F42}"/>
              </a:ext>
            </a:extLst>
          </p:cNvPr>
          <p:cNvSpPr txBox="1"/>
          <p:nvPr/>
        </p:nvSpPr>
        <p:spPr>
          <a:xfrm>
            <a:off x="9199778" y="2924251"/>
            <a:ext cx="1573682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-37" dirty="0">
                <a:solidFill>
                  <a:srgbClr val="FCA5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한국 보안 인증</a:t>
            </a:r>
            <a:endParaRPr lang="en-US" sz="1600" dirty="0"/>
          </a:p>
        </p:txBody>
      </p:sp>
      <p:sp>
        <p:nvSpPr>
          <p:cNvPr id="99" name="Shape 25">
            <a:extLst>
              <a:ext uri="{FF2B5EF4-FFF2-40B4-BE49-F238E27FC236}">
                <a16:creationId xmlns:a16="http://schemas.microsoft.com/office/drawing/2014/main" id="{DE370BEC-0B00-A4EE-A528-125DCDE8C09A}"/>
              </a:ext>
            </a:extLst>
          </p:cNvPr>
          <p:cNvSpPr/>
          <p:nvPr/>
        </p:nvSpPr>
        <p:spPr>
          <a:xfrm>
            <a:off x="9100109" y="3333902"/>
            <a:ext cx="1772107" cy="295351"/>
          </a:xfrm>
          <a:prstGeom prst="roundRect">
            <a:avLst>
              <a:gd name="adj" fmla="val 309598"/>
            </a:avLst>
          </a:prstGeom>
          <a:solidFill>
            <a:srgbClr val="EF4444">
              <a:alpha val="20000"/>
            </a:srgbClr>
          </a:solidFill>
          <a:ln w="12700">
            <a:solidFill>
              <a:srgbClr val="EF4444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" name="Text 26">
            <a:extLst>
              <a:ext uri="{FF2B5EF4-FFF2-40B4-BE49-F238E27FC236}">
                <a16:creationId xmlns:a16="http://schemas.microsoft.com/office/drawing/2014/main" id="{10988E01-6E37-7B2E-BE4E-34F18DBD59F9}"/>
              </a:ext>
            </a:extLst>
          </p:cNvPr>
          <p:cNvSpPr/>
          <p:nvPr/>
        </p:nvSpPr>
        <p:spPr>
          <a:xfrm>
            <a:off x="9065362" y="3333902"/>
            <a:ext cx="1843430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CA5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난이도: 어려움 (6개월-2년)</a:t>
            </a:r>
            <a:endParaRPr lang="en-US" sz="1000" dirty="0"/>
          </a:p>
        </p:txBody>
      </p:sp>
      <p:sp>
        <p:nvSpPr>
          <p:cNvPr id="101" name="Shape 27">
            <a:extLst>
              <a:ext uri="{FF2B5EF4-FFF2-40B4-BE49-F238E27FC236}">
                <a16:creationId xmlns:a16="http://schemas.microsoft.com/office/drawing/2014/main" id="{8338C0CD-B22F-29FD-DD21-7869CD329777}"/>
              </a:ext>
            </a:extLst>
          </p:cNvPr>
          <p:cNvSpPr/>
          <p:nvPr/>
        </p:nvSpPr>
        <p:spPr>
          <a:xfrm>
            <a:off x="8406994" y="3771900"/>
            <a:ext cx="3161995" cy="381305"/>
          </a:xfrm>
          <a:prstGeom prst="roundRect">
            <a:avLst>
              <a:gd name="adj" fmla="val 95923"/>
            </a:avLst>
          </a:prstGeom>
          <a:solidFill>
            <a:srgbClr val="000000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02" name="Image 15" descr="preencoded.png">
            <a:extLst>
              <a:ext uri="{FF2B5EF4-FFF2-40B4-BE49-F238E27FC236}">
                <a16:creationId xmlns:a16="http://schemas.microsoft.com/office/drawing/2014/main" id="{569D562D-8463-3391-5555-B976E5B237AB}"/>
              </a:ext>
            </a:extLst>
          </p:cNvPr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8521294" y="3905402"/>
            <a:ext cx="123444" cy="123444"/>
          </a:xfrm>
          <a:prstGeom prst="rect">
            <a:avLst/>
          </a:prstGeom>
        </p:spPr>
      </p:pic>
      <p:sp>
        <p:nvSpPr>
          <p:cNvPr id="103" name="Text 28">
            <a:extLst>
              <a:ext uri="{FF2B5EF4-FFF2-40B4-BE49-F238E27FC236}">
                <a16:creationId xmlns:a16="http://schemas.microsoft.com/office/drawing/2014/main" id="{42D28427-8B9C-8CBD-9CEF-67C9E4021BEA}"/>
              </a:ext>
            </a:extLst>
          </p:cNvPr>
          <p:cNvSpPr txBox="1"/>
          <p:nvPr/>
        </p:nvSpPr>
        <p:spPr>
          <a:xfrm>
            <a:off x="8721547" y="3866998"/>
            <a:ext cx="32086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ISMS-P: 정책·조직·문서 체계 수립 및 연간 유지</a:t>
            </a:r>
            <a:endParaRPr lang="en-US" sz="1000" dirty="0"/>
          </a:p>
        </p:txBody>
      </p:sp>
      <p:sp>
        <p:nvSpPr>
          <p:cNvPr id="104" name="Shape 29">
            <a:extLst>
              <a:ext uri="{FF2B5EF4-FFF2-40B4-BE49-F238E27FC236}">
                <a16:creationId xmlns:a16="http://schemas.microsoft.com/office/drawing/2014/main" id="{F24553FF-0916-EFB4-C63B-FB1061F6353D}"/>
              </a:ext>
            </a:extLst>
          </p:cNvPr>
          <p:cNvSpPr/>
          <p:nvPr/>
        </p:nvSpPr>
        <p:spPr>
          <a:xfrm>
            <a:off x="8406994" y="4244645"/>
            <a:ext cx="3161995" cy="381305"/>
          </a:xfrm>
          <a:prstGeom prst="roundRect">
            <a:avLst>
              <a:gd name="adj" fmla="val 95923"/>
            </a:avLst>
          </a:prstGeom>
          <a:solidFill>
            <a:srgbClr val="000000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05" name="Image 16" descr="preencoded.png">
            <a:extLst>
              <a:ext uri="{FF2B5EF4-FFF2-40B4-BE49-F238E27FC236}">
                <a16:creationId xmlns:a16="http://schemas.microsoft.com/office/drawing/2014/main" id="{B12FE96A-A9AA-0F99-4C47-56ADD185F060}"/>
              </a:ext>
            </a:extLst>
          </p:cNvPr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8521294" y="4377233"/>
            <a:ext cx="123444" cy="123444"/>
          </a:xfrm>
          <a:prstGeom prst="rect">
            <a:avLst/>
          </a:prstGeom>
        </p:spPr>
      </p:pic>
      <p:sp>
        <p:nvSpPr>
          <p:cNvPr id="106" name="Text 30">
            <a:extLst>
              <a:ext uri="{FF2B5EF4-FFF2-40B4-BE49-F238E27FC236}">
                <a16:creationId xmlns:a16="http://schemas.microsoft.com/office/drawing/2014/main" id="{0DD451DF-AD49-4A7C-5A86-64DF94BAC407}"/>
              </a:ext>
            </a:extLst>
          </p:cNvPr>
          <p:cNvSpPr txBox="1"/>
          <p:nvPr/>
        </p:nvSpPr>
        <p:spPr>
          <a:xfrm>
            <a:off x="8721547" y="4339742"/>
            <a:ext cx="32790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CSAP: 물리적 국내 서버, 감사로그, 암호화 필수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 txBox="1"/>
          <p:nvPr/>
        </p:nvSpPr>
        <p:spPr>
          <a:xfrm>
            <a:off x="11205972" y="6363854"/>
            <a:ext cx="2286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0C4D8">
                    <a:alpha val="5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71500" y="1286561"/>
            <a:ext cx="11048695" cy="9144"/>
          </a:xfrm>
          <a:prstGeom prst="rect">
            <a:avLst/>
          </a:prstGeom>
          <a:solidFill>
            <a:srgbClr val="00D4FF">
              <a:alpha val="30000"/>
            </a:srgbClr>
          </a:solidFill>
          <a:ln w="12700">
            <a:solidFill>
              <a:srgbClr val="00D4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571500" y="381305"/>
            <a:ext cx="111639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20" dirty="0">
                <a:solidFill>
                  <a:srgbClr val="00D4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STRATEGIC ROADMAP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71500" y="657454"/>
            <a:ext cx="11354105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시나리오별 전략 로드맵</a:t>
            </a:r>
            <a:endParaRPr lang="en-US" sz="3100" dirty="0"/>
          </a:p>
        </p:txBody>
      </p:sp>
      <p:sp>
        <p:nvSpPr>
          <p:cNvPr id="12" name="Shape 9"/>
          <p:cNvSpPr/>
          <p:nvPr/>
        </p:nvSpPr>
        <p:spPr>
          <a:xfrm>
            <a:off x="571500" y="1471814"/>
            <a:ext cx="5381244" cy="5191049"/>
          </a:xfrm>
          <a:prstGeom prst="roundRect">
            <a:avLst>
              <a:gd name="adj" fmla="val 776"/>
            </a:avLst>
          </a:prstGeom>
          <a:solidFill>
            <a:srgbClr val="1B2A4A"/>
          </a:solidFill>
          <a:ln/>
          <a:effectLst>
            <a:outerShdw blurRad="139700" dist="508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571500" y="1471814"/>
            <a:ext cx="5381244" cy="38405"/>
          </a:xfrm>
          <a:prstGeom prst="roundRect">
            <a:avLst>
              <a:gd name="adj" fmla="val 104849"/>
            </a:avLst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809244" y="2758375"/>
            <a:ext cx="4905756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 txBox="1"/>
          <p:nvPr/>
        </p:nvSpPr>
        <p:spPr>
          <a:xfrm>
            <a:off x="1132942" y="1747963"/>
            <a:ext cx="477225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0B98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✅ 시나리오 A — 본사 협조 가능 </a:t>
            </a:r>
            <a:endParaRPr lang="en-US" sz="18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09244" y="1805570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809244" y="2185961"/>
            <a:ext cx="4981651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B0C4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Zadara 인프라 그대로 + 한국 포털 → CSAP 취득</a:t>
            </a:r>
            <a:endParaRPr lang="en-US" sz="1200" dirty="0"/>
          </a:p>
          <a:p>
            <a:pPr marL="0" indent="0" algn="l">
              <a:buNone/>
            </a:pPr>
            <a:r>
              <a:rPr lang="en-US" sz="1200" b="1" dirty="0">
                <a:solidFill>
                  <a:srgbClr val="10B98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가장 빠르고 강력한 경로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895198" y="3098532"/>
            <a:ext cx="19202" cy="3038551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5"/>
          <p:cNvSpPr/>
          <p:nvPr/>
        </p:nvSpPr>
        <p:spPr>
          <a:xfrm>
            <a:off x="1143000" y="2955885"/>
            <a:ext cx="4572000" cy="724205"/>
          </a:xfrm>
          <a:prstGeom prst="roundRect">
            <a:avLst>
              <a:gd name="adj" fmla="val 26582"/>
            </a:avLst>
          </a:prstGeom>
          <a:solidFill>
            <a:srgbClr val="0D1B2A"/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6"/>
          <p:cNvSpPr txBox="1"/>
          <p:nvPr/>
        </p:nvSpPr>
        <p:spPr>
          <a:xfrm>
            <a:off x="1295705" y="3079329"/>
            <a:ext cx="4457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포털 개발 </a:t>
            </a:r>
            <a:r>
              <a:rPr lang="en-US" sz="1000" b="1" dirty="0">
                <a:solidFill>
                  <a:srgbClr val="10B98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2~3개월</a:t>
            </a:r>
            <a:endParaRPr lang="en-US" sz="1200" dirty="0"/>
          </a:p>
        </p:txBody>
      </p:sp>
      <p:sp>
        <p:nvSpPr>
          <p:cNvPr id="21" name="Text 17"/>
          <p:cNvSpPr txBox="1"/>
          <p:nvPr/>
        </p:nvSpPr>
        <p:spPr>
          <a:xfrm>
            <a:off x="1295705" y="3356393"/>
            <a:ext cx="44577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B98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한국어 UI, 원화 과금, 전체 기능 구현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1143000" y="3870285"/>
            <a:ext cx="4572000" cy="724205"/>
          </a:xfrm>
          <a:prstGeom prst="roundRect">
            <a:avLst>
              <a:gd name="adj" fmla="val 26582"/>
            </a:avLst>
          </a:prstGeom>
          <a:solidFill>
            <a:srgbClr val="0D1B2A"/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19"/>
          <p:cNvSpPr txBox="1"/>
          <p:nvPr/>
        </p:nvSpPr>
        <p:spPr>
          <a:xfrm>
            <a:off x="1295705" y="3993729"/>
            <a:ext cx="4457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보안 기능 구현 </a:t>
            </a:r>
            <a:r>
              <a:rPr lang="en-US" sz="1000" b="1" dirty="0">
                <a:solidFill>
                  <a:srgbClr val="B0C4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2~3개월</a:t>
            </a:r>
            <a:endParaRPr lang="en-US" sz="1200" dirty="0"/>
          </a:p>
        </p:txBody>
      </p:sp>
      <p:sp>
        <p:nvSpPr>
          <p:cNvPr id="24" name="Text 20"/>
          <p:cNvSpPr txBox="1"/>
          <p:nvPr/>
        </p:nvSpPr>
        <p:spPr>
          <a:xfrm>
            <a:off x="1295705" y="4270793"/>
            <a:ext cx="44577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0C4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접근로그·암호화·세션관리·취약점 조치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1143000" y="4784685"/>
            <a:ext cx="4572000" cy="724205"/>
          </a:xfrm>
          <a:prstGeom prst="roundRect">
            <a:avLst>
              <a:gd name="adj" fmla="val 26582"/>
            </a:avLst>
          </a:prstGeom>
          <a:solidFill>
            <a:srgbClr val="0D1B2A"/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2"/>
          <p:cNvSpPr txBox="1"/>
          <p:nvPr/>
        </p:nvSpPr>
        <p:spPr>
          <a:xfrm>
            <a:off x="1295705" y="4908129"/>
            <a:ext cx="43818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CSAP 신청·심사 </a:t>
            </a:r>
            <a:r>
              <a:rPr lang="en-US" sz="1000" b="1" dirty="0">
                <a:solidFill>
                  <a:srgbClr val="B0C4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6개월~1년</a:t>
            </a:r>
            <a:endParaRPr lang="en-US" sz="1200" dirty="0"/>
          </a:p>
        </p:txBody>
      </p:sp>
      <p:sp>
        <p:nvSpPr>
          <p:cNvPr id="27" name="Text 23"/>
          <p:cNvSpPr txBox="1"/>
          <p:nvPr/>
        </p:nvSpPr>
        <p:spPr>
          <a:xfrm>
            <a:off x="1295705" y="5185193"/>
            <a:ext cx="43818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0C4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KISA 서류 및 현장 심사 진행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1143000" y="5699085"/>
            <a:ext cx="4572000" cy="724205"/>
          </a:xfrm>
          <a:prstGeom prst="roundRect">
            <a:avLst>
              <a:gd name="adj" fmla="val 26582"/>
            </a:avLst>
          </a:prstGeom>
          <a:solidFill>
            <a:srgbClr val="0D1B2A"/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5"/>
          <p:cNvSpPr txBox="1"/>
          <p:nvPr/>
        </p:nvSpPr>
        <p:spPr>
          <a:xfrm>
            <a:off x="1295705" y="5822529"/>
            <a:ext cx="4457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조달청 등록 → 공공납품 </a:t>
            </a:r>
            <a:r>
              <a:rPr lang="en-US" sz="1000" b="1" dirty="0">
                <a:solidFill>
                  <a:srgbClr val="B0C4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완료</a:t>
            </a:r>
            <a:endParaRPr lang="en-US" sz="1200" dirty="0"/>
          </a:p>
        </p:txBody>
      </p:sp>
      <p:sp>
        <p:nvSpPr>
          <p:cNvPr id="30" name="Text 26"/>
          <p:cNvSpPr txBox="1"/>
          <p:nvPr/>
        </p:nvSpPr>
        <p:spPr>
          <a:xfrm>
            <a:off x="1295705" y="6099593"/>
            <a:ext cx="44577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0C4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디지털서비스몰 등록 및 영업 개시</a:t>
            </a:r>
            <a:endParaRPr lang="en-US" sz="1000" dirty="0"/>
          </a:p>
        </p:txBody>
      </p:sp>
      <p:sp>
        <p:nvSpPr>
          <p:cNvPr id="31" name="Shape 27"/>
          <p:cNvSpPr/>
          <p:nvPr/>
        </p:nvSpPr>
        <p:spPr>
          <a:xfrm>
            <a:off x="6238951" y="1471814"/>
            <a:ext cx="5381244" cy="5191049"/>
          </a:xfrm>
          <a:prstGeom prst="roundRect">
            <a:avLst>
              <a:gd name="adj" fmla="val 776"/>
            </a:avLst>
          </a:prstGeom>
          <a:solidFill>
            <a:srgbClr val="1B2A4A"/>
          </a:solidFill>
          <a:ln/>
          <a:effectLst>
            <a:outerShdw blurRad="139700" dist="508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28"/>
          <p:cNvSpPr/>
          <p:nvPr/>
        </p:nvSpPr>
        <p:spPr>
          <a:xfrm>
            <a:off x="6238951" y="1471814"/>
            <a:ext cx="5381244" cy="38405"/>
          </a:xfrm>
          <a:prstGeom prst="roundRect">
            <a:avLst>
              <a:gd name="adj" fmla="val 104849"/>
            </a:avLst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29"/>
          <p:cNvSpPr/>
          <p:nvPr/>
        </p:nvSpPr>
        <p:spPr>
          <a:xfrm>
            <a:off x="6476695" y="2758375"/>
            <a:ext cx="4905756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0"/>
          <p:cNvSpPr txBox="1"/>
          <p:nvPr/>
        </p:nvSpPr>
        <p:spPr>
          <a:xfrm>
            <a:off x="6800393" y="1747963"/>
            <a:ext cx="477225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59E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🔄 시나리오 B — 본사 협조 어려움 </a:t>
            </a:r>
            <a:endParaRPr lang="en-US" sz="1800" dirty="0"/>
          </a:p>
        </p:txBody>
      </p:sp>
      <p:pic>
        <p:nvPicPr>
          <p:cNvPr id="35" name="Image 2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476695" y="1805570"/>
            <a:ext cx="228600" cy="228600"/>
          </a:xfrm>
          <a:prstGeom prst="rect">
            <a:avLst/>
          </a:prstGeom>
        </p:spPr>
      </p:pic>
      <p:sp>
        <p:nvSpPr>
          <p:cNvPr id="36" name="Text 31"/>
          <p:cNvSpPr txBox="1"/>
          <p:nvPr/>
        </p:nvSpPr>
        <p:spPr>
          <a:xfrm>
            <a:off x="6476695" y="2185961"/>
            <a:ext cx="4981651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B0C4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CSAP 인증된 국내 클라우드(KT/NHN) 인프라 활용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B0C4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Zadara는 백엔드 API로만 연동 </a:t>
            </a:r>
            <a:endParaRPr lang="en-US" sz="1200" dirty="0"/>
          </a:p>
        </p:txBody>
      </p:sp>
      <p:sp>
        <p:nvSpPr>
          <p:cNvPr id="37" name="Shape 32"/>
          <p:cNvSpPr/>
          <p:nvPr/>
        </p:nvSpPr>
        <p:spPr>
          <a:xfrm>
            <a:off x="6562649" y="3098532"/>
            <a:ext cx="19202" cy="3038551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3"/>
          <p:cNvSpPr/>
          <p:nvPr/>
        </p:nvSpPr>
        <p:spPr>
          <a:xfrm>
            <a:off x="6810451" y="2955885"/>
            <a:ext cx="4572000" cy="724205"/>
          </a:xfrm>
          <a:prstGeom prst="roundRect">
            <a:avLst>
              <a:gd name="adj" fmla="val 26582"/>
            </a:avLst>
          </a:prstGeom>
          <a:solidFill>
            <a:srgbClr val="0D1B2A"/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4"/>
          <p:cNvSpPr txBox="1"/>
          <p:nvPr/>
        </p:nvSpPr>
        <p:spPr>
          <a:xfrm>
            <a:off x="6963156" y="3079329"/>
            <a:ext cx="4457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인프라 선택 </a:t>
            </a:r>
            <a:r>
              <a:rPr lang="en-US" sz="1000" b="1" dirty="0">
                <a:solidFill>
                  <a:srgbClr val="B0C4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1개월</a:t>
            </a:r>
            <a:endParaRPr lang="en-US" sz="1200" dirty="0"/>
          </a:p>
        </p:txBody>
      </p:sp>
      <p:sp>
        <p:nvSpPr>
          <p:cNvPr id="40" name="Text 35"/>
          <p:cNvSpPr txBox="1"/>
          <p:nvPr/>
        </p:nvSpPr>
        <p:spPr>
          <a:xfrm>
            <a:off x="6963156" y="3356393"/>
            <a:ext cx="43818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0C4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KT Cloud G / NHN Cloud 등 CSAP 인증존 선택</a:t>
            </a:r>
            <a:endParaRPr lang="en-US" sz="1000" dirty="0"/>
          </a:p>
        </p:txBody>
      </p:sp>
      <p:sp>
        <p:nvSpPr>
          <p:cNvPr id="41" name="Shape 36"/>
          <p:cNvSpPr/>
          <p:nvPr/>
        </p:nvSpPr>
        <p:spPr>
          <a:xfrm>
            <a:off x="6810451" y="3870285"/>
            <a:ext cx="4572000" cy="724205"/>
          </a:xfrm>
          <a:prstGeom prst="roundRect">
            <a:avLst>
              <a:gd name="adj" fmla="val 26582"/>
            </a:avLst>
          </a:prstGeom>
          <a:solidFill>
            <a:srgbClr val="0D1B2A"/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37"/>
          <p:cNvSpPr txBox="1"/>
          <p:nvPr/>
        </p:nvSpPr>
        <p:spPr>
          <a:xfrm>
            <a:off x="6963156" y="3993729"/>
            <a:ext cx="43818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Zadara API 연동 포털 개발 </a:t>
            </a:r>
            <a:r>
              <a:rPr lang="en-US" sz="1000" b="1" dirty="0">
                <a:solidFill>
                  <a:srgbClr val="B0C4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2~4개월</a:t>
            </a:r>
            <a:endParaRPr lang="en-US" sz="1200" dirty="0"/>
          </a:p>
        </p:txBody>
      </p:sp>
      <p:sp>
        <p:nvSpPr>
          <p:cNvPr id="43" name="Text 38"/>
          <p:cNvSpPr txBox="1"/>
          <p:nvPr/>
        </p:nvSpPr>
        <p:spPr>
          <a:xfrm>
            <a:off x="6963156" y="4270793"/>
            <a:ext cx="44577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0C4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국내 인프라 위에 Zadara 관리 콘솔 구현</a:t>
            </a:r>
            <a:endParaRPr lang="en-US" sz="1000" dirty="0"/>
          </a:p>
        </p:txBody>
      </p:sp>
      <p:sp>
        <p:nvSpPr>
          <p:cNvPr id="44" name="Shape 39"/>
          <p:cNvSpPr/>
          <p:nvPr/>
        </p:nvSpPr>
        <p:spPr>
          <a:xfrm>
            <a:off x="6810451" y="4784685"/>
            <a:ext cx="4572000" cy="724205"/>
          </a:xfrm>
          <a:prstGeom prst="roundRect">
            <a:avLst>
              <a:gd name="adj" fmla="val 26582"/>
            </a:avLst>
          </a:prstGeom>
          <a:solidFill>
            <a:srgbClr val="0D1B2A"/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0"/>
          <p:cNvSpPr txBox="1"/>
          <p:nvPr/>
        </p:nvSpPr>
        <p:spPr>
          <a:xfrm>
            <a:off x="6963156" y="4908129"/>
            <a:ext cx="4457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보안 요건 충족 </a:t>
            </a:r>
            <a:r>
              <a:rPr lang="en-US" sz="1000" b="1" dirty="0">
                <a:solidFill>
                  <a:srgbClr val="B0C4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3~6개월</a:t>
            </a:r>
            <a:endParaRPr lang="en-US" sz="1200" dirty="0"/>
          </a:p>
        </p:txBody>
      </p:sp>
      <p:sp>
        <p:nvSpPr>
          <p:cNvPr id="46" name="Text 41"/>
          <p:cNvSpPr txBox="1"/>
          <p:nvPr/>
        </p:nvSpPr>
        <p:spPr>
          <a:xfrm>
            <a:off x="6963156" y="5185193"/>
            <a:ext cx="44577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0C4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SaaS 보안인증 기준에 맞춘 보안 조치</a:t>
            </a:r>
            <a:endParaRPr lang="en-US" sz="1000" dirty="0"/>
          </a:p>
        </p:txBody>
      </p:sp>
      <p:sp>
        <p:nvSpPr>
          <p:cNvPr id="47" name="Shape 42"/>
          <p:cNvSpPr/>
          <p:nvPr/>
        </p:nvSpPr>
        <p:spPr>
          <a:xfrm>
            <a:off x="6810451" y="5699085"/>
            <a:ext cx="4572000" cy="724205"/>
          </a:xfrm>
          <a:prstGeom prst="roundRect">
            <a:avLst>
              <a:gd name="adj" fmla="val 26582"/>
            </a:avLst>
          </a:prstGeom>
          <a:solidFill>
            <a:srgbClr val="0D1B2A"/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3"/>
          <p:cNvSpPr txBox="1"/>
          <p:nvPr/>
        </p:nvSpPr>
        <p:spPr>
          <a:xfrm>
            <a:off x="6963156" y="5822529"/>
            <a:ext cx="4457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CSAP 표준등급 신청·취득 </a:t>
            </a:r>
            <a:r>
              <a:rPr lang="en-US" sz="1000" b="1" dirty="0">
                <a:solidFill>
                  <a:srgbClr val="B0C4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완료</a:t>
            </a:r>
            <a:endParaRPr lang="en-US" sz="1200" dirty="0"/>
          </a:p>
        </p:txBody>
      </p:sp>
      <p:sp>
        <p:nvSpPr>
          <p:cNvPr id="49" name="Text 44"/>
          <p:cNvSpPr txBox="1"/>
          <p:nvPr/>
        </p:nvSpPr>
        <p:spPr>
          <a:xfrm>
            <a:off x="6963156" y="6099593"/>
            <a:ext cx="44577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0C4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SaaS 보안인증 획득 후 공공 진출</a:t>
            </a:r>
            <a:endParaRPr lang="en-US" sz="1000" dirty="0"/>
          </a:p>
        </p:txBody>
      </p:sp>
      <p:sp>
        <p:nvSpPr>
          <p:cNvPr id="50" name="Shape 45"/>
          <p:cNvSpPr/>
          <p:nvPr/>
        </p:nvSpPr>
        <p:spPr>
          <a:xfrm>
            <a:off x="809244" y="3003434"/>
            <a:ext cx="190195" cy="190195"/>
          </a:xfrm>
          <a:prstGeom prst="ellipse">
            <a:avLst/>
          </a:prstGeom>
          <a:solidFill>
            <a:srgbClr val="0D1B2A"/>
          </a:solidFill>
          <a:ln w="254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Text 46"/>
          <p:cNvSpPr/>
          <p:nvPr/>
        </p:nvSpPr>
        <p:spPr>
          <a:xfrm>
            <a:off x="771754" y="3003434"/>
            <a:ext cx="267005" cy="1911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0B98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800" dirty="0"/>
          </a:p>
        </p:txBody>
      </p:sp>
      <p:sp>
        <p:nvSpPr>
          <p:cNvPr id="52" name="Shape 47"/>
          <p:cNvSpPr/>
          <p:nvPr/>
        </p:nvSpPr>
        <p:spPr>
          <a:xfrm>
            <a:off x="809244" y="3917834"/>
            <a:ext cx="190195" cy="190195"/>
          </a:xfrm>
          <a:prstGeom prst="ellipse">
            <a:avLst/>
          </a:prstGeom>
          <a:solidFill>
            <a:srgbClr val="0D1B2A"/>
          </a:solidFill>
          <a:ln w="254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Text 48"/>
          <p:cNvSpPr/>
          <p:nvPr/>
        </p:nvSpPr>
        <p:spPr>
          <a:xfrm>
            <a:off x="771754" y="3917834"/>
            <a:ext cx="267005" cy="1911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0B98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800" dirty="0"/>
          </a:p>
        </p:txBody>
      </p:sp>
      <p:sp>
        <p:nvSpPr>
          <p:cNvPr id="54" name="Shape 49"/>
          <p:cNvSpPr/>
          <p:nvPr/>
        </p:nvSpPr>
        <p:spPr>
          <a:xfrm>
            <a:off x="809244" y="4832234"/>
            <a:ext cx="190195" cy="190195"/>
          </a:xfrm>
          <a:prstGeom prst="ellipse">
            <a:avLst/>
          </a:prstGeom>
          <a:solidFill>
            <a:srgbClr val="0D1B2A"/>
          </a:solidFill>
          <a:ln w="254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Text 50"/>
          <p:cNvSpPr/>
          <p:nvPr/>
        </p:nvSpPr>
        <p:spPr>
          <a:xfrm>
            <a:off x="771754" y="4832234"/>
            <a:ext cx="267005" cy="1911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0B98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800" dirty="0"/>
          </a:p>
        </p:txBody>
      </p:sp>
      <p:sp>
        <p:nvSpPr>
          <p:cNvPr id="56" name="Shape 51"/>
          <p:cNvSpPr/>
          <p:nvPr/>
        </p:nvSpPr>
        <p:spPr>
          <a:xfrm>
            <a:off x="809244" y="5746634"/>
            <a:ext cx="190195" cy="190195"/>
          </a:xfrm>
          <a:prstGeom prst="ellipse">
            <a:avLst/>
          </a:prstGeom>
          <a:solidFill>
            <a:srgbClr val="0D1B2A"/>
          </a:solidFill>
          <a:ln w="254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Text 52"/>
          <p:cNvSpPr/>
          <p:nvPr/>
        </p:nvSpPr>
        <p:spPr>
          <a:xfrm>
            <a:off x="771754" y="5746634"/>
            <a:ext cx="267005" cy="1911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0B98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800" dirty="0"/>
          </a:p>
        </p:txBody>
      </p:sp>
      <p:sp>
        <p:nvSpPr>
          <p:cNvPr id="58" name="Shape 53"/>
          <p:cNvSpPr/>
          <p:nvPr/>
        </p:nvSpPr>
        <p:spPr>
          <a:xfrm>
            <a:off x="6476695" y="3003434"/>
            <a:ext cx="190195" cy="190195"/>
          </a:xfrm>
          <a:prstGeom prst="ellipse">
            <a:avLst/>
          </a:prstGeom>
          <a:solidFill>
            <a:srgbClr val="0D1B2A"/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Text 54"/>
          <p:cNvSpPr/>
          <p:nvPr/>
        </p:nvSpPr>
        <p:spPr>
          <a:xfrm>
            <a:off x="6439205" y="3003434"/>
            <a:ext cx="267005" cy="1911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59E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800" dirty="0"/>
          </a:p>
        </p:txBody>
      </p:sp>
      <p:sp>
        <p:nvSpPr>
          <p:cNvPr id="60" name="Shape 55"/>
          <p:cNvSpPr/>
          <p:nvPr/>
        </p:nvSpPr>
        <p:spPr>
          <a:xfrm>
            <a:off x="6476695" y="3917834"/>
            <a:ext cx="190195" cy="190195"/>
          </a:xfrm>
          <a:prstGeom prst="ellipse">
            <a:avLst/>
          </a:prstGeom>
          <a:solidFill>
            <a:srgbClr val="0D1B2A"/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" name="Text 56"/>
          <p:cNvSpPr/>
          <p:nvPr/>
        </p:nvSpPr>
        <p:spPr>
          <a:xfrm>
            <a:off x="6439205" y="3917834"/>
            <a:ext cx="267005" cy="1911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59E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800" dirty="0"/>
          </a:p>
        </p:txBody>
      </p:sp>
      <p:sp>
        <p:nvSpPr>
          <p:cNvPr id="62" name="Shape 57"/>
          <p:cNvSpPr/>
          <p:nvPr/>
        </p:nvSpPr>
        <p:spPr>
          <a:xfrm>
            <a:off x="6476695" y="4832234"/>
            <a:ext cx="190195" cy="190195"/>
          </a:xfrm>
          <a:prstGeom prst="ellipse">
            <a:avLst/>
          </a:prstGeom>
          <a:solidFill>
            <a:srgbClr val="0D1B2A"/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3" name="Text 58"/>
          <p:cNvSpPr/>
          <p:nvPr/>
        </p:nvSpPr>
        <p:spPr>
          <a:xfrm>
            <a:off x="6439205" y="4832234"/>
            <a:ext cx="267005" cy="1911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59E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800" dirty="0"/>
          </a:p>
        </p:txBody>
      </p:sp>
      <p:sp>
        <p:nvSpPr>
          <p:cNvPr id="64" name="Shape 59"/>
          <p:cNvSpPr/>
          <p:nvPr/>
        </p:nvSpPr>
        <p:spPr>
          <a:xfrm>
            <a:off x="6476695" y="5746634"/>
            <a:ext cx="190195" cy="190195"/>
          </a:xfrm>
          <a:prstGeom prst="ellipse">
            <a:avLst/>
          </a:prstGeom>
          <a:solidFill>
            <a:srgbClr val="0D1B2A"/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5" name="Text 60"/>
          <p:cNvSpPr/>
          <p:nvPr/>
        </p:nvSpPr>
        <p:spPr>
          <a:xfrm>
            <a:off x="6439205" y="5746634"/>
            <a:ext cx="267005" cy="1911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59E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alphaModFix amt="15000"/>
          </a:blip>
          <a:srcRect/>
          <a:stretch/>
        </p:blipFill>
        <p:spPr>
          <a:xfrm>
            <a:off x="8382305" y="-1904695"/>
            <a:ext cx="5715000" cy="571500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alphaModFix amt="15000"/>
          </a:blip>
          <a:srcRect/>
          <a:stretch/>
        </p:blipFill>
        <p:spPr>
          <a:xfrm>
            <a:off x="-952805" y="4000500"/>
            <a:ext cx="4762195" cy="4762195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2096719" y="571500"/>
            <a:ext cx="8008315" cy="1047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이비즈테크와 함께</a:t>
            </a:r>
            <a:endParaRPr lang="en-US" sz="3100" dirty="0"/>
          </a:p>
          <a:p>
            <a:pPr marL="0" indent="0" algn="ctr">
              <a:buNone/>
            </a:pPr>
            <a:r>
              <a:rPr lang="en-US" sz="3100" b="1" dirty="0">
                <a:solidFill>
                  <a:srgbClr val="00D4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Zadara 클라우드 포털</a:t>
            </a:r>
            <a:r>
              <a:rPr lang="en-US" sz="3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 만들어 가고 싶습니다 </a:t>
            </a:r>
            <a:endParaRPr lang="en-US" sz="3100" dirty="0"/>
          </a:p>
        </p:txBody>
      </p:sp>
      <p:sp>
        <p:nvSpPr>
          <p:cNvPr id="7" name="Text 3"/>
          <p:cNvSpPr txBox="1"/>
          <p:nvPr/>
        </p:nvSpPr>
        <p:spPr>
          <a:xfrm>
            <a:off x="2076602" y="1754734"/>
            <a:ext cx="8049463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19년의 경험과 즉시 투입 가능한 역량으로 성공적인 프로젝트를 약속합니다.</a:t>
            </a:r>
            <a:endParaRPr lang="en-US" sz="15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rcRect l="-6" r="-6"/>
          <a:stretch/>
        </p:blipFill>
        <p:spPr>
          <a:xfrm>
            <a:off x="809244" y="2421331"/>
            <a:ext cx="3333902" cy="2519172"/>
          </a:xfrm>
          <a:prstGeom prst="rect">
            <a:avLst/>
          </a:prstGeom>
        </p:spPr>
      </p:pic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2143354" y="2716682"/>
            <a:ext cx="666598" cy="666598"/>
          </a:xfrm>
          <a:prstGeom prst="rect">
            <a:avLst/>
          </a:prstGeom>
        </p:spPr>
      </p:pic>
      <p:pic>
        <p:nvPicPr>
          <p:cNvPr id="10" name="Image 4" descr="preencoded.png"/>
          <p:cNvPicPr>
            <a:picLocks noChangeAspect="1"/>
          </p:cNvPicPr>
          <p:nvPr/>
        </p:nvPicPr>
        <p:blipFill>
          <a:blip r:embed="rId7"/>
          <a:srcRect t="-530" b="-530"/>
          <a:stretch/>
        </p:blipFill>
        <p:spPr>
          <a:xfrm>
            <a:off x="2352751" y="2906878"/>
            <a:ext cx="247802" cy="286207"/>
          </a:xfrm>
          <a:prstGeom prst="rect">
            <a:avLst/>
          </a:prstGeom>
        </p:spPr>
      </p:pic>
      <p:sp>
        <p:nvSpPr>
          <p:cNvPr id="11" name="Text 4"/>
          <p:cNvSpPr txBox="1"/>
          <p:nvPr/>
        </p:nvSpPr>
        <p:spPr>
          <a:xfrm>
            <a:off x="1673352" y="3573475"/>
            <a:ext cx="1609344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즉시 실행 가능</a:t>
            </a:r>
            <a:endParaRPr lang="en-US" sz="1600" dirty="0"/>
          </a:p>
        </p:txBody>
      </p:sp>
      <p:sp>
        <p:nvSpPr>
          <p:cNvPr id="12" name="Text 5"/>
          <p:cNvSpPr txBox="1"/>
          <p:nvPr/>
        </p:nvSpPr>
        <p:spPr>
          <a:xfrm>
            <a:off x="1570025" y="4002329"/>
            <a:ext cx="1823314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API 분석 완료 및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Events 페이지 데모 구현으로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기술 검증을 마쳤습니다. </a:t>
            </a:r>
            <a:endParaRPr lang="en-US" sz="1100" dirty="0"/>
          </a:p>
        </p:txBody>
      </p:sp>
      <p:pic>
        <p:nvPicPr>
          <p:cNvPr id="13" name="Image 5" descr="preencoded.png"/>
          <p:cNvPicPr>
            <a:picLocks noChangeAspect="1"/>
          </p:cNvPicPr>
          <p:nvPr/>
        </p:nvPicPr>
        <p:blipFill>
          <a:blip r:embed="rId5"/>
          <a:srcRect l="-6" r="-6"/>
          <a:stretch/>
        </p:blipFill>
        <p:spPr>
          <a:xfrm>
            <a:off x="4429354" y="2421331"/>
            <a:ext cx="3333902" cy="2519172"/>
          </a:xfrm>
          <a:prstGeom prst="rect">
            <a:avLst/>
          </a:prstGeom>
        </p:spPr>
      </p:pic>
      <p:pic>
        <p:nvPicPr>
          <p:cNvPr id="14" name="Image 6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5762549" y="2716682"/>
            <a:ext cx="666598" cy="666598"/>
          </a:xfrm>
          <a:prstGeom prst="rect">
            <a:avLst/>
          </a:prstGeom>
        </p:spPr>
      </p:pic>
      <p:pic>
        <p:nvPicPr>
          <p:cNvPr id="15" name="Image 7" descr="preencoded.png"/>
          <p:cNvPicPr>
            <a:picLocks noChangeAspect="1"/>
          </p:cNvPicPr>
          <p:nvPr/>
        </p:nvPicPr>
        <p:blipFill>
          <a:blip r:embed="rId9"/>
          <a:srcRect l="-266" r="-266"/>
          <a:stretch/>
        </p:blipFill>
        <p:spPr>
          <a:xfrm>
            <a:off x="5934456" y="2906878"/>
            <a:ext cx="323698" cy="286207"/>
          </a:xfrm>
          <a:prstGeom prst="rect">
            <a:avLst/>
          </a:prstGeom>
        </p:spPr>
      </p:pic>
      <p:sp>
        <p:nvSpPr>
          <p:cNvPr id="16" name="Text 6"/>
          <p:cNvSpPr txBox="1"/>
          <p:nvPr/>
        </p:nvSpPr>
        <p:spPr>
          <a:xfrm>
            <a:off x="5292547" y="3573475"/>
            <a:ext cx="1609344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전체 스택 커버</a:t>
            </a:r>
            <a:endParaRPr lang="en-US" sz="1600" dirty="0"/>
          </a:p>
        </p:txBody>
      </p:sp>
      <p:sp>
        <p:nvSpPr>
          <p:cNvPr id="17" name="Text 7"/>
          <p:cNvSpPr txBox="1"/>
          <p:nvPr/>
        </p:nvSpPr>
        <p:spPr>
          <a:xfrm>
            <a:off x="5057546" y="4002329"/>
            <a:ext cx="2086661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UI · 백엔드 · DB · 인프라까지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단독으로 설계하고 구현할 수 있는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Full-Stack 역량을 보유했습니다. </a:t>
            </a:r>
            <a:endParaRPr lang="en-US" sz="1100" dirty="0"/>
          </a:p>
        </p:txBody>
      </p:sp>
      <p:pic>
        <p:nvPicPr>
          <p:cNvPr id="18" name="Image 8" descr="preencoded.png"/>
          <p:cNvPicPr>
            <a:picLocks noChangeAspect="1"/>
          </p:cNvPicPr>
          <p:nvPr/>
        </p:nvPicPr>
        <p:blipFill>
          <a:blip r:embed="rId5"/>
          <a:srcRect l="-6" r="-6"/>
          <a:stretch/>
        </p:blipFill>
        <p:spPr>
          <a:xfrm>
            <a:off x="8048549" y="2421331"/>
            <a:ext cx="3333902" cy="2519172"/>
          </a:xfrm>
          <a:prstGeom prst="rect">
            <a:avLst/>
          </a:prstGeom>
        </p:spPr>
      </p:pic>
      <p:pic>
        <p:nvPicPr>
          <p:cNvPr id="19" name="Image 9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9381744" y="2716682"/>
            <a:ext cx="666598" cy="666598"/>
          </a:xfrm>
          <a:prstGeom prst="rect">
            <a:avLst/>
          </a:prstGeom>
        </p:spPr>
      </p:pic>
      <p:pic>
        <p:nvPicPr>
          <p:cNvPr id="20" name="Image 10" descr="preencoded.png"/>
          <p:cNvPicPr>
            <a:picLocks noChangeAspect="1"/>
          </p:cNvPicPr>
          <p:nvPr/>
        </p:nvPicPr>
        <p:blipFill>
          <a:blip r:embed="rId11"/>
          <a:srcRect t="-530" b="-530"/>
          <a:stretch/>
        </p:blipFill>
        <p:spPr>
          <a:xfrm>
            <a:off x="9592056" y="2906878"/>
            <a:ext cx="247802" cy="286207"/>
          </a:xfrm>
          <a:prstGeom prst="rect">
            <a:avLst/>
          </a:prstGeom>
        </p:spPr>
      </p:pic>
      <p:sp>
        <p:nvSpPr>
          <p:cNvPr id="21" name="Text 8"/>
          <p:cNvSpPr txBox="1"/>
          <p:nvPr/>
        </p:nvSpPr>
        <p:spPr>
          <a:xfrm>
            <a:off x="9092794" y="3573475"/>
            <a:ext cx="1251814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전략적 사고</a:t>
            </a:r>
            <a:endParaRPr lang="en-US" sz="1600" dirty="0"/>
          </a:p>
        </p:txBody>
      </p:sp>
      <p:sp>
        <p:nvSpPr>
          <p:cNvPr id="22" name="Text 9"/>
          <p:cNvSpPr txBox="1"/>
          <p:nvPr/>
        </p:nvSpPr>
        <p:spPr>
          <a:xfrm>
            <a:off x="8743493" y="4002329"/>
            <a:ext cx="1952244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단순 개발을 넘어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CSAP 인증 시나리오 분석 및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리스크 대응 계획을 수립합니다. </a:t>
            </a:r>
            <a:endParaRPr lang="en-US" sz="1100" dirty="0"/>
          </a:p>
        </p:txBody>
      </p:sp>
      <p:sp>
        <p:nvSpPr>
          <p:cNvPr id="23" name="Shape 10"/>
          <p:cNvSpPr/>
          <p:nvPr/>
        </p:nvSpPr>
        <p:spPr>
          <a:xfrm>
            <a:off x="571500" y="5416906"/>
            <a:ext cx="1104869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11"/>
          <p:cNvSpPr txBox="1"/>
          <p:nvPr/>
        </p:nvSpPr>
        <p:spPr>
          <a:xfrm>
            <a:off x="5435194" y="5712257"/>
            <a:ext cx="150510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kern="0" spc="15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감사합니다</a:t>
            </a:r>
            <a:endParaRPr lang="en-US" sz="2100" dirty="0"/>
          </a:p>
        </p:txBody>
      </p:sp>
      <p:sp>
        <p:nvSpPr>
          <p:cNvPr id="25" name="Shape 12"/>
          <p:cNvSpPr/>
          <p:nvPr/>
        </p:nvSpPr>
        <p:spPr>
          <a:xfrm>
            <a:off x="2871216" y="6350508"/>
            <a:ext cx="6458407" cy="619049"/>
          </a:xfrm>
          <a:prstGeom prst="roundRect">
            <a:avLst>
              <a:gd name="adj" fmla="val 147710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6" name="Image 11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3262579" y="6545275"/>
            <a:ext cx="228600" cy="228600"/>
          </a:xfrm>
          <a:prstGeom prst="rect">
            <a:avLst/>
          </a:prstGeom>
        </p:spPr>
      </p:pic>
      <p:sp>
        <p:nvSpPr>
          <p:cNvPr id="27" name="Text 13"/>
          <p:cNvSpPr txBox="1"/>
          <p:nvPr/>
        </p:nvSpPr>
        <p:spPr>
          <a:xfrm>
            <a:off x="3633826" y="6502298"/>
            <a:ext cx="1714500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010-6281-2939</a:t>
            </a:r>
            <a:endParaRPr lang="en-US" sz="1600" dirty="0"/>
          </a:p>
        </p:txBody>
      </p:sp>
      <p:pic>
        <p:nvPicPr>
          <p:cNvPr id="28" name="Image 12" descr="preencoded.png"/>
          <p:cNvPicPr>
            <a:picLocks noChangeAspect="1"/>
          </p:cNvPicPr>
          <p:nvPr/>
        </p:nvPicPr>
        <p:blipFill>
          <a:blip r:embed="rId13"/>
          <a:srcRect t="-2165" b="-2165"/>
          <a:stretch/>
        </p:blipFill>
        <p:spPr>
          <a:xfrm>
            <a:off x="5839358" y="6502298"/>
            <a:ext cx="9144" cy="286207"/>
          </a:xfrm>
          <a:prstGeom prst="rect">
            <a:avLst/>
          </a:prstGeom>
        </p:spPr>
      </p:pic>
      <p:pic>
        <p:nvPicPr>
          <p:cNvPr id="29" name="Image 13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6420917" y="6545275"/>
            <a:ext cx="228600" cy="228600"/>
          </a:xfrm>
          <a:prstGeom prst="rect">
            <a:avLst/>
          </a:prstGeom>
        </p:spPr>
      </p:pic>
      <p:sp>
        <p:nvSpPr>
          <p:cNvPr id="30" name="Text 14"/>
          <p:cNvSpPr txBox="1"/>
          <p:nvPr/>
        </p:nvSpPr>
        <p:spPr>
          <a:xfrm>
            <a:off x="6792163" y="6502298"/>
            <a:ext cx="2229307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yjw0817@gmail.com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2888</TotalTime>
  <Words>2518</Words>
  <Application>Microsoft Office PowerPoint</Application>
  <PresentationFormat>와이드스크린</PresentationFormat>
  <Paragraphs>514</Paragraphs>
  <Slides>17</Slides>
  <Notes>17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3" baseType="lpstr">
      <vt:lpstr>JetBrains Mono</vt:lpstr>
      <vt:lpstr>Noto Sans KR</vt:lpstr>
      <vt:lpstr>Arial</vt:lpstr>
      <vt:lpstr>Consolas</vt:lpstr>
      <vt:lpstr>Courier New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Jeongwon Youn</cp:lastModifiedBy>
  <cp:revision>35</cp:revision>
  <dcterms:created xsi:type="dcterms:W3CDTF">2026-02-28T03:22:06Z</dcterms:created>
  <dcterms:modified xsi:type="dcterms:W3CDTF">2026-03-02T05:33:30Z</dcterms:modified>
</cp:coreProperties>
</file>